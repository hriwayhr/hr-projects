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Fedra Sans Pro (Основной текст)"/>
      <p:regular r:id="rIdF0"/>
      <p:bold r:id="rIdF1"/>
      <p:italic r:id="rIdF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F0" Type="http://schemas.openxmlformats.org/officeDocument/2006/relationships/font" Target="fonts/font1.fntdata"/><Relationship Id="rIdF1" Type="http://schemas.openxmlformats.org/officeDocument/2006/relationships/font" Target="fonts/font2.fntdata"/><Relationship Id="rIdF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Приветствие. Коротко представиться и сказать, что за 30 минут познакомимся с отделом HR, культурой i’way и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блока: HR, культура, команда. В конце — короткий квиз из трёх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главной задачи — без изменений, это ориентир для всего отдела.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 каждого: роль и зоны ответственности своими словами.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этапов пути сотрудника. Дальше — подробнее про найм, адаптацию/обучение и HR-бренд.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Ширина полос условная — показывает порядок этапов, а не масштаб. Данные на 31.12.2025.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Рассказать про welcome-встречу и анкеты. Игра по неподачам, Системный руководитель и Академия i’way — названия программ, оставляем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Внешний бренд — как нас видят кандидаты, внутренний — как мы живём внутри.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130+ стран, 2 500+ поездок в день и 600+ аэропортов — данные из внутренней презентации. 2 000+ партнёров и ~10 000 водителей — из открытых источников (проверить актуальность перед показом).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внутреннего дашборда. Если показываем широкой аудитории — проверить, что цифры не конфиденциальны.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Даты 2009–2013 — из внутренней презентации; офис в Казахстане (2023) — из открытых источников.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Миссия — формулировка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Ценности — формулировки из бренд-кода,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принципов корпоративной культуры из внутренней презентации, переформулированы дружелюбнее.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Пишем i’way с типографским апострофом (Alt+0146).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Ольги Чикан (операционный директор) был скрыт в исходной презентации, поэтому здесь её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внутренней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Города России и страны присутствия — по карте.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B. Создать сильную команду для роста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Готовность принимать новое и прислушиваться к потребностям клиентов.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Клиент.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ошиблись — не страшно: всё это ещё не раз пригодится.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Адрес hr@iway.ru — взят из репозитория HR-портала; проверьте перед показом.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 (оригинальный слайд назывался «Оценка»). Проверьте, куда он ведёт.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 с фот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Мятный">
    <p:bg>
      <p:bgPr>
        <a:solidFill>
          <a:srgbClr val="E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rgbClr val="E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image" Target="../media/image-15-1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jpg"/><Relationship Id="rId4" Type="http://schemas.openxmlformats.org/officeDocument/2006/relationships/image" Target="../media/image-26-4.jpg"/><Relationship Id="rId5" Type="http://schemas.openxmlformats.org/officeDocument/2006/relationships/image" Target="../media/image-26-5.jp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-822960"/>
            <a:ext cx="6035040" cy="7635240"/>
          </a:xfrm>
          <a:prstGeom prst="rect">
            <a:avLst/>
          </a:prstGeom>
        </p:spPr>
      </p:pic>
      <p:pic>
        <p:nvPicPr>
          <p:cNvPr id="3" name="Акцент" descr="img/comma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4754880"/>
            <a:ext cx="914400" cy="1156855"/>
          </a:xfrm>
          <a:prstGeom prst="rect">
            <a:avLst/>
          </a:prstGeom>
        </p:spPr>
      </p:pic>
      <p:pic>
        <p:nvPicPr>
          <p:cNvPr id="4" name="Логотип" descr="i’w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371600" cy="69197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4008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7026"/>
                </a:solidFill>
              </a:rPr>
              <a:t>ЗНАКОМСТВО С ОТДЕЛОМ HR</a:t>
            </a:r>
            <a:endParaRPr lang="en-US" sz="13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269748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Привет! Мы — HR i’way</a:t>
            </a:r>
            <a:endParaRPr lang="en-US" sz="5400" dirty="0"/>
          </a:p>
        </p:txBody>
      </p:sp>
      <p:sp>
        <p:nvSpPr>
          <p:cNvPr id="7" name="Text 2"/>
          <p:cNvSpPr txBox="1"/>
          <p:nvPr/>
        </p:nvSpPr>
        <p:spPr>
          <a:xfrm>
            <a:off x="640080" y="45262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26D5B"/>
                </a:solidFill>
              </a:rPr>
              <a:t>Расскажем, чем мы занимаемся, как живёт компания и почему здесь классно работать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640080" y="56692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Юлия Немчинова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Руководитель HR-отдела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Фото" descr="Девушка на фоне город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0"/>
            <a:ext cx="566928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ПЛАН ВСТРЕЧИ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Что нас ждёт</a:t>
            </a:r>
            <a:endParaRPr lang="en-US" sz="3400" dirty="0"/>
          </a:p>
        </p:txBody>
      </p:sp>
      <p:sp>
        <p:nvSpPr>
          <p:cNvPr id="5" name="Круг 1"/>
          <p:cNvSpPr/>
          <p:nvPr/>
        </p:nvSpPr>
        <p:spPr>
          <a:xfrm>
            <a:off x="640080" y="2011680"/>
            <a:ext cx="868680" cy="86868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011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202996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Отдел HR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468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Кто мы и как заботимся о тебе на каждом этапе</a:t>
            </a:r>
            <a:endParaRPr lang="en-US" sz="1500" dirty="0"/>
          </a:p>
        </p:txBody>
      </p:sp>
      <p:sp>
        <p:nvSpPr>
          <p:cNvPr id="9" name="Круг 2"/>
          <p:cNvSpPr/>
          <p:nvPr/>
        </p:nvSpPr>
        <p:spPr>
          <a:xfrm>
            <a:off x="640080" y="3246120"/>
            <a:ext cx="868680" cy="86868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026"/>
                </a:solidFill>
              </a:rPr>
              <a:t>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32644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Культура i’way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703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Миссия, ценности и наши правила игры</a:t>
            </a:r>
            <a:endParaRPr lang="en-US" sz="1500" dirty="0"/>
          </a:p>
        </p:txBody>
      </p:sp>
      <p:sp>
        <p:nvSpPr>
          <p:cNvPr id="13" name="Круг 3"/>
          <p:cNvSpPr/>
          <p:nvPr/>
        </p:nvSpPr>
        <p:spPr>
          <a:xfrm>
            <a:off x="640080" y="4480560"/>
            <a:ext cx="868680" cy="86868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480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026"/>
                </a:solidFill>
              </a:rPr>
              <a:t>3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449884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Команда i’way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1828800" y="49377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Руководство, коллеги и цифры, которыми мы гордимся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806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026"/>
                </a:solidFill>
              </a:rPr>
              <a:t>А в конце — мини-квиз: проверим, что запомнилось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-1097280"/>
            <a:ext cx="5669280" cy="7172498"/>
          </a:xfrm>
          <a:prstGeom prst="rect">
            <a:avLst/>
          </a:prstGeom>
        </p:spPr>
      </p:pic>
      <p:pic>
        <p:nvPicPr>
          <p:cNvPr id="3" name="Логотип" descr="img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101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C9EDDA"/>
                </a:solidFill>
              </a:rPr>
              <a:t>01</a:t>
            </a:r>
            <a:endParaRPr lang="en-US" sz="72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520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Отдел HR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526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Кто мы и чем занимаемся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914400"/>
            <a:ext cx="4754880" cy="60156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ОТДЕЛ HR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Зачем мы здесь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8288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chemeClr val="tx1"/>
                </a:solidFill>
              </a:rPr>
              <a:t>Главная задача отдела HR</a:t>
            </a:r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chemeClr val="tx1"/>
                </a:solidFill>
              </a:rPr>
              <a:t> — создать такую экосистему внутри компании, где таланты могут </a:t>
            </a:r>
            <a:pPr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007026"/>
                </a:solidFill>
              </a:rPr>
              <a:t>раскрываться</a:t>
            </a:r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chemeClr val="tx1"/>
                </a:solidFill>
              </a:rPr>
              <a:t>, а бизнес — </a:t>
            </a:r>
            <a:pPr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007026"/>
                </a:solidFill>
              </a:rPr>
              <a:t>расти</a:t>
            </a:r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chemeClr val="tx1"/>
                </a:solidFill>
              </a:rPr>
              <a:t> благодаря слаженной и эффективной работе всей команды.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ОТДЕЛ HR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Знакомьтесь: команда HR</a:t>
            </a:r>
            <a:endParaRPr lang="en-US" sz="3400" dirty="0"/>
          </a:p>
        </p:txBody>
      </p:sp>
      <p:sp>
        <p:nvSpPr>
          <p:cNvPr id="4" name="Карточка 1"/>
          <p:cNvSpPr/>
          <p:nvPr/>
        </p:nvSpPr>
        <p:spPr>
          <a:xfrm>
            <a:off x="640080" y="1783080"/>
            <a:ext cx="3383280" cy="3931920"/>
          </a:xfrm>
          <a:prstGeom prst="roundRect">
            <a:avLst>
              <a:gd name="adj" fmla="val 6757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Юлия Немчинова" descr="Юлия Немчинов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2057400"/>
            <a:ext cx="2103120" cy="210312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4389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Юлия Немчинова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8280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Руководитель отдела HR</a:t>
            </a:r>
            <a:endParaRPr lang="en-US" sz="1500" dirty="0"/>
          </a:p>
        </p:txBody>
      </p:sp>
      <p:sp>
        <p:nvSpPr>
          <p:cNvPr id="8" name="Карточка 2"/>
          <p:cNvSpPr/>
          <p:nvPr/>
        </p:nvSpPr>
        <p:spPr>
          <a:xfrm>
            <a:off x="4404208" y="1783080"/>
            <a:ext cx="3383280" cy="3931920"/>
          </a:xfrm>
          <a:prstGeom prst="roundRect">
            <a:avLst>
              <a:gd name="adj" fmla="val 6757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9" name="Анна Шулятицкая" descr="Анна Шулятицка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288" y="2057400"/>
            <a:ext cx="2103120" cy="2103120"/>
          </a:xfrm>
          <a:prstGeom prst="ellipse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87088" y="4389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Анна Шулятицкая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4587088" y="48280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Ведущий HR-специалист</a:t>
            </a:r>
            <a:endParaRPr lang="en-US" sz="1500" dirty="0"/>
          </a:p>
        </p:txBody>
      </p:sp>
      <p:sp>
        <p:nvSpPr>
          <p:cNvPr id="12" name="Карточка 3"/>
          <p:cNvSpPr/>
          <p:nvPr/>
        </p:nvSpPr>
        <p:spPr>
          <a:xfrm>
            <a:off x="8168335" y="1783080"/>
            <a:ext cx="3383280" cy="3931920"/>
          </a:xfrm>
          <a:prstGeom prst="roundRect">
            <a:avLst>
              <a:gd name="adj" fmla="val 6757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3" name="Елена Таратынова" descr="Елена Таратынов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15" y="2057400"/>
            <a:ext cx="2103120" cy="2103120"/>
          </a:xfrm>
          <a:prstGeom prst="ellipse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51215" y="4389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Елена Таратынова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351215" y="48280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Офис-менеджер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5897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7026"/>
                </a:solidFill>
              </a:rPr>
              <a:t>Пиши и заходи в любое время — мы всегда рады поговорить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ОТДЕЛ HR · EJM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Мы рядом на всём твоём пути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Employee Journey Map (EJM) — карта пути сотрудника: на каждом этапе у нас есть, чем помочь</a:t>
            </a:r>
            <a:endParaRPr lang="en-US" sz="1600" dirty="0"/>
          </a:p>
        </p:txBody>
      </p:sp>
      <p:sp>
        <p:nvSpPr>
          <p:cNvPr id="5" name="Путь"/>
          <p:cNvSpPr/>
          <p:nvPr/>
        </p:nvSpPr>
        <p:spPr>
          <a:xfrm>
            <a:off x="1453896" y="3063240"/>
            <a:ext cx="9283903" cy="0"/>
          </a:xfrm>
          <a:prstGeom prst="line">
            <a:avLst/>
          </a:prstGeom>
          <a:noFill/>
          <a:ln w="38100">
            <a:solidFill>
              <a:srgbClr val="99DEBD"/>
            </a:solidFill>
            <a:prstDash val="dash"/>
          </a:ln>
        </p:spPr>
      </p:sp>
      <p:sp>
        <p:nvSpPr>
          <p:cNvPr id="6" name="Этап 1"/>
          <p:cNvSpPr/>
          <p:nvPr/>
        </p:nvSpPr>
        <p:spPr>
          <a:xfrm>
            <a:off x="950976" y="2560320"/>
            <a:ext cx="1005840" cy="1005840"/>
          </a:xfrm>
          <a:prstGeom prst="ellipse">
            <a:avLst/>
          </a:prstGeom>
          <a:solidFill>
            <a:srgbClr val="009634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7" name="Image 0" descr="Най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5296" y="28346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0352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Найм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Знакомимся и зовём в команду</a:t>
            </a:r>
            <a:endParaRPr lang="en-US" sz="1400" dirty="0"/>
          </a:p>
        </p:txBody>
      </p:sp>
      <p:sp>
        <p:nvSpPr>
          <p:cNvPr id="10" name="Этап 2"/>
          <p:cNvSpPr/>
          <p:nvPr/>
        </p:nvSpPr>
        <p:spPr>
          <a:xfrm>
            <a:off x="2807757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11" name="Image 1" descr="Адаптаци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077" y="28346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387133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Адаптация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542581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Помогаем влиться и освоиться</a:t>
            </a:r>
            <a:endParaRPr lang="en-US" sz="1400" dirty="0"/>
          </a:p>
        </p:txBody>
      </p:sp>
      <p:sp>
        <p:nvSpPr>
          <p:cNvPr id="14" name="Этап 3"/>
          <p:cNvSpPr/>
          <p:nvPr/>
        </p:nvSpPr>
        <p:spPr>
          <a:xfrm>
            <a:off x="4664537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15" name="Image 2" descr="Вовлечённост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857" y="283464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43913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Вовлечённость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399361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Чтобы было интересно и тепло</a:t>
            </a:r>
            <a:endParaRPr lang="en-US" sz="1400" dirty="0"/>
          </a:p>
        </p:txBody>
      </p:sp>
      <p:sp>
        <p:nvSpPr>
          <p:cNvPr id="18" name="Этап 4"/>
          <p:cNvSpPr/>
          <p:nvPr/>
        </p:nvSpPr>
        <p:spPr>
          <a:xfrm>
            <a:off x="6521318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19" name="Image 3" descr="Обуч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638" y="2834640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100694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Обучение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6256142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Делимся знаниями и навыками</a:t>
            </a:r>
            <a:endParaRPr lang="en-US" sz="1400" dirty="0"/>
          </a:p>
        </p:txBody>
      </p:sp>
      <p:sp>
        <p:nvSpPr>
          <p:cNvPr id="22" name="Этап 5"/>
          <p:cNvSpPr/>
          <p:nvPr/>
        </p:nvSpPr>
        <p:spPr>
          <a:xfrm>
            <a:off x="8378099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23" name="Image 4" descr="Рост и развити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2419" y="2834640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57475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Рост и развитие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8112923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Двигаемся вперёд вместе</a:t>
            </a:r>
            <a:endParaRPr lang="en-US" sz="1400" dirty="0"/>
          </a:p>
        </p:txBody>
      </p:sp>
      <p:sp>
        <p:nvSpPr>
          <p:cNvPr id="26" name="Этап 6"/>
          <p:cNvSpPr/>
          <p:nvPr/>
        </p:nvSpPr>
        <p:spPr>
          <a:xfrm>
            <a:off x="10234879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27" name="Image 5" descr="HR-бренд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2834640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814255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HR-бренд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9969703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Рассказываем, какие мы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640080" y="5669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026"/>
                </a:solidFill>
              </a:rPr>
              <a:t>Дальше расскажем про каждый этап подробнее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EJM · НАЙМ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Найм: как мы собираем команду</a:t>
            </a:r>
            <a:endParaRPr lang="en-US" sz="3400" dirty="0"/>
          </a:p>
        </p:txBody>
      </p:sp>
      <p:sp>
        <p:nvSpPr>
          <p:cNvPr id="4" name="Шаг Отклики"/>
          <p:cNvSpPr/>
          <p:nvPr/>
        </p:nvSpPr>
        <p:spPr>
          <a:xfrm>
            <a:off x="640080" y="1691640"/>
            <a:ext cx="6766560" cy="640080"/>
          </a:xfrm>
          <a:prstGeom prst="roundRect">
            <a:avLst>
              <a:gd name="adj" fmla="val 28571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Отклики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080760" y="1691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5 866</a:t>
            </a:r>
            <a:endParaRPr lang="en-US" sz="2000" dirty="0"/>
          </a:p>
        </p:txBody>
      </p:sp>
      <p:sp>
        <p:nvSpPr>
          <p:cNvPr id="7" name="Шаг Первый контакт"/>
          <p:cNvSpPr/>
          <p:nvPr/>
        </p:nvSpPr>
        <p:spPr>
          <a:xfrm>
            <a:off x="1051560" y="2441448"/>
            <a:ext cx="5943600" cy="640080"/>
          </a:xfrm>
          <a:prstGeom prst="roundRect">
            <a:avLst>
              <a:gd name="adj" fmla="val 28571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24414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Первый контакт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244144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1 038</a:t>
            </a:r>
            <a:endParaRPr lang="en-US" sz="2000" dirty="0"/>
          </a:p>
        </p:txBody>
      </p:sp>
      <p:sp>
        <p:nvSpPr>
          <p:cNvPr id="10" name="Шаг Приглашение на собеседование"/>
          <p:cNvSpPr/>
          <p:nvPr/>
        </p:nvSpPr>
        <p:spPr>
          <a:xfrm>
            <a:off x="1417320" y="3191256"/>
            <a:ext cx="5212080" cy="640080"/>
          </a:xfrm>
          <a:prstGeom prst="roundRect">
            <a:avLst>
              <a:gd name="adj" fmla="val 28571"/>
            </a:avLst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319125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Приглашение на собеседование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319125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743</a:t>
            </a:r>
            <a:endParaRPr lang="en-US" sz="2000" dirty="0"/>
          </a:p>
        </p:txBody>
      </p:sp>
      <p:sp>
        <p:nvSpPr>
          <p:cNvPr id="13" name="Шаг Собеседование"/>
          <p:cNvSpPr/>
          <p:nvPr/>
        </p:nvSpPr>
        <p:spPr>
          <a:xfrm>
            <a:off x="1783080" y="3941064"/>
            <a:ext cx="4480560" cy="640080"/>
          </a:xfrm>
          <a:prstGeom prst="roundRect">
            <a:avLst>
              <a:gd name="adj" fmla="val 28571"/>
            </a:avLst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011680" y="394106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Собеседование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94106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576</a:t>
            </a:r>
            <a:endParaRPr lang="en-US" sz="2000" dirty="0"/>
          </a:p>
        </p:txBody>
      </p:sp>
      <p:sp>
        <p:nvSpPr>
          <p:cNvPr id="16" name="Шаг Оффер"/>
          <p:cNvSpPr/>
          <p:nvPr/>
        </p:nvSpPr>
        <p:spPr>
          <a:xfrm>
            <a:off x="2148840" y="4690872"/>
            <a:ext cx="3749040" cy="640080"/>
          </a:xfrm>
          <a:prstGeom prst="roundRect">
            <a:avLst>
              <a:gd name="adj" fmla="val 28571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77440" y="46908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Оффер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69087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100</a:t>
            </a:r>
            <a:endParaRPr lang="en-US" sz="2000" dirty="0"/>
          </a:p>
        </p:txBody>
      </p:sp>
      <p:sp>
        <p:nvSpPr>
          <p:cNvPr id="19" name="Шаг Выход"/>
          <p:cNvSpPr/>
          <p:nvPr/>
        </p:nvSpPr>
        <p:spPr>
          <a:xfrm>
            <a:off x="2514600" y="5440680"/>
            <a:ext cx="3017520" cy="640080"/>
          </a:xfrm>
          <a:prstGeom prst="roundRect">
            <a:avLst>
              <a:gd name="adj" fmla="val 28571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43200" y="54406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Выход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5440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95</a:t>
            </a:r>
            <a:endParaRPr lang="en-US" sz="2000" dirty="0"/>
          </a:p>
        </p:txBody>
      </p:sp>
      <p:sp>
        <p:nvSpPr>
          <p:cNvPr id="22" name="Вывод"/>
          <p:cNvSpPr/>
          <p:nvPr/>
        </p:nvSpPr>
        <p:spPr>
          <a:xfrm>
            <a:off x="7955280" y="1691640"/>
            <a:ext cx="3593592" cy="4389120"/>
          </a:xfrm>
          <a:prstGeom prst="roundRect">
            <a:avLst>
              <a:gd name="adj" fmla="val 6361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83880" y="20116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7026"/>
                </a:solidFill>
              </a:rPr>
              <a:t>≈ 1 из 60</a:t>
            </a:r>
            <a:endParaRPr lang="en-US" sz="44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2880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откликов превращается в нового коллегу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39319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95 человек уже вышли на работу — и теперь ты среди них или рядом с ними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5577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26D5B"/>
                </a:solidFill>
              </a:rPr>
              <a:t>*данные на 31.12.2025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Фото команды" descr="Команда за рабочим стол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234440"/>
            <a:ext cx="4937760" cy="4572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EJM · АДАПТАЦИЯ И РАЗВИТИЕ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Чтобы с первого дня было комфортно</a:t>
            </a:r>
            <a:endParaRPr lang="en-US" sz="3400" dirty="0"/>
          </a:p>
        </p:txBody>
      </p:sp>
      <p:sp>
        <p:nvSpPr>
          <p:cNvPr id="5" name="Номер 1"/>
          <p:cNvSpPr/>
          <p:nvPr/>
        </p:nvSpPr>
        <p:spPr>
          <a:xfrm>
            <a:off x="640080" y="228600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2402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Welcome-встреча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57860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Знакомимся и рассказываем, как у нас всё устроено</a:t>
            </a:r>
            <a:endParaRPr lang="en-US" sz="1400" dirty="0"/>
          </a:p>
        </p:txBody>
      </p:sp>
      <p:sp>
        <p:nvSpPr>
          <p:cNvPr id="9" name="Номер 2"/>
          <p:cNvSpPr/>
          <p:nvPr/>
        </p:nvSpPr>
        <p:spPr>
          <a:xfrm>
            <a:off x="640080" y="338328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337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Неделя адаптации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367588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После неё просим заполнить короткую анкету — нам важно твоё мнение</a:t>
            </a:r>
            <a:endParaRPr lang="en-US" sz="1400" dirty="0"/>
          </a:p>
        </p:txBody>
      </p:sp>
      <p:sp>
        <p:nvSpPr>
          <p:cNvPr id="13" name="Номер 3"/>
          <p:cNvSpPr/>
          <p:nvPr/>
        </p:nvSpPr>
        <p:spPr>
          <a:xfrm>
            <a:off x="640080" y="448056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4434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Обучение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77316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Готовим материалы и курируем программы: «Игра по неподачам», «Системный руководитель», «Академия i’way»</a:t>
            </a:r>
            <a:endParaRPr lang="en-US" sz="1400" dirty="0"/>
          </a:p>
        </p:txBody>
      </p:sp>
      <p:sp>
        <p:nvSpPr>
          <p:cNvPr id="17" name="Номер 4"/>
          <p:cNvSpPr/>
          <p:nvPr/>
        </p:nvSpPr>
        <p:spPr>
          <a:xfrm>
            <a:off x="640080" y="557784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577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5532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Переходы внутри компании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87044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Поддерживаем, если решишь сменить роль или команду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EJM · HR-БРЕНД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HR-бренд: как мы о себе рассказываем</a:t>
            </a:r>
            <a:endParaRPr lang="en-US" sz="3400" dirty="0"/>
          </a:p>
        </p:txBody>
      </p:sp>
      <p:sp>
        <p:nvSpPr>
          <p:cNvPr id="4" name="Колонка Снаружи"/>
          <p:cNvSpPr/>
          <p:nvPr/>
        </p:nvSpPr>
        <p:spPr>
          <a:xfrm>
            <a:off x="640080" y="1691640"/>
            <a:ext cx="5349240" cy="4389120"/>
          </a:xfrm>
          <a:prstGeom prst="roundRect">
            <a:avLst>
              <a:gd name="adj" fmla="val 5208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574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3911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026"/>
                </a:solidFill>
              </a:rPr>
              <a:t>Снаружи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880360"/>
            <a:ext cx="4526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Карьерные сайты: hh.ru и LinkedIn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Наружная реклама: метро и экраны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Работа с университетами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Ответы на отзывы на площадках</a:t>
            </a:r>
            <a:endParaRPr lang="en-US" sz="1700" dirty="0"/>
          </a:p>
        </p:txBody>
      </p:sp>
      <p:sp>
        <p:nvSpPr>
          <p:cNvPr id="8" name="Колонка Внутри"/>
          <p:cNvSpPr/>
          <p:nvPr/>
        </p:nvSpPr>
        <p:spPr>
          <a:xfrm>
            <a:off x="6202375" y="1691640"/>
            <a:ext cx="5349240" cy="4389120"/>
          </a:xfrm>
          <a:prstGeom prst="roundRect">
            <a:avLst>
              <a:gd name="adj" fmla="val 5208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135" y="20574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08215" y="203911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Внутри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6613855" y="2880360"/>
            <a:ext cx="4526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Корпоративная культура: миссия и ценности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Внутренние коммуникации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Мотивация и бенефиты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EVP — уникальное ценностное предложение для сотрудников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-1097280"/>
            <a:ext cx="5669280" cy="7172498"/>
          </a:xfrm>
          <a:prstGeom prst="rect">
            <a:avLst/>
          </a:prstGeom>
        </p:spPr>
      </p:pic>
      <p:pic>
        <p:nvPicPr>
          <p:cNvPr id="3" name="Логотип" descr="img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101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C9EDDA"/>
                </a:solidFill>
              </a:rPr>
              <a:t>02</a:t>
            </a:r>
            <a:endParaRPr lang="en-US" sz="72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520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Культура i’way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526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Во что мы верим и как работаем вместе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i’way — трансферы по всему миру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Сервис заказа трансферов, который объединяет страны, аэропорты и людей</a:t>
            </a:r>
            <a:endParaRPr lang="en-US" sz="1600" dirty="0"/>
          </a:p>
        </p:txBody>
      </p:sp>
      <p:sp>
        <p:nvSpPr>
          <p:cNvPr id="5" name="Цифра стран"/>
          <p:cNvSpPr/>
          <p:nvPr/>
        </p:nvSpPr>
        <p:spPr>
          <a:xfrm>
            <a:off x="640080" y="2194560"/>
            <a:ext cx="3429000" cy="219456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51460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130+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стран</a:t>
            </a:r>
            <a:endParaRPr lang="en-US" sz="1800" dirty="0"/>
          </a:p>
        </p:txBody>
      </p:sp>
      <p:sp>
        <p:nvSpPr>
          <p:cNvPr id="8" name="Цифра поездок ежедневно"/>
          <p:cNvSpPr/>
          <p:nvPr/>
        </p:nvSpPr>
        <p:spPr>
          <a:xfrm>
            <a:off x="4381348" y="2194560"/>
            <a:ext cx="3429000" cy="219456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1388" y="251460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2 500+</a:t>
            </a:r>
            <a:endParaRPr lang="en-US" sz="5600" dirty="0"/>
          </a:p>
        </p:txBody>
      </p:sp>
      <p:sp>
        <p:nvSpPr>
          <p:cNvPr id="10" name="Text 8"/>
          <p:cNvSpPr txBox="1"/>
          <p:nvPr/>
        </p:nvSpPr>
        <p:spPr>
          <a:xfrm>
            <a:off x="4701388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поездок ежедневно</a:t>
            </a:r>
            <a:endParaRPr lang="en-US" sz="1800" dirty="0"/>
          </a:p>
        </p:txBody>
      </p:sp>
      <p:sp>
        <p:nvSpPr>
          <p:cNvPr id="11" name="Цифра аэропортов мира"/>
          <p:cNvSpPr/>
          <p:nvPr/>
        </p:nvSpPr>
        <p:spPr>
          <a:xfrm>
            <a:off x="8122615" y="2194560"/>
            <a:ext cx="3429000" cy="219456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42655" y="251460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600+</a:t>
            </a:r>
            <a:endParaRPr lang="en-US" sz="5600" dirty="0"/>
          </a:p>
        </p:txBody>
      </p:sp>
      <p:sp>
        <p:nvSpPr>
          <p:cNvPr id="13" name="Text 11"/>
          <p:cNvSpPr txBox="1"/>
          <p:nvPr/>
        </p:nvSpPr>
        <p:spPr>
          <a:xfrm>
            <a:off x="8442655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аэропортов мира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846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с 2009 </a:t>
            </a:r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года на рынке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381348" y="4846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2 000+ </a:t>
            </a:r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партнёрских компаний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122615" y="4846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~10 000 </a:t>
            </a:r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водителей по всему миру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7026"/>
                </a:solidFill>
              </a:rPr>
              <a:t>Мы растём вместе с людьми, которые нам доверяют: клиентами, партнёрами и коллегами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Дашборд" descr="Панель с онлайн-метриками бронирован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554480"/>
            <a:ext cx="6583680" cy="372160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Наш день в цифрах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2860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Бронирования, выручка и оценки — всё на одном экране и в реальном времени.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3192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Каждый из нас влияет на эти цифры. Именно поэтому важна и работа каждого.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Основатели" descr="Основатели 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 · ИСТОРИЯ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 всё начиналось</a:t>
            </a:r>
            <a:endParaRPr lang="en-US" sz="3400" dirty="0"/>
          </a:p>
        </p:txBody>
      </p:sp>
      <p:sp>
        <p:nvSpPr>
          <p:cNvPr id="5" name="Линия времени"/>
          <p:cNvSpPr/>
          <p:nvPr/>
        </p:nvSpPr>
        <p:spPr>
          <a:xfrm>
            <a:off x="777240" y="2331720"/>
            <a:ext cx="0" cy="3246120"/>
          </a:xfrm>
          <a:prstGeom prst="line">
            <a:avLst/>
          </a:prstGeom>
          <a:noFill/>
          <a:ln w="38100">
            <a:solidFill>
              <a:srgbClr val="99DEBD"/>
            </a:solidFill>
            <a:prstDash val="solid"/>
          </a:ln>
        </p:spPr>
      </p:sp>
      <p:sp>
        <p:nvSpPr>
          <p:cNvPr id="6" name="Точка 2009"/>
          <p:cNvSpPr/>
          <p:nvPr/>
        </p:nvSpPr>
        <p:spPr>
          <a:xfrm>
            <a:off x="640080" y="2176272"/>
            <a:ext cx="274320" cy="274320"/>
          </a:xfrm>
          <a:prstGeom prst="ellipse">
            <a:avLst/>
          </a:prstGeom>
          <a:solidFill>
            <a:srgbClr val="00963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2103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2009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210312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ООО «Сибирская трансферная компания»</a:t>
            </a:r>
            <a:endParaRPr lang="en-US" sz="1600" dirty="0"/>
          </a:p>
        </p:txBody>
      </p:sp>
      <p:sp>
        <p:nvSpPr>
          <p:cNvPr id="9" name="Точка 2011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0963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88720" y="3200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2011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3200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iWay Express: запустили двуязычный сайт с онлайн-бронированием</a:t>
            </a:r>
            <a:endParaRPr lang="en-US" sz="1600" dirty="0"/>
          </a:p>
        </p:txBody>
      </p:sp>
      <p:sp>
        <p:nvSpPr>
          <p:cNvPr id="12" name="Точка 2013"/>
          <p:cNvSpPr/>
          <p:nvPr/>
        </p:nvSpPr>
        <p:spPr>
          <a:xfrm>
            <a:off x="640080" y="4370832"/>
            <a:ext cx="274320" cy="274320"/>
          </a:xfrm>
          <a:prstGeom prst="ellipse">
            <a:avLst/>
          </a:prstGeom>
          <a:solidFill>
            <a:srgbClr val="00963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188720" y="42976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2013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468880" y="42976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Родился бренд i’way</a:t>
            </a:r>
            <a:endParaRPr lang="en-US" sz="1600" dirty="0"/>
          </a:p>
        </p:txBody>
      </p:sp>
      <p:sp>
        <p:nvSpPr>
          <p:cNvPr id="15" name="Точка 2023"/>
          <p:cNvSpPr/>
          <p:nvPr/>
        </p:nvSpPr>
        <p:spPr>
          <a:xfrm>
            <a:off x="640080" y="5468112"/>
            <a:ext cx="274320" cy="274320"/>
          </a:xfrm>
          <a:prstGeom prst="ellipse">
            <a:avLst/>
          </a:prstGeom>
          <a:solidFill>
            <a:srgbClr val="00963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88720" y="5394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2023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2468880" y="53949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Открыли офис в Казахстане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2011680"/>
            <a:ext cx="4754880" cy="60156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</a:rPr>
              <a:t>МИССИЯ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45920"/>
            <a:ext cx="8412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i’way меняет представление о транспортном сервисе в России и мире и, ориентируясь на потребности клиентов, выступает законодателем стандартов обслуживания.</a:t>
            </a:r>
            <a:endParaRPr lang="en-US" sz="3400" dirty="0"/>
          </a:p>
        </p:txBody>
      </p:sp>
      <p:pic>
        <p:nvPicPr>
          <p:cNvPr id="5" name="Логотип" descr="img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852160"/>
            <a:ext cx="822960" cy="35318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 · БРЕНД-КОД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Наши ценности</a:t>
            </a:r>
            <a:endParaRPr lang="en-US" sz="3400" dirty="0"/>
          </a:p>
        </p:txBody>
      </p:sp>
      <p:sp>
        <p:nvSpPr>
          <p:cNvPr id="4" name="Ценность Открытость"/>
          <p:cNvSpPr/>
          <p:nvPr/>
        </p:nvSpPr>
        <p:spPr>
          <a:xfrm>
            <a:off x="640080" y="169164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274320" cy="34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93852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Открытость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9631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Готовность принимать новое, прислушиваться к просьбам и проблемам клиентов; старание быть нужным.</a:t>
            </a:r>
            <a:endParaRPr lang="en-US" sz="1400" dirty="0"/>
          </a:p>
        </p:txBody>
      </p:sp>
      <p:sp>
        <p:nvSpPr>
          <p:cNvPr id="8" name="Ценность Честность"/>
          <p:cNvSpPr/>
          <p:nvPr/>
        </p:nvSpPr>
        <p:spPr>
          <a:xfrm>
            <a:off x="4381348" y="169164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9" name="Image 1" descr="img/comma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668" y="1965960"/>
            <a:ext cx="274320" cy="3470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067148" y="193852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Честность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4655668" y="249631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Соблюдение делового этикета и корпоративной политики; неприятие обмана и хитростей в корыстных целях.</a:t>
            </a:r>
            <a:endParaRPr lang="en-US" sz="1400" dirty="0"/>
          </a:p>
        </p:txBody>
      </p:sp>
      <p:sp>
        <p:nvSpPr>
          <p:cNvPr id="12" name="Ценность Лидерство"/>
          <p:cNvSpPr/>
          <p:nvPr/>
        </p:nvSpPr>
        <p:spPr>
          <a:xfrm>
            <a:off x="8122615" y="169164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3" name="Image 2" descr="img/comma_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935" y="1965960"/>
            <a:ext cx="274320" cy="3470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808415" y="193852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Лидерство</a:t>
            </a:r>
            <a:endParaRPr lang="en-US" sz="2100" dirty="0"/>
          </a:p>
        </p:txBody>
      </p:sp>
      <p:sp>
        <p:nvSpPr>
          <p:cNvPr id="15" name="Text 10"/>
          <p:cNvSpPr txBox="1"/>
          <p:nvPr/>
        </p:nvSpPr>
        <p:spPr>
          <a:xfrm>
            <a:off x="8396935" y="249631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Предоставление клиентам лучшего; ввод новых стандартов обслуживания.</a:t>
            </a:r>
            <a:endParaRPr lang="en-US" sz="1400" dirty="0"/>
          </a:p>
        </p:txBody>
      </p:sp>
      <p:sp>
        <p:nvSpPr>
          <p:cNvPr id="16" name="Ценность Технологичность"/>
          <p:cNvSpPr/>
          <p:nvPr/>
        </p:nvSpPr>
        <p:spPr>
          <a:xfrm>
            <a:off x="640080" y="393192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7" name="Image 3" descr="img/comma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74320" cy="3470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41788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Технологичность</a:t>
            </a:r>
            <a:endParaRPr lang="en-US" sz="2100" dirty="0"/>
          </a:p>
        </p:txBody>
      </p:sp>
      <p:sp>
        <p:nvSpPr>
          <p:cNvPr id="19" name="Text 13"/>
          <p:cNvSpPr txBox="1"/>
          <p:nvPr/>
        </p:nvSpPr>
        <p:spPr>
          <a:xfrm>
            <a:off x="914400" y="473659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Внедрение современных решений.</a:t>
            </a:r>
            <a:endParaRPr lang="en-US" sz="1400" dirty="0"/>
          </a:p>
        </p:txBody>
      </p:sp>
      <p:sp>
        <p:nvSpPr>
          <p:cNvPr id="20" name="Ценность Человечность"/>
          <p:cNvSpPr/>
          <p:nvPr/>
        </p:nvSpPr>
        <p:spPr>
          <a:xfrm>
            <a:off x="4381348" y="393192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21" name="Image 4" descr="img/comma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668" y="4206240"/>
            <a:ext cx="274320" cy="3470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067148" y="41788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Человечность</a:t>
            </a:r>
            <a:endParaRPr lang="en-US" sz="2100" dirty="0"/>
          </a:p>
        </p:txBody>
      </p:sp>
      <p:sp>
        <p:nvSpPr>
          <p:cNvPr id="23" name="Text 16"/>
          <p:cNvSpPr txBox="1"/>
          <p:nvPr/>
        </p:nvSpPr>
        <p:spPr>
          <a:xfrm>
            <a:off x="4655668" y="473659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Уважительное отношение; дружелюбие в общении.</a:t>
            </a:r>
            <a:endParaRPr lang="en-US" sz="1400" dirty="0"/>
          </a:p>
        </p:txBody>
      </p:sp>
      <p:sp>
        <p:nvSpPr>
          <p:cNvPr id="24" name="Логотип-плитка"/>
          <p:cNvSpPr/>
          <p:nvPr/>
        </p:nvSpPr>
        <p:spPr>
          <a:xfrm>
            <a:off x="8122615" y="393192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FFFFFF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25" name="Image 5" descr="i’w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8435" y="4476652"/>
            <a:ext cx="1737360" cy="876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 у нас принято</a:t>
            </a:r>
            <a:endParaRPr lang="en-US" sz="3400" dirty="0"/>
          </a:p>
        </p:txBody>
      </p:sp>
      <p:sp>
        <p:nvSpPr>
          <p:cNvPr id="4" name="Правило 1"/>
          <p:cNvSpPr/>
          <p:nvPr/>
        </p:nvSpPr>
        <p:spPr>
          <a:xfrm>
            <a:off x="640080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Круг иконки 1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6" name="Image 0" descr="Дресс-ко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2860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Дресс-код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Smart Casual: выглядим опрятно и остаёмся собой</a:t>
            </a:r>
            <a:endParaRPr lang="en-US" sz="1400" dirty="0"/>
          </a:p>
        </p:txBody>
      </p:sp>
      <p:sp>
        <p:nvSpPr>
          <p:cNvPr id="9" name="Правило 2"/>
          <p:cNvSpPr/>
          <p:nvPr/>
        </p:nvSpPr>
        <p:spPr>
          <a:xfrm>
            <a:off x="2868107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Круг иконки 2"/>
          <p:cNvSpPr/>
          <p:nvPr/>
        </p:nvSpPr>
        <p:spPr>
          <a:xfrm>
            <a:off x="3096707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1" name="Image 1" descr="Руководитель рядо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307" y="22860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50987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Руководитель рядом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050987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Он — первая точка входа для любого вопроса</a:t>
            </a:r>
            <a:endParaRPr lang="en-US" sz="1400" dirty="0"/>
          </a:p>
        </p:txBody>
      </p:sp>
      <p:sp>
        <p:nvSpPr>
          <p:cNvPr id="14" name="Правило 3"/>
          <p:cNvSpPr/>
          <p:nvPr/>
        </p:nvSpPr>
        <p:spPr>
          <a:xfrm>
            <a:off x="5096134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Круг иконки 3"/>
          <p:cNvSpPr/>
          <p:nvPr/>
        </p:nvSpPr>
        <p:spPr>
          <a:xfrm>
            <a:off x="5324734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6" name="Image 2" descr="Ответственност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34" y="228600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79014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Ответственность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279014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Отвечаем за результат и держим слово</a:t>
            </a:r>
            <a:endParaRPr lang="en-US" sz="1400" dirty="0"/>
          </a:p>
        </p:txBody>
      </p:sp>
      <p:sp>
        <p:nvSpPr>
          <p:cNvPr id="19" name="Правило 4"/>
          <p:cNvSpPr/>
          <p:nvPr/>
        </p:nvSpPr>
        <p:spPr>
          <a:xfrm>
            <a:off x="7324161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Круг иконки 4"/>
          <p:cNvSpPr/>
          <p:nvPr/>
        </p:nvSpPr>
        <p:spPr>
          <a:xfrm>
            <a:off x="7552761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21" name="Image 3" descr="Идеи приветствуютс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361" y="228600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07041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Идеи приветствуются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507041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Предложил полезное — поможем воплотить</a:t>
            </a:r>
            <a:endParaRPr lang="en-US" sz="1400" dirty="0"/>
          </a:p>
        </p:txBody>
      </p:sp>
      <p:sp>
        <p:nvSpPr>
          <p:cNvPr id="24" name="Правило 5"/>
          <p:cNvSpPr/>
          <p:nvPr/>
        </p:nvSpPr>
        <p:spPr>
          <a:xfrm>
            <a:off x="9552188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Круг иконки 5"/>
          <p:cNvSpPr/>
          <p:nvPr/>
        </p:nvSpPr>
        <p:spPr>
          <a:xfrm>
            <a:off x="9780788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26" name="Image 4" descr="Неравнодуши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9388" y="2286000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35068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Неравнодушие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9735068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Нам не всё равно — к клиентам и друг к другу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 · МАЛЕНЬКАЯ ДЕТАЛЬ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Наш апостроф — особенный</a:t>
            </a:r>
            <a:endParaRPr lang="en-US" sz="3400" dirty="0"/>
          </a:p>
        </p:txBody>
      </p:sp>
      <p:sp>
        <p:nvSpPr>
          <p:cNvPr id="4" name="Плитка логотипа"/>
          <p:cNvSpPr/>
          <p:nvPr/>
        </p:nvSpPr>
        <p:spPr>
          <a:xfrm>
            <a:off x="640080" y="1783080"/>
            <a:ext cx="4937760" cy="4114800"/>
          </a:xfrm>
          <a:prstGeom prst="roundRect">
            <a:avLst>
              <a:gd name="adj" fmla="val 5556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Image 0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331720"/>
            <a:ext cx="3291840" cy="1660729"/>
          </a:xfrm>
          <a:prstGeom prst="rect">
            <a:avLst/>
          </a:prstGeom>
        </p:spPr>
      </p:pic>
      <p:sp>
        <p:nvSpPr>
          <p:cNvPr id="6" name="Верно"/>
          <p:cNvSpPr/>
          <p:nvPr/>
        </p:nvSpPr>
        <p:spPr>
          <a:xfrm>
            <a:off x="6217920" y="1938528"/>
            <a:ext cx="548640" cy="54864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7" name="Image 1" descr="верн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084832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04088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634"/>
                </a:solidFill>
              </a:rPr>
              <a:t>i’way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704088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Правильно — с красивым апострофом</a:t>
            </a:r>
            <a:endParaRPr lang="en-US" sz="1400" dirty="0"/>
          </a:p>
        </p:txBody>
      </p:sp>
      <p:sp>
        <p:nvSpPr>
          <p:cNvPr id="10" name="Неверно"/>
          <p:cNvSpPr/>
          <p:nvPr/>
        </p:nvSpPr>
        <p:spPr>
          <a:xfrm>
            <a:off x="6217920" y="3035808"/>
            <a:ext cx="548640" cy="548640"/>
          </a:xfrm>
          <a:prstGeom prst="ellipse">
            <a:avLst/>
          </a:prstGeom>
          <a:solidFill>
            <a:srgbClr val="626D5B"/>
          </a:solidFill>
          <a:ln w="12700">
            <a:solidFill>
              <a:srgbClr val="626D5B"/>
            </a:solidFill>
            <a:prstDash val="solid"/>
          </a:ln>
        </p:spPr>
      </p:sp>
      <p:pic>
        <p:nvPicPr>
          <p:cNvPr id="11" name="Image 2" descr="неверн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318211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4088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26D5B"/>
                </a:solidFill>
              </a:rPr>
              <a:t>i'way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3383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Не так — прямой апостроф</a:t>
            </a:r>
            <a:endParaRPr lang="en-US" sz="1400" dirty="0"/>
          </a:p>
        </p:txBody>
      </p:sp>
      <p:sp>
        <p:nvSpPr>
          <p:cNvPr id="14" name="Неверно"/>
          <p:cNvSpPr/>
          <p:nvPr/>
        </p:nvSpPr>
        <p:spPr>
          <a:xfrm>
            <a:off x="6217920" y="4133088"/>
            <a:ext cx="548640" cy="548640"/>
          </a:xfrm>
          <a:prstGeom prst="ellipse">
            <a:avLst/>
          </a:prstGeom>
          <a:solidFill>
            <a:srgbClr val="626D5B"/>
          </a:solidFill>
          <a:ln w="12700">
            <a:solidFill>
              <a:srgbClr val="626D5B"/>
            </a:solidFill>
            <a:prstDash val="solid"/>
          </a:ln>
        </p:spPr>
      </p:sp>
      <p:pic>
        <p:nvPicPr>
          <p:cNvPr id="15" name="Image 3" descr="неверн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27939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040880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26D5B"/>
                </a:solidFill>
              </a:rPr>
              <a:t>i`way</a:t>
            </a:r>
            <a:endParaRPr lang="en-US" sz="3000" dirty="0"/>
          </a:p>
        </p:txBody>
      </p:sp>
      <p:sp>
        <p:nvSpPr>
          <p:cNvPr id="17" name="Text 11"/>
          <p:cNvSpPr txBox="1"/>
          <p:nvPr/>
        </p:nvSpPr>
        <p:spPr>
          <a:xfrm>
            <a:off x="7040880" y="4480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И не так — обратный апостроф</a:t>
            </a:r>
            <a:endParaRPr lang="en-US" sz="1400" dirty="0"/>
          </a:p>
        </p:txBody>
      </p:sp>
      <p:sp>
        <p:nvSpPr>
          <p:cNvPr id="18" name="Подсказка"/>
          <p:cNvSpPr/>
          <p:nvPr/>
        </p:nvSpPr>
        <p:spPr>
          <a:xfrm>
            <a:off x="6217920" y="5166360"/>
            <a:ext cx="5330952" cy="731520"/>
          </a:xfrm>
          <a:prstGeom prst="roundRect">
            <a:avLst>
              <a:gd name="adj" fmla="val 18750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00800" y="51663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Как напечатать на Windows: </a:t>
            </a:r>
            <a:pPr indent="0" marL="0">
              <a:buNone/>
            </a:pPr>
            <a:r>
              <a:rPr lang="en-US" sz="1600" b="1" dirty="0">
                <a:solidFill>
                  <a:srgbClr val="007026"/>
                </a:solidFill>
              </a:rPr>
              <a:t>Alt + 0146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-1097280"/>
            <a:ext cx="5669280" cy="7172498"/>
          </a:xfrm>
          <a:prstGeom prst="rect">
            <a:avLst/>
          </a:prstGeom>
        </p:spPr>
      </p:pic>
      <p:pic>
        <p:nvPicPr>
          <p:cNvPr id="3" name="Логотип" descr="img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101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C9EDDA"/>
                </a:solidFill>
              </a:rPr>
              <a:t>03</a:t>
            </a:r>
            <a:endParaRPr lang="en-US" sz="72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520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Команда i’way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526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Люди, благодаря которым всё работает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КОМАНДА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Дирекция i’way</a:t>
            </a:r>
            <a:endParaRPr lang="en-US" sz="3400" dirty="0"/>
          </a:p>
        </p:txBody>
      </p:sp>
      <p:sp>
        <p:nvSpPr>
          <p:cNvPr id="4" name="Карточка Дмитрий Салихов"/>
          <p:cNvSpPr/>
          <p:nvPr/>
        </p:nvSpPr>
        <p:spPr>
          <a:xfrm>
            <a:off x="640080" y="1600200"/>
            <a:ext cx="2522144" cy="4434840"/>
          </a:xfrm>
          <a:prstGeom prst="roundRect">
            <a:avLst>
              <a:gd name="adj" fmla="val 9064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Дмитрий Салихов" descr="Дмитрий Салих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440" y="1737360"/>
            <a:ext cx="2249424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526280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Дмитрий Салихов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937760"/>
            <a:ext cx="2247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CEO, основатель i’way</a:t>
            </a:r>
            <a:endParaRPr lang="en-US" sz="1400" dirty="0"/>
          </a:p>
        </p:txBody>
      </p:sp>
      <p:sp>
        <p:nvSpPr>
          <p:cNvPr id="8" name="Карточка Дмитрий Сарайкин"/>
          <p:cNvSpPr/>
          <p:nvPr/>
        </p:nvSpPr>
        <p:spPr>
          <a:xfrm>
            <a:off x="3436544" y="1600200"/>
            <a:ext cx="2522144" cy="4434840"/>
          </a:xfrm>
          <a:prstGeom prst="roundRect">
            <a:avLst>
              <a:gd name="adj" fmla="val 9064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9" name="Дмитрий Сарайкин" descr="Дмитрий Сарайки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904" y="1737360"/>
            <a:ext cx="2249424" cy="2651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73704" y="4526280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Дмитрий Сарайкин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3573704" y="4937760"/>
            <a:ext cx="2247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Сооснователь i’way</a:t>
            </a:r>
            <a:endParaRPr lang="en-US" sz="1400" dirty="0"/>
          </a:p>
        </p:txBody>
      </p:sp>
      <p:sp>
        <p:nvSpPr>
          <p:cNvPr id="12" name="Карточка Александр Шведов"/>
          <p:cNvSpPr/>
          <p:nvPr/>
        </p:nvSpPr>
        <p:spPr>
          <a:xfrm>
            <a:off x="6233008" y="1600200"/>
            <a:ext cx="2522144" cy="4434840"/>
          </a:xfrm>
          <a:prstGeom prst="roundRect">
            <a:avLst>
              <a:gd name="adj" fmla="val 9064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3" name="Александр Шведов" descr="Александр Шведов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367" y="1737360"/>
            <a:ext cx="2249424" cy="2651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70168" y="4526280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Александр Шведов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370168" y="4937760"/>
            <a:ext cx="2247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CTO, исполнительный директор</a:t>
            </a:r>
            <a:endParaRPr lang="en-US" sz="1400" dirty="0"/>
          </a:p>
        </p:txBody>
      </p:sp>
      <p:sp>
        <p:nvSpPr>
          <p:cNvPr id="16" name="Карточка Джехад Абугсиса"/>
          <p:cNvSpPr/>
          <p:nvPr/>
        </p:nvSpPr>
        <p:spPr>
          <a:xfrm>
            <a:off x="9029471" y="1600200"/>
            <a:ext cx="2522144" cy="4434840"/>
          </a:xfrm>
          <a:prstGeom prst="roundRect">
            <a:avLst>
              <a:gd name="adj" fmla="val 9064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7" name="Джехад Абугсиса" descr="Джехад Абугсис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5831" y="1737360"/>
            <a:ext cx="2249424" cy="2651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66631" y="4526280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Джехад Абугсиса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166631" y="4937760"/>
            <a:ext cx="2247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Директор по международному развитию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КОМАНДА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Нас больше 160 — и это только начало</a:t>
            </a:r>
            <a:endParaRPr lang="en-US" sz="3400" dirty="0"/>
          </a:p>
        </p:txBody>
      </p:sp>
      <p:sp>
        <p:nvSpPr>
          <p:cNvPr id="4" name="Плитка коллег в команде"/>
          <p:cNvSpPr/>
          <p:nvPr/>
        </p:nvSpPr>
        <p:spPr>
          <a:xfrm>
            <a:off x="640080" y="1920240"/>
            <a:ext cx="2522144" cy="31089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Круг 1"/>
          <p:cNvSpPr/>
          <p:nvPr/>
        </p:nvSpPr>
        <p:spPr>
          <a:xfrm>
            <a:off x="960120" y="2240280"/>
            <a:ext cx="731520" cy="73152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6" name="Image 0" descr="коллег в команд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423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200400"/>
            <a:ext cx="1973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09634"/>
                </a:solidFill>
              </a:rPr>
              <a:t>160+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206240"/>
            <a:ext cx="197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коллег в команде</a:t>
            </a:r>
            <a:endParaRPr lang="en-US" sz="1600" dirty="0"/>
          </a:p>
        </p:txBody>
      </p:sp>
      <p:sp>
        <p:nvSpPr>
          <p:cNvPr id="9" name="Плитка девушек"/>
          <p:cNvSpPr/>
          <p:nvPr/>
        </p:nvSpPr>
        <p:spPr>
          <a:xfrm>
            <a:off x="3436544" y="1920240"/>
            <a:ext cx="2522144" cy="31089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Круг 2"/>
          <p:cNvSpPr/>
          <p:nvPr/>
        </p:nvSpPr>
        <p:spPr>
          <a:xfrm>
            <a:off x="3756584" y="2240280"/>
            <a:ext cx="731520" cy="73152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11" name="Image 1" descr="девуше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464" y="24231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756584" y="3200400"/>
            <a:ext cx="1973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09634"/>
                </a:solidFill>
              </a:rPr>
              <a:t>100+</a:t>
            </a:r>
            <a:endParaRPr lang="en-US" sz="5200" dirty="0"/>
          </a:p>
        </p:txBody>
      </p:sp>
      <p:sp>
        <p:nvSpPr>
          <p:cNvPr id="13" name="Text 9"/>
          <p:cNvSpPr txBox="1"/>
          <p:nvPr/>
        </p:nvSpPr>
        <p:spPr>
          <a:xfrm>
            <a:off x="3756584" y="4206240"/>
            <a:ext cx="197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девушек</a:t>
            </a:r>
            <a:endParaRPr lang="en-US" sz="1600" dirty="0"/>
          </a:p>
        </p:txBody>
      </p:sp>
      <p:sp>
        <p:nvSpPr>
          <p:cNvPr id="14" name="Плитка парней"/>
          <p:cNvSpPr/>
          <p:nvPr/>
        </p:nvSpPr>
        <p:spPr>
          <a:xfrm>
            <a:off x="6233008" y="1920240"/>
            <a:ext cx="2522144" cy="31089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Круг 3"/>
          <p:cNvSpPr/>
          <p:nvPr/>
        </p:nvSpPr>
        <p:spPr>
          <a:xfrm>
            <a:off x="6553048" y="2240280"/>
            <a:ext cx="731520" cy="73152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16" name="Image 2" descr="парне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928" y="242316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53048" y="3200400"/>
            <a:ext cx="1973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09634"/>
                </a:solidFill>
              </a:rPr>
              <a:t>50+</a:t>
            </a:r>
            <a:endParaRPr lang="en-US" sz="5200" dirty="0"/>
          </a:p>
        </p:txBody>
      </p:sp>
      <p:sp>
        <p:nvSpPr>
          <p:cNvPr id="18" name="Text 13"/>
          <p:cNvSpPr txBox="1"/>
          <p:nvPr/>
        </p:nvSpPr>
        <p:spPr>
          <a:xfrm>
            <a:off x="6553048" y="4206240"/>
            <a:ext cx="197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парней</a:t>
            </a:r>
            <a:endParaRPr lang="en-US" sz="1600" dirty="0"/>
          </a:p>
        </p:txBody>
      </p:sp>
      <p:sp>
        <p:nvSpPr>
          <p:cNvPr id="19" name="Плитка года — средний возраст"/>
          <p:cNvSpPr/>
          <p:nvPr/>
        </p:nvSpPr>
        <p:spPr>
          <a:xfrm>
            <a:off x="9029471" y="1920240"/>
            <a:ext cx="2522144" cy="31089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Круг 4"/>
          <p:cNvSpPr/>
          <p:nvPr/>
        </p:nvSpPr>
        <p:spPr>
          <a:xfrm>
            <a:off x="9349511" y="2240280"/>
            <a:ext cx="731520" cy="73152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21" name="Image 3" descr="года — средний возраст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2391" y="242316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49511" y="3200400"/>
            <a:ext cx="1973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09634"/>
                </a:solidFill>
              </a:rPr>
              <a:t>32</a:t>
            </a:r>
            <a:endParaRPr lang="en-US" sz="5200" dirty="0"/>
          </a:p>
        </p:txBody>
      </p:sp>
      <p:sp>
        <p:nvSpPr>
          <p:cNvPr id="23" name="Text 17"/>
          <p:cNvSpPr txBox="1"/>
          <p:nvPr/>
        </p:nvSpPr>
        <p:spPr>
          <a:xfrm>
            <a:off x="9349511" y="4206240"/>
            <a:ext cx="197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года — средний возраст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5440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7026"/>
                </a:solidFill>
              </a:rPr>
              <a:t>Разные люди, разные города — одна команда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КОМАНДА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Где нас можно встретить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144000" y="2194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7026"/>
                </a:solidFill>
              </a:rPr>
              <a:t>Города России и страны, где работает i’way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37490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Мы всё ближе к клиентам и партнёрам по всему миру</a:t>
            </a:r>
            <a:endParaRPr lang="en-US" sz="1400" dirty="0"/>
          </a:p>
        </p:txBody>
      </p:sp>
      <p:pic>
        <p:nvPicPr>
          <p:cNvPr id="6" name="Карта" descr="Карта присутствия i’way: города России и ст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813816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ВОПРОС 1 ИЗ 3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Какая главная задача отдела HR в i’way?</a:t>
            </a:r>
            <a:endParaRPr lang="en-US" sz="3400" dirty="0"/>
          </a:p>
        </p:txBody>
      </p:sp>
      <p:sp>
        <p:nvSpPr>
          <p:cNvPr id="4" name="Вариант A"/>
          <p:cNvSpPr/>
          <p:nvPr/>
        </p:nvSpPr>
        <p:spPr>
          <a:xfrm>
            <a:off x="64008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5" name="Буква A"/>
          <p:cNvSpPr/>
          <p:nvPr/>
        </p:nvSpPr>
        <p:spPr>
          <a:xfrm>
            <a:off x="1005840" y="246888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Укомплектованность штата</a:t>
            </a:r>
            <a:endParaRPr lang="en-US" sz="2200" dirty="0"/>
          </a:p>
        </p:txBody>
      </p:sp>
      <p:sp>
        <p:nvSpPr>
          <p:cNvPr id="8" name="Вариант B"/>
          <p:cNvSpPr/>
          <p:nvPr/>
        </p:nvSpPr>
        <p:spPr>
          <a:xfrm>
            <a:off x="621792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9" name="Буква B"/>
          <p:cNvSpPr/>
          <p:nvPr/>
        </p:nvSpPr>
        <p:spPr>
          <a:xfrm>
            <a:off x="6583680" y="2468880"/>
            <a:ext cx="731520" cy="73152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Создать сильную команду для роста компании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ВОПРОС 2 ИЗ 3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Ценность «открытость» — это…</a:t>
            </a:r>
            <a:endParaRPr lang="en-US" sz="3400" dirty="0"/>
          </a:p>
        </p:txBody>
      </p:sp>
      <p:sp>
        <p:nvSpPr>
          <p:cNvPr id="4" name="Вариант A"/>
          <p:cNvSpPr/>
          <p:nvPr/>
        </p:nvSpPr>
        <p:spPr>
          <a:xfrm>
            <a:off x="64008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5" name="Буква A"/>
          <p:cNvSpPr/>
          <p:nvPr/>
        </p:nvSpPr>
        <p:spPr>
          <a:xfrm>
            <a:off x="1005840" y="246888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Готовность принимать новое и прислушиваться к потребностям клиентов</a:t>
            </a:r>
            <a:endParaRPr lang="en-US" sz="2200" dirty="0"/>
          </a:p>
        </p:txBody>
      </p:sp>
      <p:sp>
        <p:nvSpPr>
          <p:cNvPr id="8" name="Вариант B"/>
          <p:cNvSpPr/>
          <p:nvPr/>
        </p:nvSpPr>
        <p:spPr>
          <a:xfrm>
            <a:off x="621792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9" name="Буква B"/>
          <p:cNvSpPr/>
          <p:nvPr/>
        </p:nvSpPr>
        <p:spPr>
          <a:xfrm>
            <a:off x="6583680" y="2468880"/>
            <a:ext cx="731520" cy="73152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Принцип «открытых дверей»: с идеей можно прийти к руководителю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ВОПРОС 3 ИЗ 3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Кто в i’way главный?</a:t>
            </a:r>
            <a:endParaRPr lang="en-US" sz="3400" dirty="0"/>
          </a:p>
        </p:txBody>
      </p:sp>
      <p:sp>
        <p:nvSpPr>
          <p:cNvPr id="4" name="Вариант A"/>
          <p:cNvSpPr/>
          <p:nvPr/>
        </p:nvSpPr>
        <p:spPr>
          <a:xfrm>
            <a:off x="64008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5" name="Буква A"/>
          <p:cNvSpPr/>
          <p:nvPr/>
        </p:nvSpPr>
        <p:spPr>
          <a:xfrm>
            <a:off x="1005840" y="246888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Клиент</a:t>
            </a:r>
            <a:endParaRPr lang="en-US" sz="2200" dirty="0"/>
          </a:p>
        </p:txBody>
      </p:sp>
      <p:sp>
        <p:nvSpPr>
          <p:cNvPr id="8" name="Вариант B"/>
          <p:cNvSpPr/>
          <p:nvPr/>
        </p:nvSpPr>
        <p:spPr>
          <a:xfrm>
            <a:off x="621792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9" name="Буква B"/>
          <p:cNvSpPr/>
          <p:nvPr/>
        </p:nvSpPr>
        <p:spPr>
          <a:xfrm>
            <a:off x="6583680" y="2468880"/>
            <a:ext cx="731520" cy="73152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CEO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ОТВЕТЫ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Проверяем себя</a:t>
            </a:r>
            <a:endParaRPr lang="en-US" sz="3400" dirty="0"/>
          </a:p>
        </p:txBody>
      </p:sp>
      <p:sp>
        <p:nvSpPr>
          <p:cNvPr id="4" name="Ответ 1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Номер 1"/>
          <p:cNvSpPr/>
          <p:nvPr/>
        </p:nvSpPr>
        <p:spPr>
          <a:xfrm>
            <a:off x="914400" y="201168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1828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Главная задача HR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82880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Создать сильную команду для роста компании</a:t>
            </a:r>
            <a:endParaRPr lang="en-US" sz="2000" dirty="0"/>
          </a:p>
        </p:txBody>
      </p:sp>
      <p:sp>
        <p:nvSpPr>
          <p:cNvPr id="9" name="Ответ 2"/>
          <p:cNvSpPr/>
          <p:nvPr/>
        </p:nvSpPr>
        <p:spPr>
          <a:xfrm>
            <a:off x="640080" y="3154680"/>
            <a:ext cx="10881360" cy="1097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Номер 2"/>
          <p:cNvSpPr/>
          <p:nvPr/>
        </p:nvSpPr>
        <p:spPr>
          <a:xfrm>
            <a:off x="914400" y="333756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337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154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Открытость — это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15468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Готовность принимать новое и слышать потребности клиентов</a:t>
            </a:r>
            <a:endParaRPr lang="en-US" sz="2000" dirty="0"/>
          </a:p>
        </p:txBody>
      </p:sp>
      <p:sp>
        <p:nvSpPr>
          <p:cNvPr id="14" name="Ответ 3"/>
          <p:cNvSpPr/>
          <p:nvPr/>
        </p:nvSpPr>
        <p:spPr>
          <a:xfrm>
            <a:off x="640080" y="4480560"/>
            <a:ext cx="10881360" cy="1097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Номер 3"/>
          <p:cNvSpPr/>
          <p:nvPr/>
        </p:nvSpPr>
        <p:spPr>
          <a:xfrm>
            <a:off x="914400" y="466344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663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Главный в i’way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448056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Клиент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-457200"/>
            <a:ext cx="5486400" cy="6941127"/>
          </a:xfrm>
          <a:prstGeom prst="rect">
            <a:avLst/>
          </a:prstGeom>
        </p:spPr>
      </p:pic>
      <p:pic>
        <p:nvPicPr>
          <p:cNvPr id="3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371600" cy="6919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chemeClr val="tx1"/>
                </a:solidFill>
              </a:rPr>
              <a:t>Спасибо, что ты с нами!</a:t>
            </a:r>
            <a:endParaRPr lang="en-US" sz="52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4206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26D5B"/>
                </a:solidFill>
              </a:rPr>
              <a:t>Мы всегда на связи: пиши, звони или заходи — поможем и подскажем.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5257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7026"/>
                </a:solidFill>
              </a:rPr>
              <a:t>hr@iway.ru</a:t>
            </a:r>
            <a:endParaRPr lang="en-US" sz="2400" dirty="0"/>
          </a:p>
        </p:txBody>
      </p:sp>
      <p:pic>
        <p:nvPicPr>
          <p:cNvPr id="7" name="Портрет 1" descr="Сотрудник H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709160"/>
            <a:ext cx="1188720" cy="1188720"/>
          </a:xfrm>
          <a:prstGeom prst="ellipse">
            <a:avLst/>
          </a:prstGeom>
        </p:spPr>
      </p:pic>
      <p:pic>
        <p:nvPicPr>
          <p:cNvPr id="8" name="Портрет 2" descr="Сотрудник H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4251960"/>
            <a:ext cx="1188720" cy="1188720"/>
          </a:xfrm>
          <a:prstGeom prst="ellipse">
            <a:avLst/>
          </a:prstGeom>
        </p:spPr>
      </p:pic>
      <p:pic>
        <p:nvPicPr>
          <p:cNvPr id="9" name="Портрет 3" descr="Сотрудник H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4709160"/>
            <a:ext cx="1188720" cy="1188720"/>
          </a:xfrm>
          <a:prstGeom prst="ellipse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011680"/>
            <a:ext cx="4572000" cy="5784273"/>
          </a:xfrm>
          <a:prstGeom prst="rect">
            <a:avLst/>
          </a:prstGeom>
        </p:spPr>
      </p:pic>
      <p:pic>
        <p:nvPicPr>
          <p:cNvPr id="3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9970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10312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Поделись обратной связью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9319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26D5B"/>
                </a:solidFill>
              </a:rPr>
              <a:t>Нам важно твоё мнение — наведи камеру на QR-код</a:t>
            </a:r>
            <a:endParaRPr lang="en-US" sz="2000" dirty="0"/>
          </a:p>
        </p:txBody>
      </p:sp>
      <p:sp>
        <p:nvSpPr>
          <p:cNvPr id="6" name="Подложка QR"/>
          <p:cNvSpPr/>
          <p:nvPr/>
        </p:nvSpPr>
        <p:spPr>
          <a:xfrm>
            <a:off x="7315200" y="1463040"/>
            <a:ext cx="4206240" cy="420624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QR-код" descr="QR-ко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73736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011680"/>
            <a:ext cx="4572000" cy="5784273"/>
          </a:xfrm>
          <a:prstGeom prst="rect">
            <a:avLst/>
          </a:prstGeom>
        </p:spPr>
      </p:pic>
      <p:pic>
        <p:nvPicPr>
          <p:cNvPr id="3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9970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10312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Оставь оценку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9319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26D5B"/>
                </a:solidFill>
              </a:rPr>
              <a:t>Это займёт меньше минуты — спасибо!</a:t>
            </a:r>
            <a:endParaRPr lang="en-US" sz="2000" dirty="0"/>
          </a:p>
        </p:txBody>
      </p:sp>
      <p:sp>
        <p:nvSpPr>
          <p:cNvPr id="6" name="Подложка QR"/>
          <p:cNvSpPr/>
          <p:nvPr/>
        </p:nvSpPr>
        <p:spPr>
          <a:xfrm>
            <a:off x="7315200" y="1463040"/>
            <a:ext cx="4206240" cy="420624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QR-код" descr="QR-ко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73736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iway HR">
  <a:themeElements>
    <a:clrScheme name="iway HR">
      <a:dk1>
        <a:srgbClr val="484E41"/>
      </a:dk1>
      <a:lt1>
        <a:srgbClr val="FFFFFF"/>
      </a:lt1>
      <a:dk2>
        <a:srgbClr val="007026"/>
      </a:dk2>
      <a:lt2>
        <a:srgbClr val="E4F1E8"/>
      </a:lt2>
      <a:accent1>
        <a:srgbClr val="009634"/>
      </a:accent1>
      <a:accent2>
        <a:srgbClr val="00AD5A"/>
      </a:accent2>
      <a:accent3>
        <a:srgbClr val="4DC68C"/>
      </a:accent3>
      <a:accent4>
        <a:srgbClr val="99DEBD"/>
      </a:accent4>
      <a:accent5>
        <a:srgbClr val="C9EDDA"/>
      </a:accent5>
      <a:accent6>
        <a:srgbClr val="626D5B"/>
      </a:accent6>
      <a:hlink>
        <a:srgbClr val="007026"/>
      </a:hlink>
      <a:folHlink>
        <a:srgbClr val="626D5B"/>
      </a:folHlink>
    </a:clrScheme>
    <a:fontScheme name="iway HR">
      <a:majorFont>
        <a:latin typeface="Fedra Sans Pro (Основной текст)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edra Sans Pro (Основной текст)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i’way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Отдел HR i’way — знакомство для новых сотрудников</dc:title>
  <dc:subject>PptxGenJS Presentation</dc:subject>
  <dc:creator>HR i’way</dc:creator>
  <cp:lastModifiedBy>HR i’way</cp:lastModifiedBy>
  <cp:revision>1</cp:revision>
  <dcterms:created xsi:type="dcterms:W3CDTF">2026-10-07T12:51:05Z</dcterms:created>
  <dcterms:modified xsi:type="dcterms:W3CDTF">2026-10-07T12:51:05Z</dcterms:modified>
</cp:coreProperties>
</file>