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embeddedFontLst>
    <p:embeddedFont>
      <p:font typeface="Fedra Sans Pro (Основной текст)"/>
      <p:regular r:id="rIdF0"/>
      <p:bold r:id="rIdF1"/>
      <p:italic r:id="rIdF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F0" Type="http://schemas.openxmlformats.org/officeDocument/2006/relationships/font" Target="fonts/font1.fntdata"/><Relationship Id="rIdF1" Type="http://schemas.openxmlformats.org/officeDocument/2006/relationships/font" Target="fonts/font2.fntdata"/><Relationship Id="rIdF2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Приветствие. За 30 минут познакомимся с отделом HR, культурой i’way и командой.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блока: HR, культура, команда. В конце — квиз из трёх вопросов.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Формулировка главной задачи — без изменений.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Представить каждого: роль и зоны ответственности.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Шесть этапов пути сотрудника. Дальше — подробнее про найм, адаптацию и HR-бренд.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Ширина полос условная. Данные на 31.12.2025.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Рассказать про welcome-встречу и анкеты. Названия программ оставляем как есть.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Снаружи — как нас видят кандидаты, внутри — как мы живём.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130+ стран, 2 500+ поездок и 600+ аэропортов — из внутренней презентации. Оценка 4,9, офисы в Казахстане, ОАЭ и Индии — по данным Felo-поиска (App Store, блог i’way, Forbes.kz); проверьте актуальность.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Скриншот внутреннего дашборда. Перед показом широкой аудитории проверьте конфиденциальность цифр.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Даты 2009–2013 — из внутренней презентации; офис в Казахстане (начало 2023, Алматы) — Forbes.kz, по данным Felo-поиска.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Миссия — формулировка без изменений.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Ценности — формулировки из бренд-кода, без изменений.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принципов корпоративной культуры из внутренней презентации, переформулированы дружелюбнее.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Пишем i’way с типографским апострофом (Alt+0146).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Ольги Чикан (операционный директор) был скрыт в исходной презентации, поэтому здесь её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Данные из внутренней презентации.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Города России и страны присутствия — по карте.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Правильный ответ: B. Создать сильную команду для роста компании.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Правильный ответ: A. Готовность принимать новое и прислушиваться к потребностям клиентов.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Правильный ответ: A. Клиент.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ошиблись — не страшно: всё это ещё не раз пригодится.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Адрес hr@iway.ru — взят из репозитория HR-портала; проверьте перед показом.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QR-код из исходной презентации.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QR-код из исходной презентации (слайд назывался «Оценка»). Проверьте, куда он ведёт.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ветлый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47472"/>
            <a:ext cx="868680" cy="4382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917375" y="0"/>
            <a:ext cx="274320" cy="274320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ветлый олива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47472"/>
            <a:ext cx="868680" cy="4382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917375" y="0"/>
            <a:ext cx="274320" cy="274320"/>
          </a:xfrm>
          <a:prstGeom prst="rect">
            <a:avLst/>
          </a:prstGeom>
          <a:solidFill>
            <a:srgbClr val="484E41"/>
          </a:solidFill>
          <a:ln/>
        </p:spPr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423160"/>
            <a:ext cx="585216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Раздел олива">
    <p:bg>
      <p:bgPr>
        <a:solidFill>
          <a:srgbClr val="484E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60520"/>
            <a:ext cx="67665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Раздел оранж">
    <p:bg>
      <p:bgPr>
        <a:solidFill>
          <a:srgbClr val="FF5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60520"/>
            <a:ext cx="67665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Раздел зелёный">
    <p:bg>
      <p:bgPr>
        <a:solidFill>
          <a:srgbClr val="0096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60520"/>
            <a:ext cx="67665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Финал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097280" y="1828800"/>
            <a:ext cx="56692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720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виз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914400"/>
            <a:ext cx="109115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slideLayout" Target="../slideLayouts/slideLayout3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8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Логотип" descr="i’w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1645920" cy="830365"/>
          </a:xfrm>
          <a:prstGeom prst="rect">
            <a:avLst/>
          </a:prstGeom>
        </p:spPr>
      </p:pic>
      <p:sp>
        <p:nvSpPr>
          <p:cNvPr id="3" name="Тег Знакомство с отделом HR"/>
          <p:cNvSpPr/>
          <p:nvPr/>
        </p:nvSpPr>
        <p:spPr>
          <a:xfrm>
            <a:off x="640080" y="1783080"/>
            <a:ext cx="2921508" cy="310896"/>
          </a:xfrm>
          <a:prstGeom prst="roundRect">
            <a:avLst>
              <a:gd name="adj" fmla="val 50000"/>
            </a:avLst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1783080"/>
            <a:ext cx="29215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2B3026"/>
                </a:solidFill>
              </a:rPr>
              <a:t>ЗНАКОМСТВО С ОТДЕЛОМ HR</a:t>
            </a:r>
            <a:endParaRPr lang="en-US" sz="1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2423160"/>
            <a:ext cx="5852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>
                <a:solidFill>
                  <a:schemeClr val="tx1"/>
                </a:solidFill>
              </a:rPr>
              <a:t>Привет!</a:t>
            </a:r>
            <a:endParaRPr lang="en-US" sz="6000" dirty="0"/>
          </a:p>
          <a:p>
            <a:pPr algn="l" indent="0" marL="0">
              <a:buNone/>
            </a:pPr>
            <a:r>
              <a:rPr lang="en-US" sz="6000" dirty="0">
                <a:solidFill>
                  <a:schemeClr val="tx1"/>
                </a:solidFill>
              </a:rPr>
              <a:t>Мы — HR </a:t>
            </a:r>
            <a:pPr algn="l" indent="0" marL="0">
              <a:buNone/>
            </a:pPr>
            <a:r>
              <a:rPr lang="en-US" sz="6000" b="1" dirty="0">
                <a:solidFill>
                  <a:srgbClr val="009634"/>
                </a:solidFill>
              </a:rPr>
              <a:t>i’way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66344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26D5B"/>
                </a:solidFill>
              </a:rPr>
              <a:t>Чем занимаемся, как живёт компания и почему здесь классно работать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7607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B3026"/>
                </a:solidFill>
              </a:rPr>
              <a:t>Юлия Немчинова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26D5B"/>
                </a:solidFill>
              </a:rPr>
              <a:t>Руководитель HR-отдела</a:t>
            </a:r>
            <a:endParaRPr lang="en-US" sz="1600" dirty="0"/>
          </a:p>
        </p:txBody>
      </p:sp>
      <p:pic>
        <p:nvPicPr>
          <p:cNvPr id="8" name="Фото" descr="Девушка на фоне город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548640"/>
            <a:ext cx="4965192" cy="4297680"/>
          </a:xfrm>
          <a:prstGeom prst="rect">
            <a:avLst/>
          </a:prstGeom>
        </p:spPr>
      </p:pic>
      <p:sp>
        <p:nvSpPr>
          <p:cNvPr id="9" name="Плитка приветствия"/>
          <p:cNvSpPr/>
          <p:nvPr/>
        </p:nvSpPr>
        <p:spPr>
          <a:xfrm>
            <a:off x="6583680" y="5029200"/>
            <a:ext cx="2377440" cy="1280160"/>
          </a:xfrm>
          <a:prstGeom prst="roundRect">
            <a:avLst>
              <a:gd name="adj" fmla="val 21429"/>
            </a:avLst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12280" y="52578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B3026"/>
                </a:solidFill>
              </a:rPr>
              <a:t>Добро пожаловать!</a:t>
            </a:r>
            <a:endParaRPr lang="en-US" sz="2200" dirty="0"/>
          </a:p>
        </p:txBody>
      </p:sp>
      <p:sp>
        <p:nvSpPr>
          <p:cNvPr id="11" name="Плитка бренда"/>
          <p:cNvSpPr/>
          <p:nvPr/>
        </p:nvSpPr>
        <p:spPr>
          <a:xfrm>
            <a:off x="9171432" y="5029200"/>
            <a:ext cx="2377440" cy="1280160"/>
          </a:xfrm>
          <a:prstGeom prst="roundRect">
            <a:avLst>
              <a:gd name="adj" fmla="val 21429"/>
            </a:avLst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pic>
        <p:nvPicPr>
          <p:cNvPr id="12" name="Логотип" descr="i’wa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752" y="5349240"/>
            <a:ext cx="1188720" cy="510159"/>
          </a:xfrm>
          <a:prstGeom prst="rect">
            <a:avLst/>
          </a:prstGeom>
        </p:spPr>
      </p:pic>
      <p:sp>
        <p:nvSpPr>
          <p:cNvPr id="13" name="Стрелка"/>
          <p:cNvSpPr/>
          <p:nvPr/>
        </p:nvSpPr>
        <p:spPr>
          <a:xfrm>
            <a:off x="10744200" y="516636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900000">
            <a:off x="10923422" y="5345582"/>
            <a:ext cx="281635" cy="2816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dirty="0">
                <a:solidFill>
                  <a:schemeClr val="tx1"/>
                </a:solidFill>
              </a:rPr>
              <a:t>Что нас ждёт.</a:t>
            </a:r>
            <a:endParaRPr lang="en-US" sz="3800" dirty="0"/>
          </a:p>
        </p:txBody>
      </p:sp>
      <p:sp>
        <p:nvSpPr>
          <p:cNvPr id="3" name="Тег Отдел HR"/>
          <p:cNvSpPr/>
          <p:nvPr/>
        </p:nvSpPr>
        <p:spPr>
          <a:xfrm>
            <a:off x="640080" y="1737360"/>
            <a:ext cx="1344168" cy="310896"/>
          </a:xfrm>
          <a:prstGeom prst="roundRect">
            <a:avLst>
              <a:gd name="adj" fmla="val 50000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737360"/>
            <a:ext cx="1344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ОТДЕЛ HR</a:t>
            </a:r>
            <a:endParaRPr lang="en-US" sz="1000" dirty="0"/>
          </a:p>
        </p:txBody>
      </p:sp>
      <p:sp>
        <p:nvSpPr>
          <p:cNvPr id="5" name="Тег Культура i’way"/>
          <p:cNvSpPr/>
          <p:nvPr/>
        </p:nvSpPr>
        <p:spPr>
          <a:xfrm>
            <a:off x="2121408" y="1737360"/>
            <a:ext cx="1975104" cy="310896"/>
          </a:xfrm>
          <a:prstGeom prst="roundRect">
            <a:avLst>
              <a:gd name="adj" fmla="val 50000"/>
            </a:avLst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21408" y="1737360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2B3026"/>
                </a:solidFill>
              </a:rPr>
              <a:t>КУЛЬТУРА I’WAY</a:t>
            </a:r>
            <a:endParaRPr lang="en-US" sz="1000" dirty="0"/>
          </a:p>
        </p:txBody>
      </p:sp>
      <p:sp>
        <p:nvSpPr>
          <p:cNvPr id="7" name="Тег Команда i’way"/>
          <p:cNvSpPr/>
          <p:nvPr/>
        </p:nvSpPr>
        <p:spPr>
          <a:xfrm>
            <a:off x="4233672" y="1737360"/>
            <a:ext cx="1869948" cy="310896"/>
          </a:xfrm>
          <a:prstGeom prst="roundRect">
            <a:avLst>
              <a:gd name="adj" fmla="val 50000"/>
            </a:avLst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33672" y="1737360"/>
            <a:ext cx="18699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КОМАНДА I’WAY</a:t>
            </a:r>
            <a:endParaRPr lang="en-US" sz="1000" dirty="0"/>
          </a:p>
        </p:txBody>
      </p:sp>
      <p:sp>
        <p:nvSpPr>
          <p:cNvPr id="9" name="Линия 0"/>
          <p:cNvSpPr/>
          <p:nvPr/>
        </p:nvSpPr>
        <p:spPr>
          <a:xfrm>
            <a:off x="640080" y="2651760"/>
            <a:ext cx="10911535" cy="0"/>
          </a:xfrm>
          <a:prstGeom prst="line">
            <a:avLst/>
          </a:prstGeom>
          <a:noFill/>
          <a:ln w="12700">
            <a:solidFill>
              <a:srgbClr val="D6D8C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9260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7026"/>
                </a:solidFill>
              </a:rPr>
              <a:t>1.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9260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B3026"/>
                </a:solidFill>
              </a:rPr>
              <a:t>Отдел HR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29260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D5B"/>
                </a:solidFill>
              </a:rPr>
              <a:t>Кто мы и как заботимся о тебе на каждом этапе</a:t>
            </a:r>
            <a:endParaRPr lang="en-US" sz="1600" dirty="0"/>
          </a:p>
        </p:txBody>
      </p:sp>
      <p:sp>
        <p:nvSpPr>
          <p:cNvPr id="13" name="Линия 1"/>
          <p:cNvSpPr/>
          <p:nvPr/>
        </p:nvSpPr>
        <p:spPr>
          <a:xfrm>
            <a:off x="640080" y="3703320"/>
            <a:ext cx="10911535" cy="0"/>
          </a:xfrm>
          <a:prstGeom prst="line">
            <a:avLst/>
          </a:prstGeom>
          <a:noFill/>
          <a:ln w="12700">
            <a:solidFill>
              <a:srgbClr val="D6D8C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9776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5A1F"/>
                </a:solidFill>
              </a:rPr>
              <a:t>2.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9776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B3026"/>
                </a:solidFill>
              </a:rPr>
              <a:t>Культура i’way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39776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D5B"/>
                </a:solidFill>
              </a:rPr>
              <a:t>Миссия, ценности и наши правила игры</a:t>
            </a:r>
            <a:endParaRPr lang="en-US" sz="1600" dirty="0"/>
          </a:p>
        </p:txBody>
      </p:sp>
      <p:sp>
        <p:nvSpPr>
          <p:cNvPr id="17" name="Линия 2"/>
          <p:cNvSpPr/>
          <p:nvPr/>
        </p:nvSpPr>
        <p:spPr>
          <a:xfrm>
            <a:off x="640080" y="4754880"/>
            <a:ext cx="10911535" cy="0"/>
          </a:xfrm>
          <a:prstGeom prst="line">
            <a:avLst/>
          </a:prstGeom>
          <a:noFill/>
          <a:ln w="12700">
            <a:solidFill>
              <a:srgbClr val="D6D8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50292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634"/>
                </a:solidFill>
              </a:rPr>
              <a:t>3.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50292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B3026"/>
                </a:solidFill>
              </a:rPr>
              <a:t>Команда i’way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50292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D5B"/>
                </a:solidFill>
              </a:rPr>
              <a:t>Руководство, коллеги и цифры, которыми мы гордимся</a:t>
            </a:r>
            <a:endParaRPr lang="en-US" sz="1600" dirty="0"/>
          </a:p>
        </p:txBody>
      </p:sp>
      <p:sp>
        <p:nvSpPr>
          <p:cNvPr id="21" name="Линия 3"/>
          <p:cNvSpPr/>
          <p:nvPr/>
        </p:nvSpPr>
        <p:spPr>
          <a:xfrm>
            <a:off x="640080" y="5806440"/>
            <a:ext cx="10911535" cy="0"/>
          </a:xfrm>
          <a:prstGeom prst="line">
            <a:avLst/>
          </a:prstGeom>
          <a:noFill/>
          <a:ln w="12700">
            <a:solidFill>
              <a:srgbClr val="D6D8CF"/>
            </a:solidFill>
            <a:prstDash val="solid"/>
          </a:ln>
        </p:spPr>
      </p:sp>
      <p:sp>
        <p:nvSpPr>
          <p:cNvPr id="22" name="Квиз"/>
          <p:cNvSpPr/>
          <p:nvPr/>
        </p:nvSpPr>
        <p:spPr>
          <a:xfrm>
            <a:off x="640080" y="5943600"/>
            <a:ext cx="3840480" cy="411480"/>
          </a:xfrm>
          <a:prstGeom prst="roundRect">
            <a:avLst>
              <a:gd name="adj" fmla="val 48889"/>
            </a:avLst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59436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3026"/>
                </a:solidFill>
              </a:rPr>
              <a:t>В конце — мини-квиз!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литка"/>
          <p:cNvSpPr/>
          <p:nvPr/>
        </p:nvSpPr>
        <p:spPr>
          <a:xfrm>
            <a:off x="7498080" y="822960"/>
            <a:ext cx="4023360" cy="5212080"/>
          </a:xfrm>
          <a:prstGeom prst="roundRect">
            <a:avLst>
              <a:gd name="adj" fmla="val 11364"/>
            </a:avLst>
          </a:prstGeom>
          <a:solidFill>
            <a:srgbClr val="626D5B"/>
          </a:solidFill>
          <a:ln w="12700">
            <a:solidFill>
              <a:srgbClr val="626D5B"/>
            </a:solidFill>
            <a:prstDash val="solid"/>
          </a:ln>
        </p:spPr>
      </p:sp>
      <p:pic>
        <p:nvPicPr>
          <p:cNvPr id="3" name="Стрелка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8900000">
            <a:off x="8229600" y="2194560"/>
            <a:ext cx="2560320" cy="2560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40080"/>
            <a:ext cx="67665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0" b="1" dirty="0">
                <a:solidFill>
                  <a:srgbClr val="FF5A1F"/>
                </a:solidFill>
              </a:rPr>
              <a:t>01</a:t>
            </a:r>
            <a:endParaRPr lang="en-US" sz="23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416052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dirty="0">
                <a:solidFill>
                  <a:schemeClr val="bg1"/>
                </a:solidFill>
              </a:rPr>
              <a:t>Отдел HR</a:t>
            </a:r>
            <a:endParaRPr lang="en-US" sz="5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212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9EDDA"/>
                </a:solidFill>
              </a:rPr>
              <a:t>Кто мы и чем занимаемся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dirty="0">
                <a:solidFill>
                  <a:schemeClr val="tx1"/>
                </a:solidFill>
              </a:rPr>
              <a:t>Главная задача отдела HR</a:t>
            </a:r>
            <a:endParaRPr lang="en-US" sz="3800" dirty="0"/>
          </a:p>
        </p:txBody>
      </p:sp>
      <p:sp>
        <p:nvSpPr>
          <p:cNvPr id="3" name="Формулировка"/>
          <p:cNvSpPr/>
          <p:nvPr/>
        </p:nvSpPr>
        <p:spPr>
          <a:xfrm>
            <a:off x="640080" y="1920240"/>
            <a:ext cx="7315200" cy="4206240"/>
          </a:xfrm>
          <a:prstGeom prst="roundRect">
            <a:avLst>
              <a:gd name="adj" fmla="val 8696"/>
            </a:avLst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2286000"/>
            <a:ext cx="64008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</a:rPr>
              <a:t>Создать такую экосистему внутри компании, где таланты могут </a:t>
            </a:r>
            <a:pPr indent="0" marL="0">
              <a:buNone/>
            </a:pPr>
            <a:r>
              <a:rPr lang="en-US" sz="3000" b="1" dirty="0">
                <a:solidFill>
                  <a:srgbClr val="C9EDDA"/>
                </a:solidFill>
              </a:rPr>
              <a:t>раскрываться</a:t>
            </a:r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</a:rPr>
              <a:t>, а бизнес — </a:t>
            </a:r>
            <a:pPr indent="0" marL="0">
              <a:buNone/>
            </a:pPr>
            <a:r>
              <a:rPr lang="en-US" sz="3000" b="1" dirty="0">
                <a:solidFill>
                  <a:srgbClr val="FF8A5B"/>
                </a:solidFill>
              </a:rPr>
              <a:t>расти</a:t>
            </a:r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</a:rPr>
              <a:t> благодаря слаженной и эффективной работе всей команды.</a:t>
            </a:r>
            <a:endParaRPr lang="en-US" sz="3000" dirty="0"/>
          </a:p>
        </p:txBody>
      </p:sp>
      <p:sp>
        <p:nvSpPr>
          <p:cNvPr id="5" name="Таланты"/>
          <p:cNvSpPr/>
          <p:nvPr/>
        </p:nvSpPr>
        <p:spPr>
          <a:xfrm>
            <a:off x="8138160" y="1920240"/>
            <a:ext cx="3410712" cy="2011680"/>
          </a:xfrm>
          <a:prstGeom prst="roundRect">
            <a:avLst>
              <a:gd name="adj" fmla="val 13636"/>
            </a:avLst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0" y="21945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Таланты раскрываются</a:t>
            </a:r>
            <a:endParaRPr lang="en-US" sz="2400" dirty="0"/>
          </a:p>
        </p:txBody>
      </p:sp>
      <p:sp>
        <p:nvSpPr>
          <p:cNvPr id="7" name="Кнопка"/>
          <p:cNvSpPr/>
          <p:nvPr/>
        </p:nvSpPr>
        <p:spPr>
          <a:xfrm>
            <a:off x="10607040" y="3200400"/>
            <a:ext cx="594360" cy="5943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8900000">
            <a:off x="10773461" y="3366821"/>
            <a:ext cx="261518" cy="261518"/>
          </a:xfrm>
          <a:prstGeom prst="rect">
            <a:avLst/>
          </a:prstGeom>
        </p:spPr>
      </p:pic>
      <p:sp>
        <p:nvSpPr>
          <p:cNvPr id="9" name="Бизнес"/>
          <p:cNvSpPr/>
          <p:nvPr/>
        </p:nvSpPr>
        <p:spPr>
          <a:xfrm>
            <a:off x="8138160" y="4114800"/>
            <a:ext cx="3410712" cy="2011680"/>
          </a:xfrm>
          <a:prstGeom prst="roundRect">
            <a:avLst>
              <a:gd name="adj" fmla="val 13636"/>
            </a:avLst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0" y="438912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B3026"/>
                </a:solidFill>
              </a:rPr>
              <a:t>Бизнес растёт</a:t>
            </a:r>
            <a:endParaRPr lang="en-US" sz="2400" dirty="0"/>
          </a:p>
        </p:txBody>
      </p:sp>
      <p:sp>
        <p:nvSpPr>
          <p:cNvPr id="11" name="Кнопка"/>
          <p:cNvSpPr/>
          <p:nvPr/>
        </p:nvSpPr>
        <p:spPr>
          <a:xfrm>
            <a:off x="10607040" y="5394960"/>
            <a:ext cx="594360" cy="594360"/>
          </a:xfrm>
          <a:prstGeom prst="ellipse">
            <a:avLst/>
          </a:prstGeom>
          <a:solidFill>
            <a:srgbClr val="2B3026"/>
          </a:solidFill>
          <a:ln w="12700">
            <a:solidFill>
              <a:srgbClr val="2B302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900000">
            <a:off x="10773461" y="5561381"/>
            <a:ext cx="261518" cy="26151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dirty="0">
                <a:solidFill>
                  <a:schemeClr val="tx1"/>
                </a:solidFill>
              </a:rPr>
              <a:t>Знакомьтесь: команда HR</a:t>
            </a:r>
            <a:endParaRPr lang="en-US" sz="3800" dirty="0"/>
          </a:p>
        </p:txBody>
      </p:sp>
      <p:pic>
        <p:nvPicPr>
          <p:cNvPr id="3" name="Юлия Немчинова" descr="Юлия Немчинов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3429000" cy="362494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57784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B3026"/>
                </a:solidFill>
              </a:rPr>
              <a:t>Юлия Немчинова</a:t>
            </a:r>
            <a:endParaRPr lang="en-US" sz="2200" dirty="0"/>
          </a:p>
        </p:txBody>
      </p:sp>
      <p:sp>
        <p:nvSpPr>
          <p:cNvPr id="5" name="Тег Руководитель отдела HR"/>
          <p:cNvSpPr/>
          <p:nvPr/>
        </p:nvSpPr>
        <p:spPr>
          <a:xfrm>
            <a:off x="640080" y="5989320"/>
            <a:ext cx="2816352" cy="310896"/>
          </a:xfrm>
          <a:prstGeom prst="roundRect">
            <a:avLst>
              <a:gd name="adj" fmla="val 50000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5989320"/>
            <a:ext cx="2816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РУКОВОДИТЕЛЬ ОТДЕЛА HR</a:t>
            </a:r>
            <a:endParaRPr lang="en-US" sz="1000" dirty="0"/>
          </a:p>
        </p:txBody>
      </p:sp>
      <p:pic>
        <p:nvPicPr>
          <p:cNvPr id="7" name="Анна Шулятицкая" descr="Анна Шулятицкая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1348" y="1828800"/>
            <a:ext cx="3429000" cy="362494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381348" y="557784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B3026"/>
                </a:solidFill>
              </a:rPr>
              <a:t>Анна Шулятицкая</a:t>
            </a:r>
            <a:endParaRPr lang="en-US" sz="2200" dirty="0"/>
          </a:p>
        </p:txBody>
      </p:sp>
      <p:sp>
        <p:nvSpPr>
          <p:cNvPr id="9" name="Тег Ведущий HR-специалист"/>
          <p:cNvSpPr/>
          <p:nvPr/>
        </p:nvSpPr>
        <p:spPr>
          <a:xfrm>
            <a:off x="4381348" y="5989320"/>
            <a:ext cx="2711196" cy="310896"/>
          </a:xfrm>
          <a:prstGeom prst="roundRect">
            <a:avLst>
              <a:gd name="adj" fmla="val 50000"/>
            </a:avLst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381348" y="5989320"/>
            <a:ext cx="27111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2B3026"/>
                </a:solidFill>
              </a:rPr>
              <a:t>ВЕДУЩИЙ HR-СПЕЦИАЛИСТ</a:t>
            </a:r>
            <a:endParaRPr lang="en-US" sz="1000" dirty="0"/>
          </a:p>
        </p:txBody>
      </p:sp>
      <p:pic>
        <p:nvPicPr>
          <p:cNvPr id="11" name="Елена Таратынова" descr="Елена Таратынов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2615" y="1828800"/>
            <a:ext cx="3429000" cy="362494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22615" y="557784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B3026"/>
                </a:solidFill>
              </a:rPr>
              <a:t>Елена Таратынова</a:t>
            </a:r>
            <a:endParaRPr lang="en-US" sz="2200" dirty="0"/>
          </a:p>
        </p:txBody>
      </p:sp>
      <p:sp>
        <p:nvSpPr>
          <p:cNvPr id="13" name="Тег Офис-менеджер"/>
          <p:cNvSpPr/>
          <p:nvPr/>
        </p:nvSpPr>
        <p:spPr>
          <a:xfrm>
            <a:off x="8122615" y="5989320"/>
            <a:ext cx="1869948" cy="310896"/>
          </a:xfrm>
          <a:prstGeom prst="roundRect">
            <a:avLst>
              <a:gd name="adj" fmla="val 50000"/>
            </a:avLst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8122615" y="5989320"/>
            <a:ext cx="18699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ОФИС-МЕНЕДЖЕР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dirty="0">
                <a:solidFill>
                  <a:schemeClr val="tx1"/>
                </a:solidFill>
              </a:rPr>
              <a:t>Мы рядом на всём твоём пути</a:t>
            </a:r>
            <a:endParaRPr lang="en-US" sz="3800" dirty="0"/>
          </a:p>
        </p:txBody>
      </p:sp>
      <p:sp>
        <p:nvSpPr>
          <p:cNvPr id="3" name="Тег Employee Journey Map"/>
          <p:cNvSpPr/>
          <p:nvPr/>
        </p:nvSpPr>
        <p:spPr>
          <a:xfrm>
            <a:off x="640080" y="17373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7373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EMPLOYEE JOURNEY MAP</a:t>
            </a:r>
            <a:endParaRPr lang="en-US" sz="1000" dirty="0"/>
          </a:p>
        </p:txBody>
      </p:sp>
      <p:sp>
        <p:nvSpPr>
          <p:cNvPr id="5" name="Этап Найм"/>
          <p:cNvSpPr/>
          <p:nvPr/>
        </p:nvSpPr>
        <p:spPr>
          <a:xfrm>
            <a:off x="640080" y="2240280"/>
            <a:ext cx="3520440" cy="1920240"/>
          </a:xfrm>
          <a:prstGeom prst="roundRect">
            <a:avLst>
              <a:gd name="adj" fmla="val 14286"/>
            </a:avLst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pic>
        <p:nvPicPr>
          <p:cNvPr id="6" name="Image 0" descr="Най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514600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063240" y="25146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B3026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1089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3026"/>
                </a:solidFill>
              </a:rPr>
              <a:t>Найм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5204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026"/>
                </a:solidFill>
              </a:rPr>
              <a:t>Знакомимся и зовём в команду</a:t>
            </a:r>
            <a:endParaRPr lang="en-US" sz="1400" dirty="0"/>
          </a:p>
        </p:txBody>
      </p:sp>
      <p:sp>
        <p:nvSpPr>
          <p:cNvPr id="10" name="Стрелка Найм"/>
          <p:cNvSpPr/>
          <p:nvPr/>
        </p:nvSpPr>
        <p:spPr>
          <a:xfrm>
            <a:off x="3337560" y="3337560"/>
            <a:ext cx="566928" cy="566928"/>
          </a:xfrm>
          <a:prstGeom prst="ellipse">
            <a:avLst/>
          </a:prstGeom>
          <a:solidFill>
            <a:srgbClr val="2B3026"/>
          </a:solidFill>
          <a:ln w="12700">
            <a:solidFill>
              <a:srgbClr val="2B302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900000">
            <a:off x="3496300" y="3496300"/>
            <a:ext cx="249448" cy="249448"/>
          </a:xfrm>
          <a:prstGeom prst="rect">
            <a:avLst/>
          </a:prstGeom>
        </p:spPr>
      </p:pic>
      <p:sp>
        <p:nvSpPr>
          <p:cNvPr id="12" name="Этап Адаптация"/>
          <p:cNvSpPr/>
          <p:nvPr/>
        </p:nvSpPr>
        <p:spPr>
          <a:xfrm>
            <a:off x="4335628" y="2240280"/>
            <a:ext cx="3520440" cy="1920240"/>
          </a:xfrm>
          <a:prstGeom prst="roundRect">
            <a:avLst>
              <a:gd name="adj" fmla="val 14286"/>
            </a:avLst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pic>
        <p:nvPicPr>
          <p:cNvPr id="13" name="Image 2" descr="Адаптация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9948" y="2514600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758788" y="25146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609948" y="31089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Адаптация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4609948" y="35204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Помогаем влиться и освоиться</a:t>
            </a:r>
            <a:endParaRPr lang="en-US" sz="1400" dirty="0"/>
          </a:p>
        </p:txBody>
      </p:sp>
      <p:sp>
        <p:nvSpPr>
          <p:cNvPr id="17" name="Стрелка Адаптация"/>
          <p:cNvSpPr/>
          <p:nvPr/>
        </p:nvSpPr>
        <p:spPr>
          <a:xfrm>
            <a:off x="7033108" y="333756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900000">
            <a:off x="7191847" y="3496300"/>
            <a:ext cx="249448" cy="249448"/>
          </a:xfrm>
          <a:prstGeom prst="rect">
            <a:avLst/>
          </a:prstGeom>
        </p:spPr>
      </p:pic>
      <p:sp>
        <p:nvSpPr>
          <p:cNvPr id="19" name="Этап Вовлечённость"/>
          <p:cNvSpPr/>
          <p:nvPr/>
        </p:nvSpPr>
        <p:spPr>
          <a:xfrm>
            <a:off x="8031175" y="2240280"/>
            <a:ext cx="3520440" cy="1920240"/>
          </a:xfrm>
          <a:prstGeom prst="roundRect">
            <a:avLst>
              <a:gd name="adj" fmla="val 14286"/>
            </a:avLst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20" name="Image 4" descr="Вовлечённость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5495" y="2514600"/>
            <a:ext cx="384048" cy="38404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0454335" y="25146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2" name="Text 15"/>
          <p:cNvSpPr txBox="1"/>
          <p:nvPr/>
        </p:nvSpPr>
        <p:spPr>
          <a:xfrm>
            <a:off x="8305495" y="31089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Вовлечённость</a:t>
            </a:r>
            <a:endParaRPr lang="en-US" sz="2000" dirty="0"/>
          </a:p>
        </p:txBody>
      </p:sp>
      <p:sp>
        <p:nvSpPr>
          <p:cNvPr id="23" name="Text 16"/>
          <p:cNvSpPr txBox="1"/>
          <p:nvPr/>
        </p:nvSpPr>
        <p:spPr>
          <a:xfrm>
            <a:off x="8305495" y="35204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Чтобы было интересно и тепло</a:t>
            </a:r>
            <a:endParaRPr lang="en-US" sz="1400" dirty="0"/>
          </a:p>
        </p:txBody>
      </p:sp>
      <p:sp>
        <p:nvSpPr>
          <p:cNvPr id="24" name="Стрелка Вовлечённость"/>
          <p:cNvSpPr/>
          <p:nvPr/>
        </p:nvSpPr>
        <p:spPr>
          <a:xfrm>
            <a:off x="10728655" y="333756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8900000">
            <a:off x="10887395" y="3496300"/>
            <a:ext cx="249448" cy="249448"/>
          </a:xfrm>
          <a:prstGeom prst="rect">
            <a:avLst/>
          </a:prstGeom>
        </p:spPr>
      </p:pic>
      <p:sp>
        <p:nvSpPr>
          <p:cNvPr id="26" name="Этап Обучение"/>
          <p:cNvSpPr/>
          <p:nvPr/>
        </p:nvSpPr>
        <p:spPr>
          <a:xfrm>
            <a:off x="640080" y="4343400"/>
            <a:ext cx="3520440" cy="1920240"/>
          </a:xfrm>
          <a:prstGeom prst="roundRect">
            <a:avLst>
              <a:gd name="adj" fmla="val 14286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27" name="Image 6" descr="Обучение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4617720"/>
            <a:ext cx="384048" cy="384048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3063240" y="46177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B3026"/>
                </a:solidFill>
              </a:rPr>
              <a:t>04</a:t>
            </a:r>
            <a:endParaRPr lang="en-US" sz="1400" dirty="0"/>
          </a:p>
        </p:txBody>
      </p:sp>
      <p:sp>
        <p:nvSpPr>
          <p:cNvPr id="29" name="Text 20"/>
          <p:cNvSpPr txBox="1"/>
          <p:nvPr/>
        </p:nvSpPr>
        <p:spPr>
          <a:xfrm>
            <a:off x="914400" y="5212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3026"/>
                </a:solidFill>
              </a:rPr>
              <a:t>Обучение</a:t>
            </a:r>
            <a:endParaRPr lang="en-US" sz="2000" dirty="0"/>
          </a:p>
        </p:txBody>
      </p:sp>
      <p:sp>
        <p:nvSpPr>
          <p:cNvPr id="30" name="Text 21"/>
          <p:cNvSpPr txBox="1"/>
          <p:nvPr/>
        </p:nvSpPr>
        <p:spPr>
          <a:xfrm>
            <a:off x="914400" y="56235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026"/>
                </a:solidFill>
              </a:rPr>
              <a:t>Делимся знаниями и навыками</a:t>
            </a:r>
            <a:endParaRPr lang="en-US" sz="1400" dirty="0"/>
          </a:p>
        </p:txBody>
      </p:sp>
      <p:sp>
        <p:nvSpPr>
          <p:cNvPr id="31" name="Стрелка Обучение"/>
          <p:cNvSpPr/>
          <p:nvPr/>
        </p:nvSpPr>
        <p:spPr>
          <a:xfrm>
            <a:off x="3337560" y="5440680"/>
            <a:ext cx="566928" cy="566928"/>
          </a:xfrm>
          <a:prstGeom prst="ellipse">
            <a:avLst/>
          </a:prstGeom>
          <a:solidFill>
            <a:srgbClr val="2B3026"/>
          </a:solidFill>
          <a:ln w="12700">
            <a:solidFill>
              <a:srgbClr val="2B3026"/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8900000">
            <a:off x="3496300" y="5599420"/>
            <a:ext cx="249448" cy="249448"/>
          </a:xfrm>
          <a:prstGeom prst="rect">
            <a:avLst/>
          </a:prstGeom>
        </p:spPr>
      </p:pic>
      <p:sp>
        <p:nvSpPr>
          <p:cNvPr id="33" name="Этап Рост и развитие"/>
          <p:cNvSpPr/>
          <p:nvPr/>
        </p:nvSpPr>
        <p:spPr>
          <a:xfrm>
            <a:off x="4335628" y="4343400"/>
            <a:ext cx="3520440" cy="19202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D6D8CF"/>
            </a:solidFill>
            <a:prstDash val="solid"/>
          </a:ln>
        </p:spPr>
      </p:sp>
      <p:pic>
        <p:nvPicPr>
          <p:cNvPr id="34" name="Image 8" descr="Рост и развитие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09948" y="4617720"/>
            <a:ext cx="384048" cy="384048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6758788" y="46177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B3026"/>
                </a:solidFill>
              </a:rPr>
              <a:t>05</a:t>
            </a:r>
            <a:endParaRPr lang="en-US" sz="1400" dirty="0"/>
          </a:p>
        </p:txBody>
      </p:sp>
      <p:sp>
        <p:nvSpPr>
          <p:cNvPr id="36" name="Text 25"/>
          <p:cNvSpPr txBox="1"/>
          <p:nvPr/>
        </p:nvSpPr>
        <p:spPr>
          <a:xfrm>
            <a:off x="4609948" y="5212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3026"/>
                </a:solidFill>
              </a:rPr>
              <a:t>Рост и развитие</a:t>
            </a:r>
            <a:endParaRPr lang="en-US" sz="2000" dirty="0"/>
          </a:p>
        </p:txBody>
      </p:sp>
      <p:sp>
        <p:nvSpPr>
          <p:cNvPr id="37" name="Text 26"/>
          <p:cNvSpPr txBox="1"/>
          <p:nvPr/>
        </p:nvSpPr>
        <p:spPr>
          <a:xfrm>
            <a:off x="4609948" y="56235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026"/>
                </a:solidFill>
              </a:rPr>
              <a:t>Двигаемся вперёд вместе</a:t>
            </a:r>
            <a:endParaRPr lang="en-US" sz="1400" dirty="0"/>
          </a:p>
        </p:txBody>
      </p:sp>
      <p:sp>
        <p:nvSpPr>
          <p:cNvPr id="38" name="Стрелка Рост и развитие"/>
          <p:cNvSpPr/>
          <p:nvPr/>
        </p:nvSpPr>
        <p:spPr>
          <a:xfrm>
            <a:off x="7033108" y="5440680"/>
            <a:ext cx="566928" cy="566928"/>
          </a:xfrm>
          <a:prstGeom prst="ellipse">
            <a:avLst/>
          </a:prstGeom>
          <a:solidFill>
            <a:srgbClr val="2B3026"/>
          </a:solidFill>
          <a:ln w="12700">
            <a:solidFill>
              <a:srgbClr val="2B3026"/>
            </a:solidFill>
            <a:prstDash val="solid"/>
          </a:ln>
        </p:spPr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8900000">
            <a:off x="7191847" y="5599420"/>
            <a:ext cx="249448" cy="249448"/>
          </a:xfrm>
          <a:prstGeom prst="rect">
            <a:avLst/>
          </a:prstGeom>
        </p:spPr>
      </p:pic>
      <p:sp>
        <p:nvSpPr>
          <p:cNvPr id="40" name="Этап HR-бренд"/>
          <p:cNvSpPr/>
          <p:nvPr/>
        </p:nvSpPr>
        <p:spPr>
          <a:xfrm>
            <a:off x="8031175" y="4343400"/>
            <a:ext cx="3520440" cy="1920240"/>
          </a:xfrm>
          <a:prstGeom prst="roundRect">
            <a:avLst>
              <a:gd name="adj" fmla="val 14286"/>
            </a:avLst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pic>
        <p:nvPicPr>
          <p:cNvPr id="41" name="Image 10" descr="HR-бренд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05495" y="4617720"/>
            <a:ext cx="384048" cy="384048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10454335" y="46177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B3026"/>
                </a:solidFill>
              </a:rPr>
              <a:t>06</a:t>
            </a:r>
            <a:endParaRPr lang="en-US" sz="1400" dirty="0"/>
          </a:p>
        </p:txBody>
      </p:sp>
      <p:sp>
        <p:nvSpPr>
          <p:cNvPr id="43" name="Text 30"/>
          <p:cNvSpPr txBox="1"/>
          <p:nvPr/>
        </p:nvSpPr>
        <p:spPr>
          <a:xfrm>
            <a:off x="8305495" y="5212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3026"/>
                </a:solidFill>
              </a:rPr>
              <a:t>HR-бренд</a:t>
            </a:r>
            <a:endParaRPr lang="en-US" sz="2000" dirty="0"/>
          </a:p>
        </p:txBody>
      </p:sp>
      <p:sp>
        <p:nvSpPr>
          <p:cNvPr id="44" name="Text 31"/>
          <p:cNvSpPr txBox="1"/>
          <p:nvPr/>
        </p:nvSpPr>
        <p:spPr>
          <a:xfrm>
            <a:off x="8305495" y="56235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026"/>
                </a:solidFill>
              </a:rPr>
              <a:t>Рассказываем, какие мы</a:t>
            </a:r>
            <a:endParaRPr lang="en-US" sz="1400" dirty="0"/>
          </a:p>
        </p:txBody>
      </p:sp>
      <p:sp>
        <p:nvSpPr>
          <p:cNvPr id="45" name="Стрелка HR-бренд"/>
          <p:cNvSpPr/>
          <p:nvPr/>
        </p:nvSpPr>
        <p:spPr>
          <a:xfrm>
            <a:off x="10728655" y="5440680"/>
            <a:ext cx="566928" cy="566928"/>
          </a:xfrm>
          <a:prstGeom prst="ellipse">
            <a:avLst/>
          </a:prstGeom>
          <a:solidFill>
            <a:srgbClr val="2B3026"/>
          </a:solidFill>
          <a:ln w="12700">
            <a:solidFill>
              <a:srgbClr val="2B3026"/>
            </a:solidFill>
            <a:prstDash val="solid"/>
          </a:ln>
        </p:spPr>
      </p:sp>
      <p:pic>
        <p:nvPicPr>
          <p:cNvPr id="46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8900000">
            <a:off x="10887395" y="5599420"/>
            <a:ext cx="249448" cy="2494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dirty="0">
                <a:solidFill>
                  <a:schemeClr val="tx1"/>
                </a:solidFill>
              </a:rPr>
              <a:t>Найм: как мы собираем команду</a:t>
            </a:r>
            <a:endParaRPr lang="en-US" sz="3800" dirty="0"/>
          </a:p>
        </p:txBody>
      </p:sp>
      <p:sp>
        <p:nvSpPr>
          <p:cNvPr id="3" name="Тег EJM · Найм"/>
          <p:cNvSpPr/>
          <p:nvPr/>
        </p:nvSpPr>
        <p:spPr>
          <a:xfrm>
            <a:off x="640080" y="173736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73736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EJM · НАЙМ</a:t>
            </a:r>
            <a:endParaRPr lang="en-US" sz="1000" dirty="0"/>
          </a:p>
        </p:txBody>
      </p:sp>
      <p:sp>
        <p:nvSpPr>
          <p:cNvPr id="5" name="Шаг Отклики"/>
          <p:cNvSpPr/>
          <p:nvPr/>
        </p:nvSpPr>
        <p:spPr>
          <a:xfrm>
            <a:off x="640080" y="2286000"/>
            <a:ext cx="5852160" cy="502920"/>
          </a:xfrm>
          <a:prstGeom prst="roundRect">
            <a:avLst>
              <a:gd name="adj" fmla="val 50000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28600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026"/>
                </a:solidFill>
              </a:rPr>
              <a:t>Отклики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303520" y="228600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2B3026"/>
                </a:solidFill>
              </a:rPr>
              <a:t>5 866</a:t>
            </a:r>
            <a:endParaRPr lang="en-US" sz="1800" dirty="0"/>
          </a:p>
        </p:txBody>
      </p:sp>
      <p:sp>
        <p:nvSpPr>
          <p:cNvPr id="8" name="Шаг Первый контакт"/>
          <p:cNvSpPr/>
          <p:nvPr/>
        </p:nvSpPr>
        <p:spPr>
          <a:xfrm>
            <a:off x="640080" y="2926080"/>
            <a:ext cx="5120640" cy="502920"/>
          </a:xfrm>
          <a:prstGeom prst="roundRect">
            <a:avLst>
              <a:gd name="adj" fmla="val 50000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29260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026"/>
                </a:solidFill>
              </a:rPr>
              <a:t>Первый контакт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9260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2B3026"/>
                </a:solidFill>
              </a:rPr>
              <a:t>1 038</a:t>
            </a:r>
            <a:endParaRPr lang="en-US" sz="1800" dirty="0"/>
          </a:p>
        </p:txBody>
      </p:sp>
      <p:sp>
        <p:nvSpPr>
          <p:cNvPr id="11" name="Шаг Приглашение на собеседование"/>
          <p:cNvSpPr/>
          <p:nvPr/>
        </p:nvSpPr>
        <p:spPr>
          <a:xfrm>
            <a:off x="640080" y="3566160"/>
            <a:ext cx="43891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6D8C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35661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026"/>
                </a:solidFill>
              </a:rPr>
              <a:t>Приглашение на собеседование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840480" y="356616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2B3026"/>
                </a:solidFill>
              </a:rPr>
              <a:t>743</a:t>
            </a:r>
            <a:endParaRPr lang="en-US" sz="1800" dirty="0"/>
          </a:p>
        </p:txBody>
      </p:sp>
      <p:sp>
        <p:nvSpPr>
          <p:cNvPr id="14" name="Шаг Собеседование"/>
          <p:cNvSpPr/>
          <p:nvPr/>
        </p:nvSpPr>
        <p:spPr>
          <a:xfrm>
            <a:off x="640080" y="4206240"/>
            <a:ext cx="36576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6D8C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42062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026"/>
                </a:solidFill>
              </a:rPr>
              <a:t>Собеседование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108960" y="420624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2B3026"/>
                </a:solidFill>
              </a:rPr>
              <a:t>576</a:t>
            </a:r>
            <a:endParaRPr lang="en-US" sz="1800" dirty="0"/>
          </a:p>
        </p:txBody>
      </p:sp>
      <p:sp>
        <p:nvSpPr>
          <p:cNvPr id="17" name="Шаг Оффер"/>
          <p:cNvSpPr/>
          <p:nvPr/>
        </p:nvSpPr>
        <p:spPr>
          <a:xfrm>
            <a:off x="640080" y="4846320"/>
            <a:ext cx="2926080" cy="502920"/>
          </a:xfrm>
          <a:prstGeom prst="roundRect">
            <a:avLst>
              <a:gd name="adj" fmla="val 50000"/>
            </a:avLst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Оффер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2377440" y="484632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100</a:t>
            </a:r>
            <a:endParaRPr lang="en-US" sz="1800" dirty="0"/>
          </a:p>
        </p:txBody>
      </p:sp>
      <p:sp>
        <p:nvSpPr>
          <p:cNvPr id="20" name="Шаг Выход"/>
          <p:cNvSpPr/>
          <p:nvPr/>
        </p:nvSpPr>
        <p:spPr>
          <a:xfrm>
            <a:off x="640080" y="548640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5486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Выход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645920" y="548640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95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217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26D5B"/>
                </a:solidFill>
              </a:rPr>
              <a:t>*данные на 31.12.2025</a:t>
            </a:r>
            <a:endParaRPr lang="en-US" sz="1100" dirty="0"/>
          </a:p>
        </p:txBody>
      </p:sp>
      <p:sp>
        <p:nvSpPr>
          <p:cNvPr id="24" name="Выход"/>
          <p:cNvSpPr/>
          <p:nvPr/>
        </p:nvSpPr>
        <p:spPr>
          <a:xfrm>
            <a:off x="6949440" y="1920240"/>
            <a:ext cx="4599432" cy="2834640"/>
          </a:xfrm>
          <a:prstGeom prst="roundRect">
            <a:avLst>
              <a:gd name="adj" fmla="val 12903"/>
            </a:avLst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269480" y="201168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0" b="1" dirty="0">
                <a:solidFill>
                  <a:srgbClr val="FFFFFF"/>
                </a:solidFill>
              </a:rPr>
              <a:t>95</a:t>
            </a:r>
            <a:endParaRPr lang="en-US" sz="12000" dirty="0"/>
          </a:p>
        </p:txBody>
      </p:sp>
      <p:sp>
        <p:nvSpPr>
          <p:cNvPr id="26" name="Text 24"/>
          <p:cNvSpPr txBox="1"/>
          <p:nvPr/>
        </p:nvSpPr>
        <p:spPr>
          <a:xfrm>
            <a:off x="7269480" y="38404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3026"/>
                </a:solidFill>
              </a:rPr>
              <a:t>новых коллег вышли на работу</a:t>
            </a:r>
            <a:endParaRPr lang="en-US" sz="2000" dirty="0"/>
          </a:p>
        </p:txBody>
      </p:sp>
      <p:sp>
        <p:nvSpPr>
          <p:cNvPr id="27" name="Кнопка"/>
          <p:cNvSpPr/>
          <p:nvPr/>
        </p:nvSpPr>
        <p:spPr>
          <a:xfrm>
            <a:off x="10698480" y="2148840"/>
            <a:ext cx="640080" cy="640080"/>
          </a:xfrm>
          <a:prstGeom prst="ellipse">
            <a:avLst/>
          </a:prstGeom>
          <a:solidFill>
            <a:srgbClr val="2B3026"/>
          </a:solidFill>
          <a:ln w="12700">
            <a:solidFill>
              <a:srgbClr val="2B3026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8900000">
            <a:off x="10877702" y="2328062"/>
            <a:ext cx="281635" cy="281635"/>
          </a:xfrm>
          <a:prstGeom prst="rect">
            <a:avLst/>
          </a:prstGeom>
        </p:spPr>
      </p:pic>
      <p:sp>
        <p:nvSpPr>
          <p:cNvPr id="29" name="1 из 60"/>
          <p:cNvSpPr/>
          <p:nvPr/>
        </p:nvSpPr>
        <p:spPr>
          <a:xfrm>
            <a:off x="6949440" y="4937760"/>
            <a:ext cx="4599432" cy="1188720"/>
          </a:xfrm>
          <a:prstGeom prst="roundRect">
            <a:avLst>
              <a:gd name="adj" fmla="val 30769"/>
            </a:avLst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269480" y="493776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8A5B"/>
                </a:solidFill>
              </a:rPr>
              <a:t>≈ 1 из 60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откликов становится коллегой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dirty="0">
                <a:solidFill>
                  <a:schemeClr val="tx1"/>
                </a:solidFill>
              </a:rPr>
              <a:t>Чтобы с первого дня было комфортно</a:t>
            </a:r>
            <a:endParaRPr lang="en-US" sz="3800" dirty="0"/>
          </a:p>
        </p:txBody>
      </p:sp>
      <p:pic>
        <p:nvPicPr>
          <p:cNvPr id="3" name="Фото команды" descr="Команда за рабочим столо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4754880" cy="4160520"/>
          </a:xfrm>
          <a:prstGeom prst="rect">
            <a:avLst/>
          </a:prstGeom>
        </p:spPr>
      </p:pic>
      <p:sp>
        <p:nvSpPr>
          <p:cNvPr id="4" name="Тег EJM · Адаптация и развитие"/>
          <p:cNvSpPr/>
          <p:nvPr/>
        </p:nvSpPr>
        <p:spPr>
          <a:xfrm>
            <a:off x="640080" y="6172200"/>
            <a:ext cx="3236976" cy="310896"/>
          </a:xfrm>
          <a:prstGeom prst="roundRect">
            <a:avLst>
              <a:gd name="adj" fmla="val 50000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6172200"/>
            <a:ext cx="3236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EJM · АДАПТАЦИЯ И РАЗВИТИЕ</a:t>
            </a:r>
            <a:endParaRPr lang="en-US" sz="1000" dirty="0"/>
          </a:p>
        </p:txBody>
      </p:sp>
      <p:sp>
        <p:nvSpPr>
          <p:cNvPr id="6" name="Шаг Welcome-встреча"/>
          <p:cNvSpPr/>
          <p:nvPr/>
        </p:nvSpPr>
        <p:spPr>
          <a:xfrm>
            <a:off x="5715000" y="1828800"/>
            <a:ext cx="278892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D6D8CF"/>
            </a:solidFill>
            <a:prstDash val="solid"/>
          </a:ln>
        </p:spPr>
      </p:sp>
      <p:sp>
        <p:nvSpPr>
          <p:cNvPr id="7" name="Номер 1"/>
          <p:cNvSpPr/>
          <p:nvPr/>
        </p:nvSpPr>
        <p:spPr>
          <a:xfrm>
            <a:off x="5943600" y="2057400"/>
            <a:ext cx="502920" cy="50292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4360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5943600" y="26974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B3026"/>
                </a:solidFill>
              </a:rPr>
              <a:t>Welcome-встреча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943600" y="30175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26D5B"/>
                </a:solidFill>
              </a:rPr>
              <a:t>Знакомимся и рассказываем, как у нас всё устроено</a:t>
            </a:r>
            <a:endParaRPr lang="en-US" sz="1200" dirty="0"/>
          </a:p>
        </p:txBody>
      </p:sp>
      <p:sp>
        <p:nvSpPr>
          <p:cNvPr id="11" name="Шаг Неделя адаптации"/>
          <p:cNvSpPr/>
          <p:nvPr/>
        </p:nvSpPr>
        <p:spPr>
          <a:xfrm>
            <a:off x="8641080" y="1828800"/>
            <a:ext cx="278892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D6D8CF"/>
            </a:solidFill>
            <a:prstDash val="solid"/>
          </a:ln>
        </p:spPr>
      </p:sp>
      <p:sp>
        <p:nvSpPr>
          <p:cNvPr id="12" name="Номер 2"/>
          <p:cNvSpPr/>
          <p:nvPr/>
        </p:nvSpPr>
        <p:spPr>
          <a:xfrm>
            <a:off x="8869680" y="2057400"/>
            <a:ext cx="502920" cy="502920"/>
          </a:xfrm>
          <a:prstGeom prst="ellipse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86968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3026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8869680" y="26974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B3026"/>
                </a:solidFill>
              </a:rPr>
              <a:t>Неделя адаптации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869680" y="30175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26D5B"/>
                </a:solidFill>
              </a:rPr>
              <a:t>Просим короткую анкету: нам важно твоё мнение</a:t>
            </a:r>
            <a:endParaRPr lang="en-US" sz="1200" dirty="0"/>
          </a:p>
        </p:txBody>
      </p:sp>
      <p:sp>
        <p:nvSpPr>
          <p:cNvPr id="16" name="Шаг Обучение"/>
          <p:cNvSpPr/>
          <p:nvPr/>
        </p:nvSpPr>
        <p:spPr>
          <a:xfrm>
            <a:off x="5715000" y="4069080"/>
            <a:ext cx="278892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D6D8CF"/>
            </a:solidFill>
            <a:prstDash val="solid"/>
          </a:ln>
        </p:spPr>
      </p:sp>
      <p:sp>
        <p:nvSpPr>
          <p:cNvPr id="17" name="Номер 3"/>
          <p:cNvSpPr/>
          <p:nvPr/>
        </p:nvSpPr>
        <p:spPr>
          <a:xfrm>
            <a:off x="5943600" y="4297680"/>
            <a:ext cx="502920" cy="50292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43600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4937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B3026"/>
                </a:solidFill>
              </a:rPr>
              <a:t>Обучение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0" y="52578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26D5B"/>
                </a:solidFill>
              </a:rPr>
              <a:t>«Игра по неподачам», «Системный руководитель», «Академия i’way»</a:t>
            </a:r>
            <a:endParaRPr lang="en-US" sz="1200" dirty="0"/>
          </a:p>
        </p:txBody>
      </p:sp>
      <p:sp>
        <p:nvSpPr>
          <p:cNvPr id="21" name="Шаг Переводы"/>
          <p:cNvSpPr/>
          <p:nvPr/>
        </p:nvSpPr>
        <p:spPr>
          <a:xfrm>
            <a:off x="8641080" y="4069080"/>
            <a:ext cx="278892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D6D8CF"/>
            </a:solidFill>
            <a:prstDash val="solid"/>
          </a:ln>
        </p:spPr>
      </p:sp>
      <p:sp>
        <p:nvSpPr>
          <p:cNvPr id="22" name="Номер 4"/>
          <p:cNvSpPr/>
          <p:nvPr/>
        </p:nvSpPr>
        <p:spPr>
          <a:xfrm>
            <a:off x="8869680" y="4297680"/>
            <a:ext cx="502920" cy="502920"/>
          </a:xfrm>
          <a:prstGeom prst="ellipse">
            <a:avLst/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869680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3026"/>
                </a:solidFill>
              </a:rPr>
              <a:t>4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8869680" y="4937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B3026"/>
                </a:solidFill>
              </a:rPr>
              <a:t>Переводы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869680" y="52578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26D5B"/>
                </a:solidFill>
              </a:rPr>
              <a:t>Поддерживаем, если решишь сменить роль или команду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dirty="0">
                <a:solidFill>
                  <a:schemeClr val="tx1"/>
                </a:solidFill>
              </a:rPr>
              <a:t>HR-бренд: как мы о себе рассказываем</a:t>
            </a:r>
            <a:endParaRPr lang="en-US" sz="3800" dirty="0"/>
          </a:p>
        </p:txBody>
      </p:sp>
      <p:sp>
        <p:nvSpPr>
          <p:cNvPr id="3" name="Колонка Снаружи"/>
          <p:cNvSpPr/>
          <p:nvPr/>
        </p:nvSpPr>
        <p:spPr>
          <a:xfrm>
            <a:off x="640080" y="1920240"/>
            <a:ext cx="5303520" cy="4206240"/>
          </a:xfrm>
          <a:prstGeom prst="roundRect">
            <a:avLst>
              <a:gd name="adj" fmla="val 8696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51560" y="21945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07026"/>
                </a:solidFill>
              </a:rPr>
              <a:t>Снаружи</a:t>
            </a:r>
            <a:endParaRPr lang="en-US" sz="4000" dirty="0"/>
          </a:p>
        </p:txBody>
      </p:sp>
      <p:sp>
        <p:nvSpPr>
          <p:cNvPr id="5" name="Линия"/>
          <p:cNvSpPr/>
          <p:nvPr/>
        </p:nvSpPr>
        <p:spPr>
          <a:xfrm>
            <a:off x="1051560" y="3154680"/>
            <a:ext cx="4480560" cy="0"/>
          </a:xfrm>
          <a:prstGeom prst="line">
            <a:avLst/>
          </a:prstGeom>
          <a:noFill/>
          <a:ln w="12700">
            <a:solidFill>
              <a:srgbClr val="A9D9B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3246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3026"/>
                </a:solidFill>
              </a:rPr>
              <a:t>Карьерные сайты: hh.ru и LinkedIn</a:t>
            </a:r>
            <a:endParaRPr lang="en-US" sz="1700" dirty="0"/>
          </a:p>
        </p:txBody>
      </p:sp>
      <p:sp>
        <p:nvSpPr>
          <p:cNvPr id="7" name="Линия"/>
          <p:cNvSpPr/>
          <p:nvPr/>
        </p:nvSpPr>
        <p:spPr>
          <a:xfrm>
            <a:off x="1051560" y="3840480"/>
            <a:ext cx="4480560" cy="0"/>
          </a:xfrm>
          <a:prstGeom prst="line">
            <a:avLst/>
          </a:prstGeom>
          <a:noFill/>
          <a:ln w="12700">
            <a:solidFill>
              <a:srgbClr val="A9D9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39319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3026"/>
                </a:solidFill>
              </a:rPr>
              <a:t>Наружная реклама: метро и экраны</a:t>
            </a:r>
            <a:endParaRPr lang="en-US" sz="1700" dirty="0"/>
          </a:p>
        </p:txBody>
      </p:sp>
      <p:sp>
        <p:nvSpPr>
          <p:cNvPr id="9" name="Линия"/>
          <p:cNvSpPr/>
          <p:nvPr/>
        </p:nvSpPr>
        <p:spPr>
          <a:xfrm>
            <a:off x="1051560" y="4526280"/>
            <a:ext cx="4480560" cy="0"/>
          </a:xfrm>
          <a:prstGeom prst="line">
            <a:avLst/>
          </a:prstGeom>
          <a:noFill/>
          <a:ln w="12700">
            <a:solidFill>
              <a:srgbClr val="A9D9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1560" y="46177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3026"/>
                </a:solidFill>
              </a:rPr>
              <a:t>Работа с университетами</a:t>
            </a:r>
            <a:endParaRPr lang="en-US" sz="1700" dirty="0"/>
          </a:p>
        </p:txBody>
      </p:sp>
      <p:sp>
        <p:nvSpPr>
          <p:cNvPr id="11" name="Линия"/>
          <p:cNvSpPr/>
          <p:nvPr/>
        </p:nvSpPr>
        <p:spPr>
          <a:xfrm>
            <a:off x="1051560" y="5212080"/>
            <a:ext cx="4480560" cy="0"/>
          </a:xfrm>
          <a:prstGeom prst="line">
            <a:avLst/>
          </a:prstGeom>
          <a:noFill/>
          <a:ln w="12700">
            <a:solidFill>
              <a:srgbClr val="A9D9B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" y="53035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3026"/>
                </a:solidFill>
              </a:rPr>
              <a:t>Ответы на отзывы на площадках</a:t>
            </a:r>
            <a:endParaRPr lang="en-US" sz="1700" dirty="0"/>
          </a:p>
        </p:txBody>
      </p:sp>
      <p:sp>
        <p:nvSpPr>
          <p:cNvPr id="13" name="Кнопка"/>
          <p:cNvSpPr/>
          <p:nvPr/>
        </p:nvSpPr>
        <p:spPr>
          <a:xfrm>
            <a:off x="5029200" y="2194560"/>
            <a:ext cx="594360" cy="594360"/>
          </a:xfrm>
          <a:prstGeom prst="ellipse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8900000">
            <a:off x="5195621" y="2360981"/>
            <a:ext cx="261518" cy="261518"/>
          </a:xfrm>
          <a:prstGeom prst="rect">
            <a:avLst/>
          </a:prstGeom>
        </p:spPr>
      </p:pic>
      <p:sp>
        <p:nvSpPr>
          <p:cNvPr id="15" name="Колонка Внутри"/>
          <p:cNvSpPr/>
          <p:nvPr/>
        </p:nvSpPr>
        <p:spPr>
          <a:xfrm>
            <a:off x="6217920" y="1920240"/>
            <a:ext cx="5303520" cy="4206240"/>
          </a:xfrm>
          <a:prstGeom prst="roundRect">
            <a:avLst>
              <a:gd name="adj" fmla="val 8696"/>
            </a:avLst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29400" y="21945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8A5B"/>
                </a:solidFill>
              </a:rPr>
              <a:t>Внутри</a:t>
            </a:r>
            <a:endParaRPr lang="en-US" sz="4000" dirty="0"/>
          </a:p>
        </p:txBody>
      </p:sp>
      <p:sp>
        <p:nvSpPr>
          <p:cNvPr id="17" name="Линия"/>
          <p:cNvSpPr/>
          <p:nvPr/>
        </p:nvSpPr>
        <p:spPr>
          <a:xfrm>
            <a:off x="6629400" y="3154680"/>
            <a:ext cx="4480560" cy="0"/>
          </a:xfrm>
          <a:prstGeom prst="line">
            <a:avLst/>
          </a:prstGeom>
          <a:noFill/>
          <a:ln w="12700">
            <a:solidFill>
              <a:srgbClr val="626D5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629400" y="3246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Миссия и ценности</a:t>
            </a:r>
            <a:endParaRPr lang="en-US" sz="1700" dirty="0"/>
          </a:p>
        </p:txBody>
      </p:sp>
      <p:sp>
        <p:nvSpPr>
          <p:cNvPr id="19" name="Линия"/>
          <p:cNvSpPr/>
          <p:nvPr/>
        </p:nvSpPr>
        <p:spPr>
          <a:xfrm>
            <a:off x="6629400" y="3840480"/>
            <a:ext cx="4480560" cy="0"/>
          </a:xfrm>
          <a:prstGeom prst="line">
            <a:avLst/>
          </a:prstGeom>
          <a:noFill/>
          <a:ln w="12700">
            <a:solidFill>
              <a:srgbClr val="626D5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629400" y="39319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Внутренние коммуникации</a:t>
            </a:r>
            <a:endParaRPr lang="en-US" sz="1700" dirty="0"/>
          </a:p>
        </p:txBody>
      </p:sp>
      <p:sp>
        <p:nvSpPr>
          <p:cNvPr id="21" name="Линия"/>
          <p:cNvSpPr/>
          <p:nvPr/>
        </p:nvSpPr>
        <p:spPr>
          <a:xfrm>
            <a:off x="6629400" y="4526280"/>
            <a:ext cx="4480560" cy="0"/>
          </a:xfrm>
          <a:prstGeom prst="line">
            <a:avLst/>
          </a:prstGeom>
          <a:noFill/>
          <a:ln w="12700">
            <a:solidFill>
              <a:srgbClr val="626D5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29400" y="46177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Мотивация и бенефиты</a:t>
            </a:r>
            <a:endParaRPr lang="en-US" sz="1700" dirty="0"/>
          </a:p>
        </p:txBody>
      </p:sp>
      <p:sp>
        <p:nvSpPr>
          <p:cNvPr id="23" name="Линия"/>
          <p:cNvSpPr/>
          <p:nvPr/>
        </p:nvSpPr>
        <p:spPr>
          <a:xfrm>
            <a:off x="6629400" y="5212080"/>
            <a:ext cx="4480560" cy="0"/>
          </a:xfrm>
          <a:prstGeom prst="line">
            <a:avLst/>
          </a:prstGeom>
          <a:noFill/>
          <a:ln w="12700">
            <a:solidFill>
              <a:srgbClr val="626D5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629400" y="53035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EVP — уникальное ценностное предложение</a:t>
            </a:r>
            <a:endParaRPr lang="en-US" sz="1700" dirty="0"/>
          </a:p>
        </p:txBody>
      </p:sp>
      <p:sp>
        <p:nvSpPr>
          <p:cNvPr id="25" name="Кнопка"/>
          <p:cNvSpPr/>
          <p:nvPr/>
        </p:nvSpPr>
        <p:spPr>
          <a:xfrm>
            <a:off x="10607040" y="2194560"/>
            <a:ext cx="594360" cy="594360"/>
          </a:xfrm>
          <a:prstGeom prst="ellipse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900000">
            <a:off x="10773461" y="2360981"/>
            <a:ext cx="261518" cy="26151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литка"/>
          <p:cNvSpPr/>
          <p:nvPr/>
        </p:nvSpPr>
        <p:spPr>
          <a:xfrm>
            <a:off x="7498080" y="822960"/>
            <a:ext cx="4023360" cy="5212080"/>
          </a:xfrm>
          <a:prstGeom prst="roundRect">
            <a:avLst>
              <a:gd name="adj" fmla="val 11364"/>
            </a:avLst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pic>
        <p:nvPicPr>
          <p:cNvPr id="3" name="Стрелка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8900000">
            <a:off x="8229600" y="2194560"/>
            <a:ext cx="2560320" cy="2560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40080"/>
            <a:ext cx="67665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0" b="1" dirty="0">
                <a:solidFill>
                  <a:srgbClr val="FFFFFF"/>
                </a:solidFill>
              </a:rPr>
              <a:t>02</a:t>
            </a:r>
            <a:endParaRPr lang="en-US" sz="23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416052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dirty="0">
                <a:solidFill>
                  <a:schemeClr val="bg1"/>
                </a:solidFill>
              </a:rPr>
              <a:t>Культура i’way</a:t>
            </a:r>
            <a:endParaRPr lang="en-US" sz="5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212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B3026"/>
                </a:solidFill>
              </a:rPr>
              <a:t>Во что мы верим и как работаем вместе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dirty="0">
                <a:solidFill>
                  <a:schemeClr val="tx1"/>
                </a:solidFill>
              </a:rPr>
              <a:t>i’way — трансферы по всему миру</a:t>
            </a:r>
            <a:endParaRPr lang="en-US" sz="3800" dirty="0"/>
          </a:p>
        </p:txBody>
      </p:sp>
      <p:sp>
        <p:nvSpPr>
          <p:cNvPr id="3" name="Страны"/>
          <p:cNvSpPr/>
          <p:nvPr/>
        </p:nvSpPr>
        <p:spPr>
          <a:xfrm>
            <a:off x="640080" y="1828800"/>
            <a:ext cx="4206240" cy="4389120"/>
          </a:xfrm>
          <a:prstGeom prst="roundRect">
            <a:avLst>
              <a:gd name="adj" fmla="val 8696"/>
            </a:avLst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210312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FFFF"/>
                </a:solidFill>
              </a:rPr>
              <a:t>130+</a:t>
            </a:r>
            <a:endParaRPr lang="en-US" sz="110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42062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стран, где мы возим людей</a:t>
            </a:r>
            <a:endParaRPr lang="en-US" sz="2200" dirty="0"/>
          </a:p>
        </p:txBody>
      </p:sp>
      <p:sp>
        <p:nvSpPr>
          <p:cNvPr id="6" name="Кнопка"/>
          <p:cNvSpPr/>
          <p:nvPr/>
        </p:nvSpPr>
        <p:spPr>
          <a:xfrm>
            <a:off x="3931920" y="5349240"/>
            <a:ext cx="594360" cy="5943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8900000">
            <a:off x="4098341" y="5515661"/>
            <a:ext cx="261518" cy="261518"/>
          </a:xfrm>
          <a:prstGeom prst="rect">
            <a:avLst/>
          </a:prstGeom>
        </p:spPr>
      </p:pic>
      <p:sp>
        <p:nvSpPr>
          <p:cNvPr id="8" name="Поездки"/>
          <p:cNvSpPr/>
          <p:nvPr/>
        </p:nvSpPr>
        <p:spPr>
          <a:xfrm>
            <a:off x="5029200" y="1828800"/>
            <a:ext cx="3291840" cy="2103120"/>
          </a:xfrm>
          <a:prstGeom prst="roundRect">
            <a:avLst>
              <a:gd name="adj" fmla="val 17391"/>
            </a:avLst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349240" y="21031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2 500+</a:t>
            </a:r>
            <a:endParaRPr lang="en-US" sz="4800" dirty="0"/>
          </a:p>
        </p:txBody>
      </p:sp>
      <p:sp>
        <p:nvSpPr>
          <p:cNvPr id="10" name="Text 7"/>
          <p:cNvSpPr txBox="1"/>
          <p:nvPr/>
        </p:nvSpPr>
        <p:spPr>
          <a:xfrm>
            <a:off x="5349240" y="3200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поездок ежедневно</a:t>
            </a:r>
            <a:endParaRPr lang="en-US" sz="1800" dirty="0"/>
          </a:p>
        </p:txBody>
      </p:sp>
      <p:sp>
        <p:nvSpPr>
          <p:cNvPr id="11" name="Аэропорты"/>
          <p:cNvSpPr/>
          <p:nvPr/>
        </p:nvSpPr>
        <p:spPr>
          <a:xfrm>
            <a:off x="5029200" y="4114800"/>
            <a:ext cx="3291840" cy="2103120"/>
          </a:xfrm>
          <a:prstGeom prst="roundRect">
            <a:avLst>
              <a:gd name="adj" fmla="val 17391"/>
            </a:avLst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349240" y="43891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2B3026"/>
                </a:solidFill>
              </a:rPr>
              <a:t>600+</a:t>
            </a:r>
            <a:endParaRPr lang="en-US" sz="4800" dirty="0"/>
          </a:p>
        </p:txBody>
      </p:sp>
      <p:sp>
        <p:nvSpPr>
          <p:cNvPr id="13" name="Text 10"/>
          <p:cNvSpPr txBox="1"/>
          <p:nvPr/>
        </p:nvSpPr>
        <p:spPr>
          <a:xfrm>
            <a:off x="5349240" y="5486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B3026"/>
                </a:solidFill>
              </a:rPr>
              <a:t>аэропортов мира</a:t>
            </a:r>
            <a:endParaRPr lang="en-US" sz="1800" dirty="0"/>
          </a:p>
        </p:txBody>
      </p:sp>
      <p:sp>
        <p:nvSpPr>
          <p:cNvPr id="14" name="Факт с 2009"/>
          <p:cNvSpPr/>
          <p:nvPr/>
        </p:nvSpPr>
        <p:spPr>
          <a:xfrm>
            <a:off x="8503920" y="1828800"/>
            <a:ext cx="3044952" cy="1371600"/>
          </a:xfrm>
          <a:prstGeom prst="roundRect">
            <a:avLst>
              <a:gd name="adj" fmla="val 26667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823960" y="20116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7026"/>
                </a:solidFill>
              </a:rPr>
              <a:t>с 2009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8823960" y="2606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026"/>
                </a:solidFill>
              </a:rPr>
              <a:t>года на рынке</a:t>
            </a:r>
            <a:endParaRPr lang="en-US" sz="1400" dirty="0"/>
          </a:p>
        </p:txBody>
      </p:sp>
      <p:sp>
        <p:nvSpPr>
          <p:cNvPr id="17" name="Факт 4,9 из 5"/>
          <p:cNvSpPr/>
          <p:nvPr/>
        </p:nvSpPr>
        <p:spPr>
          <a:xfrm>
            <a:off x="8503920" y="3337560"/>
            <a:ext cx="30449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5875">
            <a:solidFill>
              <a:srgbClr val="D6D8C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823960" y="35204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7026"/>
                </a:solidFill>
              </a:rPr>
              <a:t>4,9 из 5</a:t>
            </a:r>
            <a:endParaRPr lang="en-US" sz="2800" dirty="0"/>
          </a:p>
        </p:txBody>
      </p:sp>
      <p:sp>
        <p:nvSpPr>
          <p:cNvPr id="19" name="Text 16"/>
          <p:cNvSpPr txBox="1"/>
          <p:nvPr/>
        </p:nvSpPr>
        <p:spPr>
          <a:xfrm>
            <a:off x="8823960" y="41148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026"/>
                </a:solidFill>
              </a:rPr>
              <a:t>оценка поездок</a:t>
            </a:r>
            <a:endParaRPr lang="en-US" sz="1400" dirty="0"/>
          </a:p>
        </p:txBody>
      </p:sp>
      <p:sp>
        <p:nvSpPr>
          <p:cNvPr id="20" name="Факт Офисы"/>
          <p:cNvSpPr/>
          <p:nvPr/>
        </p:nvSpPr>
        <p:spPr>
          <a:xfrm>
            <a:off x="8503920" y="4846320"/>
            <a:ext cx="30449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5875">
            <a:solidFill>
              <a:srgbClr val="D6D8C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823960" y="5029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7026"/>
                </a:solidFill>
              </a:rPr>
              <a:t>Офисы</a:t>
            </a:r>
            <a:endParaRPr lang="en-US" sz="2800" dirty="0"/>
          </a:p>
        </p:txBody>
      </p:sp>
      <p:sp>
        <p:nvSpPr>
          <p:cNvPr id="22" name="Text 19"/>
          <p:cNvSpPr txBox="1"/>
          <p:nvPr/>
        </p:nvSpPr>
        <p:spPr>
          <a:xfrm>
            <a:off x="8823960" y="56235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026"/>
                </a:solidFill>
              </a:rPr>
              <a:t>в Казахстане, ОАЭ, Индии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dirty="0">
                <a:solidFill>
                  <a:schemeClr val="tx1"/>
                </a:solidFill>
              </a:rPr>
              <a:t>Наш день в цифрах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01168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B3026"/>
                </a:solidFill>
              </a:rPr>
              <a:t>Бронирования, выручка и оценки клиентов — всё на одном экране, в реальном времени.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9319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26D5B"/>
                </a:solidFill>
              </a:rPr>
              <a:t>Каждый из нас влияет на эти цифры.</a:t>
            </a:r>
            <a:endParaRPr lang="en-US" sz="1600" dirty="0"/>
          </a:p>
        </p:txBody>
      </p:sp>
      <p:pic>
        <p:nvPicPr>
          <p:cNvPr id="5" name="Дашборд" descr="Панель с онлайн-метрикам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85055" y="1828800"/>
            <a:ext cx="6766560" cy="3822192"/>
          </a:xfrm>
          <a:prstGeom prst="rect">
            <a:avLst/>
          </a:prstGeom>
        </p:spPr>
      </p:pic>
      <p:sp>
        <p:nvSpPr>
          <p:cNvPr id="6" name="Оценка"/>
          <p:cNvSpPr/>
          <p:nvPr/>
        </p:nvSpPr>
        <p:spPr>
          <a:xfrm>
            <a:off x="4236415" y="5212080"/>
            <a:ext cx="2194560" cy="1188720"/>
          </a:xfrm>
          <a:prstGeom prst="roundRect">
            <a:avLst>
              <a:gd name="adj" fmla="val 26923"/>
            </a:avLst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465015" y="5349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3026"/>
                </a:solidFill>
              </a:rPr>
              <a:t>4,9 из 5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4465015" y="58978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026"/>
                </a:solidFill>
              </a:rPr>
              <a:t>оценка поездок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dirty="0">
                <a:solidFill>
                  <a:schemeClr val="tx1"/>
                </a:solidFill>
              </a:rPr>
              <a:t>Как всё начиналось</a:t>
            </a:r>
            <a:endParaRPr lang="en-US" sz="3800" dirty="0"/>
          </a:p>
        </p:txBody>
      </p:sp>
      <p:pic>
        <p:nvPicPr>
          <p:cNvPr id="3" name="Основатели" descr="Основатели i’w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017520" cy="4114800"/>
          </a:xfrm>
          <a:prstGeom prst="rect">
            <a:avLst/>
          </a:prstGeom>
        </p:spPr>
      </p:pic>
      <p:sp>
        <p:nvSpPr>
          <p:cNvPr id="4" name="Год 2009"/>
          <p:cNvSpPr/>
          <p:nvPr/>
        </p:nvSpPr>
        <p:spPr>
          <a:xfrm>
            <a:off x="4069080" y="3337560"/>
            <a:ext cx="1828800" cy="2743200"/>
          </a:xfrm>
          <a:prstGeom prst="roundRect">
            <a:avLst>
              <a:gd name="adj" fmla="val 17500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297680" y="36118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7026"/>
                </a:solidFill>
              </a:rPr>
              <a:t>2009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4297680" y="4343400"/>
            <a:ext cx="1417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026"/>
                </a:solidFill>
              </a:rPr>
              <a:t>ООО «Сибирская трансферная компания»</a:t>
            </a:r>
            <a:endParaRPr lang="en-US" sz="1400" dirty="0"/>
          </a:p>
        </p:txBody>
      </p:sp>
      <p:sp>
        <p:nvSpPr>
          <p:cNvPr id="7" name="Год 2011"/>
          <p:cNvSpPr/>
          <p:nvPr/>
        </p:nvSpPr>
        <p:spPr>
          <a:xfrm>
            <a:off x="6053328" y="2880360"/>
            <a:ext cx="1828800" cy="320040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5875">
            <a:solidFill>
              <a:srgbClr val="D6D8C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81928" y="31546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9634"/>
                </a:solidFill>
              </a:rPr>
              <a:t>2011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6281928" y="3886200"/>
            <a:ext cx="1417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026"/>
                </a:solidFill>
              </a:rPr>
              <a:t>iWay Express: двуязычный сайт с онлайн-бронированием</a:t>
            </a:r>
            <a:endParaRPr lang="en-US" sz="1400" dirty="0"/>
          </a:p>
        </p:txBody>
      </p:sp>
      <p:sp>
        <p:nvSpPr>
          <p:cNvPr id="10" name="Год 2013"/>
          <p:cNvSpPr/>
          <p:nvPr/>
        </p:nvSpPr>
        <p:spPr>
          <a:xfrm>
            <a:off x="8037576" y="2423160"/>
            <a:ext cx="1828800" cy="3657600"/>
          </a:xfrm>
          <a:prstGeom prst="roundRect">
            <a:avLst>
              <a:gd name="adj" fmla="val 17500"/>
            </a:avLst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66176" y="2697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8A5B"/>
                </a:solidFill>
              </a:rPr>
              <a:t>2013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8266176" y="3429000"/>
            <a:ext cx="1417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Родился бренд i’way</a:t>
            </a:r>
            <a:endParaRPr lang="en-US" sz="1400" dirty="0"/>
          </a:p>
        </p:txBody>
      </p:sp>
      <p:sp>
        <p:nvSpPr>
          <p:cNvPr id="13" name="Год 2023"/>
          <p:cNvSpPr/>
          <p:nvPr/>
        </p:nvSpPr>
        <p:spPr>
          <a:xfrm>
            <a:off x="10021824" y="1965960"/>
            <a:ext cx="1828800" cy="4114800"/>
          </a:xfrm>
          <a:prstGeom prst="roundRect">
            <a:avLst>
              <a:gd name="adj" fmla="val 17500"/>
            </a:avLst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250424" y="22402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2023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250424" y="2971800"/>
            <a:ext cx="1417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026"/>
                </a:solidFill>
              </a:rPr>
              <a:t>Открыли офис в Казахстане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dirty="0">
                <a:solidFill>
                  <a:schemeClr val="tx1"/>
                </a:solidFill>
              </a:rPr>
              <a:t>Миссия</a:t>
            </a:r>
            <a:endParaRPr lang="en-US" sz="3800" dirty="0"/>
          </a:p>
        </p:txBody>
      </p:sp>
      <p:sp>
        <p:nvSpPr>
          <p:cNvPr id="3" name="Миссия"/>
          <p:cNvSpPr/>
          <p:nvPr/>
        </p:nvSpPr>
        <p:spPr>
          <a:xfrm>
            <a:off x="640080" y="1783080"/>
            <a:ext cx="10911535" cy="4434840"/>
          </a:xfrm>
          <a:prstGeom prst="roundRect">
            <a:avLst>
              <a:gd name="adj" fmla="val 10309"/>
            </a:avLst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280160" y="2194560"/>
            <a:ext cx="8778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</a:rPr>
              <a:t>i’way меняет представление о транспортном сервисе в России и мире и, ориентируясь на потребности клиентов, выступает законодателем стандартов обслуживания.</a:t>
            </a:r>
            <a:endParaRPr lang="en-US" sz="3400" dirty="0"/>
          </a:p>
        </p:txBody>
      </p:sp>
      <p:pic>
        <p:nvPicPr>
          <p:cNvPr id="5" name="Логотип" descr="i’w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5486400"/>
            <a:ext cx="822960" cy="353187"/>
          </a:xfrm>
          <a:prstGeom prst="rect">
            <a:avLst/>
          </a:prstGeom>
        </p:spPr>
      </p:pic>
      <p:sp>
        <p:nvSpPr>
          <p:cNvPr id="6" name="Круг"/>
          <p:cNvSpPr/>
          <p:nvPr/>
        </p:nvSpPr>
        <p:spPr>
          <a:xfrm>
            <a:off x="9814255" y="4663440"/>
            <a:ext cx="1280160" cy="1280160"/>
          </a:xfrm>
          <a:prstGeom prst="ellipse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7" name="Кнопка"/>
          <p:cNvSpPr/>
          <p:nvPr/>
        </p:nvSpPr>
        <p:spPr>
          <a:xfrm>
            <a:off x="10134295" y="4983480"/>
            <a:ext cx="640080" cy="640080"/>
          </a:xfrm>
          <a:prstGeom prst="ellipse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900000">
            <a:off x="10313518" y="5162702"/>
            <a:ext cx="281635" cy="2816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dirty="0">
                <a:solidFill>
                  <a:schemeClr val="tx1"/>
                </a:solidFill>
              </a:rPr>
              <a:t>Наши ценности</a:t>
            </a:r>
            <a:endParaRPr lang="en-US" sz="3800" dirty="0"/>
          </a:p>
        </p:txBody>
      </p:sp>
      <p:sp>
        <p:nvSpPr>
          <p:cNvPr id="3" name="Тег Бренд-код"/>
          <p:cNvSpPr/>
          <p:nvPr/>
        </p:nvSpPr>
        <p:spPr>
          <a:xfrm>
            <a:off x="640080" y="1737360"/>
            <a:ext cx="1449324" cy="310896"/>
          </a:xfrm>
          <a:prstGeom prst="roundRect">
            <a:avLst>
              <a:gd name="adj" fmla="val 50000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737360"/>
            <a:ext cx="14493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БРЕНД-КОД</a:t>
            </a:r>
            <a:endParaRPr lang="en-US" sz="1000" dirty="0"/>
          </a:p>
        </p:txBody>
      </p:sp>
      <p:sp>
        <p:nvSpPr>
          <p:cNvPr id="5" name="Ценность Открытость"/>
          <p:cNvSpPr/>
          <p:nvPr/>
        </p:nvSpPr>
        <p:spPr>
          <a:xfrm>
            <a:off x="640080" y="2194560"/>
            <a:ext cx="3520440" cy="4023360"/>
          </a:xfrm>
          <a:prstGeom prst="roundRect">
            <a:avLst>
              <a:gd name="adj" fmla="val 9091"/>
            </a:avLst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31089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8A5B"/>
                </a:solidFill>
              </a:rPr>
              <a:t>Открытость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840480"/>
            <a:ext cx="2971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Готовность принимать новое, прислушиваться к просьбам и проблемам клиентов; старание быть нужным.</a:t>
            </a:r>
            <a:endParaRPr lang="en-US" sz="1800" dirty="0"/>
          </a:p>
        </p:txBody>
      </p:sp>
      <p:sp>
        <p:nvSpPr>
          <p:cNvPr id="8" name="Кнопка"/>
          <p:cNvSpPr/>
          <p:nvPr/>
        </p:nvSpPr>
        <p:spPr>
          <a:xfrm>
            <a:off x="3429000" y="23774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8900000">
            <a:off x="3569818" y="2518258"/>
            <a:ext cx="221285" cy="221285"/>
          </a:xfrm>
          <a:prstGeom prst="rect">
            <a:avLst/>
          </a:prstGeom>
        </p:spPr>
      </p:pic>
      <p:sp>
        <p:nvSpPr>
          <p:cNvPr id="10" name="Ценность Честность"/>
          <p:cNvSpPr/>
          <p:nvPr/>
        </p:nvSpPr>
        <p:spPr>
          <a:xfrm>
            <a:off x="4320540" y="2194560"/>
            <a:ext cx="3520440" cy="1920240"/>
          </a:xfrm>
          <a:prstGeom prst="roundRect">
            <a:avLst>
              <a:gd name="adj" fmla="val 16667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94860" y="2423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7026"/>
                </a:solidFill>
              </a:rPr>
              <a:t>Честность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594860" y="292608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026"/>
                </a:solidFill>
              </a:rPr>
              <a:t>Соблюдение делового этикета и корпоративной политики; неприятие обмана и хитростей в корыстных целях.</a:t>
            </a:r>
            <a:endParaRPr lang="en-US" sz="1400" dirty="0"/>
          </a:p>
        </p:txBody>
      </p:sp>
      <p:sp>
        <p:nvSpPr>
          <p:cNvPr id="13" name="Кнопка"/>
          <p:cNvSpPr/>
          <p:nvPr/>
        </p:nvSpPr>
        <p:spPr>
          <a:xfrm>
            <a:off x="7109460" y="2377440"/>
            <a:ext cx="502920" cy="50292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900000">
            <a:off x="7250278" y="2518258"/>
            <a:ext cx="221285" cy="221285"/>
          </a:xfrm>
          <a:prstGeom prst="rect">
            <a:avLst/>
          </a:prstGeom>
        </p:spPr>
      </p:pic>
      <p:sp>
        <p:nvSpPr>
          <p:cNvPr id="15" name="Ценность Лидерство"/>
          <p:cNvSpPr/>
          <p:nvPr/>
        </p:nvSpPr>
        <p:spPr>
          <a:xfrm>
            <a:off x="4320540" y="4297680"/>
            <a:ext cx="3520440" cy="1920240"/>
          </a:xfrm>
          <a:prstGeom prst="roundRect">
            <a:avLst>
              <a:gd name="adj" fmla="val 16667"/>
            </a:avLst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94860" y="45262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3026"/>
                </a:solidFill>
              </a:rPr>
              <a:t>Лидерство</a:t>
            </a:r>
            <a:endParaRPr lang="en-US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4594860" y="50292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026"/>
                </a:solidFill>
              </a:rPr>
              <a:t>Предоставление клиентам лучшего; ввод новых стандартов обслуживания.</a:t>
            </a:r>
            <a:endParaRPr lang="en-US" sz="1400" dirty="0"/>
          </a:p>
        </p:txBody>
      </p:sp>
      <p:sp>
        <p:nvSpPr>
          <p:cNvPr id="18" name="Кнопка"/>
          <p:cNvSpPr/>
          <p:nvPr/>
        </p:nvSpPr>
        <p:spPr>
          <a:xfrm>
            <a:off x="7109460" y="4480560"/>
            <a:ext cx="502920" cy="502920"/>
          </a:xfrm>
          <a:prstGeom prst="ellipse">
            <a:avLst/>
          </a:prstGeom>
          <a:solidFill>
            <a:srgbClr val="2B3026"/>
          </a:solidFill>
          <a:ln w="12700">
            <a:solidFill>
              <a:srgbClr val="2B3026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900000">
            <a:off x="7250278" y="4621378"/>
            <a:ext cx="221285" cy="221285"/>
          </a:xfrm>
          <a:prstGeom prst="rect">
            <a:avLst/>
          </a:prstGeom>
        </p:spPr>
      </p:pic>
      <p:sp>
        <p:nvSpPr>
          <p:cNvPr id="20" name="Ценность Технологичность"/>
          <p:cNvSpPr/>
          <p:nvPr/>
        </p:nvSpPr>
        <p:spPr>
          <a:xfrm>
            <a:off x="8001000" y="2194560"/>
            <a:ext cx="3520440" cy="1920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6D8CF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75320" y="2423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9634"/>
                </a:solidFill>
              </a:rPr>
              <a:t>Технологичность</a:t>
            </a:r>
            <a:endParaRPr lang="en-US" sz="2000" dirty="0"/>
          </a:p>
        </p:txBody>
      </p:sp>
      <p:sp>
        <p:nvSpPr>
          <p:cNvPr id="22" name="Text 17"/>
          <p:cNvSpPr txBox="1"/>
          <p:nvPr/>
        </p:nvSpPr>
        <p:spPr>
          <a:xfrm>
            <a:off x="8275320" y="292608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026"/>
                </a:solidFill>
              </a:rPr>
              <a:t>Внедрение современных решений.</a:t>
            </a:r>
            <a:endParaRPr lang="en-US" sz="1400" dirty="0"/>
          </a:p>
        </p:txBody>
      </p:sp>
      <p:sp>
        <p:nvSpPr>
          <p:cNvPr id="23" name="Кнопка"/>
          <p:cNvSpPr/>
          <p:nvPr/>
        </p:nvSpPr>
        <p:spPr>
          <a:xfrm>
            <a:off x="10789920" y="2377440"/>
            <a:ext cx="502920" cy="502920"/>
          </a:xfrm>
          <a:prstGeom prst="ellipse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900000">
            <a:off x="10930738" y="2518258"/>
            <a:ext cx="221285" cy="221285"/>
          </a:xfrm>
          <a:prstGeom prst="rect">
            <a:avLst/>
          </a:prstGeom>
        </p:spPr>
      </p:pic>
      <p:sp>
        <p:nvSpPr>
          <p:cNvPr id="25" name="Ценность Человечность"/>
          <p:cNvSpPr/>
          <p:nvPr/>
        </p:nvSpPr>
        <p:spPr>
          <a:xfrm>
            <a:off x="8001000" y="4297680"/>
            <a:ext cx="3520440" cy="1920240"/>
          </a:xfrm>
          <a:prstGeom prst="roundRect">
            <a:avLst>
              <a:gd name="adj" fmla="val 16667"/>
            </a:avLst>
          </a:prstGeom>
          <a:solidFill>
            <a:srgbClr val="007026"/>
          </a:solidFill>
          <a:ln w="12700">
            <a:solidFill>
              <a:srgbClr val="007026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75320" y="45262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9EDDA"/>
                </a:solidFill>
              </a:rPr>
              <a:t>Человечность</a:t>
            </a:r>
            <a:endParaRPr lang="en-US" sz="2000" dirty="0"/>
          </a:p>
        </p:txBody>
      </p:sp>
      <p:sp>
        <p:nvSpPr>
          <p:cNvPr id="27" name="Text 21"/>
          <p:cNvSpPr txBox="1"/>
          <p:nvPr/>
        </p:nvSpPr>
        <p:spPr>
          <a:xfrm>
            <a:off x="8275320" y="50292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Уважительное отношение; дружелюбие в общении.</a:t>
            </a:r>
            <a:endParaRPr lang="en-US" sz="1400" dirty="0"/>
          </a:p>
        </p:txBody>
      </p:sp>
      <p:sp>
        <p:nvSpPr>
          <p:cNvPr id="28" name="Кнопка"/>
          <p:cNvSpPr/>
          <p:nvPr/>
        </p:nvSpPr>
        <p:spPr>
          <a:xfrm>
            <a:off x="10789920" y="448056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8900000">
            <a:off x="10930738" y="4621378"/>
            <a:ext cx="221285" cy="22128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dirty="0">
                <a:solidFill>
                  <a:schemeClr val="tx1"/>
                </a:solidFill>
              </a:rPr>
              <a:t>Как у нас принято</a:t>
            </a:r>
            <a:endParaRPr lang="en-US" sz="3800" dirty="0"/>
          </a:p>
        </p:txBody>
      </p:sp>
      <p:sp>
        <p:nvSpPr>
          <p:cNvPr id="3" name="Тег Культура i’way"/>
          <p:cNvSpPr/>
          <p:nvPr/>
        </p:nvSpPr>
        <p:spPr>
          <a:xfrm>
            <a:off x="640080" y="1737360"/>
            <a:ext cx="1975104" cy="310896"/>
          </a:xfrm>
          <a:prstGeom prst="roundRect">
            <a:avLst>
              <a:gd name="adj" fmla="val 50000"/>
            </a:avLst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737360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2B3026"/>
                </a:solidFill>
              </a:rPr>
              <a:t>КУЛЬТУРА I’WAY</a:t>
            </a:r>
            <a:endParaRPr lang="en-US" sz="1000" dirty="0"/>
          </a:p>
        </p:txBody>
      </p:sp>
      <p:sp>
        <p:nvSpPr>
          <p:cNvPr id="5" name="Правило Дресс-код"/>
          <p:cNvSpPr/>
          <p:nvPr/>
        </p:nvSpPr>
        <p:spPr>
          <a:xfrm>
            <a:off x="640080" y="2286000"/>
            <a:ext cx="3520440" cy="1874520"/>
          </a:xfrm>
          <a:prstGeom prst="roundRect">
            <a:avLst>
              <a:gd name="adj" fmla="val 14634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6" name="Image 0" descr="Дресс-ко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560320"/>
            <a:ext cx="411480" cy="411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4400" y="31546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3026"/>
                </a:solidFill>
              </a:rPr>
              <a:t>Дресс-код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56616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026"/>
                </a:solidFill>
              </a:rPr>
              <a:t>Smart Casual: выглядим опрятно и остаёмся собой</a:t>
            </a:r>
            <a:endParaRPr lang="en-US" sz="1400" dirty="0"/>
          </a:p>
        </p:txBody>
      </p:sp>
      <p:sp>
        <p:nvSpPr>
          <p:cNvPr id="9" name="Правило Руководитель рядом"/>
          <p:cNvSpPr/>
          <p:nvPr/>
        </p:nvSpPr>
        <p:spPr>
          <a:xfrm>
            <a:off x="4320540" y="2286000"/>
            <a:ext cx="3520440" cy="1874520"/>
          </a:xfrm>
          <a:prstGeom prst="roundRect">
            <a:avLst>
              <a:gd name="adj" fmla="val 14634"/>
            </a:avLst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0" name="Image 1" descr="Руководитель рядом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56032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94860" y="31546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Руководитель рядом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4594860" y="356616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Первая точка входа для любого вопроса</a:t>
            </a:r>
            <a:endParaRPr lang="en-US" sz="1400" dirty="0"/>
          </a:p>
        </p:txBody>
      </p:sp>
      <p:sp>
        <p:nvSpPr>
          <p:cNvPr id="13" name="Правило Ответственность"/>
          <p:cNvSpPr/>
          <p:nvPr/>
        </p:nvSpPr>
        <p:spPr>
          <a:xfrm>
            <a:off x="8001000" y="2286000"/>
            <a:ext cx="3520440" cy="1874520"/>
          </a:xfrm>
          <a:prstGeom prst="roundRect">
            <a:avLst>
              <a:gd name="adj" fmla="val 14634"/>
            </a:avLst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pic>
        <p:nvPicPr>
          <p:cNvPr id="14" name="Image 2" descr="Ответственность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256032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275320" y="31546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3026"/>
                </a:solidFill>
              </a:rPr>
              <a:t>Ответственность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8275320" y="356616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026"/>
                </a:solidFill>
              </a:rPr>
              <a:t>Отвечаем за результат и держим слово</a:t>
            </a:r>
            <a:endParaRPr lang="en-US" sz="1400" dirty="0"/>
          </a:p>
        </p:txBody>
      </p:sp>
      <p:sp>
        <p:nvSpPr>
          <p:cNvPr id="17" name="Правило Идеи приветствуются"/>
          <p:cNvSpPr/>
          <p:nvPr/>
        </p:nvSpPr>
        <p:spPr>
          <a:xfrm>
            <a:off x="640080" y="4343400"/>
            <a:ext cx="5394960" cy="187452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5875">
            <a:solidFill>
              <a:srgbClr val="D6D8CF"/>
            </a:solidFill>
            <a:prstDash val="solid"/>
          </a:ln>
        </p:spPr>
      </p:sp>
      <p:pic>
        <p:nvPicPr>
          <p:cNvPr id="18" name="Image 3" descr="Идеи приветствуются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617720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14400" y="5212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3026"/>
                </a:solidFill>
              </a:rPr>
              <a:t>Идеи приветствуются</a:t>
            </a:r>
            <a:endParaRPr lang="en-US" sz="1900" dirty="0"/>
          </a:p>
        </p:txBody>
      </p:sp>
      <p:sp>
        <p:nvSpPr>
          <p:cNvPr id="20" name="Text 14"/>
          <p:cNvSpPr txBox="1"/>
          <p:nvPr/>
        </p:nvSpPr>
        <p:spPr>
          <a:xfrm>
            <a:off x="914400" y="56235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026"/>
                </a:solidFill>
              </a:rPr>
              <a:t>Предложил полезное — поможем воплотить</a:t>
            </a:r>
            <a:endParaRPr lang="en-US" sz="1400" dirty="0"/>
          </a:p>
        </p:txBody>
      </p:sp>
      <p:sp>
        <p:nvSpPr>
          <p:cNvPr id="21" name="Правило Неравнодушие"/>
          <p:cNvSpPr/>
          <p:nvPr/>
        </p:nvSpPr>
        <p:spPr>
          <a:xfrm>
            <a:off x="6217920" y="4343400"/>
            <a:ext cx="5303520" cy="1874520"/>
          </a:xfrm>
          <a:prstGeom prst="roundRect">
            <a:avLst>
              <a:gd name="adj" fmla="val 14634"/>
            </a:avLst>
          </a:prstGeom>
          <a:solidFill>
            <a:srgbClr val="007026"/>
          </a:solidFill>
          <a:ln w="12700">
            <a:solidFill>
              <a:srgbClr val="007026"/>
            </a:solidFill>
            <a:prstDash val="solid"/>
          </a:ln>
        </p:spPr>
      </p:sp>
      <p:pic>
        <p:nvPicPr>
          <p:cNvPr id="22" name="Image 4" descr="Неравнодушие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4617720"/>
            <a:ext cx="411480" cy="4114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492240" y="5212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Неравнодушие</a:t>
            </a:r>
            <a:endParaRPr lang="en-US" sz="1900" dirty="0"/>
          </a:p>
        </p:txBody>
      </p:sp>
      <p:sp>
        <p:nvSpPr>
          <p:cNvPr id="24" name="Text 17"/>
          <p:cNvSpPr txBox="1"/>
          <p:nvPr/>
        </p:nvSpPr>
        <p:spPr>
          <a:xfrm>
            <a:off x="6492240" y="56235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Нам не всё равно — к клиентам и друг к другу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dirty="0">
                <a:solidFill>
                  <a:schemeClr val="tx1"/>
                </a:solidFill>
              </a:rPr>
              <a:t>Наш апостроф — особенный</a:t>
            </a:r>
            <a:endParaRPr lang="en-US" sz="3800" dirty="0"/>
          </a:p>
        </p:txBody>
      </p:sp>
      <p:sp>
        <p:nvSpPr>
          <p:cNvPr id="3" name="Плитка логотипа"/>
          <p:cNvSpPr/>
          <p:nvPr/>
        </p:nvSpPr>
        <p:spPr>
          <a:xfrm>
            <a:off x="640080" y="1920240"/>
            <a:ext cx="4846320" cy="420624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5875">
            <a:solidFill>
              <a:srgbClr val="D6D8CF"/>
            </a:solidFill>
            <a:prstDash val="solid"/>
          </a:ln>
        </p:spPr>
      </p:sp>
      <p:pic>
        <p:nvPicPr>
          <p:cNvPr id="4" name="Логотип" descr="i’w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2743200"/>
            <a:ext cx="3566160" cy="1799123"/>
          </a:xfrm>
          <a:prstGeom prst="rect">
            <a:avLst/>
          </a:prstGeom>
        </p:spPr>
      </p:pic>
      <p:sp>
        <p:nvSpPr>
          <p:cNvPr id="5" name="Вариант i’way"/>
          <p:cNvSpPr/>
          <p:nvPr/>
        </p:nvSpPr>
        <p:spPr>
          <a:xfrm>
            <a:off x="5760720" y="1920240"/>
            <a:ext cx="5788152" cy="1097280"/>
          </a:xfrm>
          <a:prstGeom prst="roundRect">
            <a:avLst>
              <a:gd name="adj" fmla="val 29167"/>
            </a:avLst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80760" y="192024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i’way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192024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Правильно — с красивым апострофом</a:t>
            </a:r>
            <a:endParaRPr lang="en-US" sz="1400" dirty="0"/>
          </a:p>
        </p:txBody>
      </p:sp>
      <p:sp>
        <p:nvSpPr>
          <p:cNvPr id="8" name="Верно"/>
          <p:cNvSpPr/>
          <p:nvPr/>
        </p:nvSpPr>
        <p:spPr>
          <a:xfrm>
            <a:off x="10835640" y="21945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1" descr="верн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1088" y="2350008"/>
            <a:ext cx="237744" cy="237744"/>
          </a:xfrm>
          <a:prstGeom prst="rect">
            <a:avLst/>
          </a:prstGeom>
        </p:spPr>
      </p:pic>
      <p:sp>
        <p:nvSpPr>
          <p:cNvPr id="10" name="Вариант i'way"/>
          <p:cNvSpPr/>
          <p:nvPr/>
        </p:nvSpPr>
        <p:spPr>
          <a:xfrm>
            <a:off x="5760720" y="3154680"/>
            <a:ext cx="5788152" cy="1097280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 w="15875">
            <a:solidFill>
              <a:srgbClr val="D6D8C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080760" y="31546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26D5B"/>
                </a:solidFill>
              </a:rPr>
              <a:t>i'way</a:t>
            </a:r>
            <a:endParaRPr lang="en-US" sz="3400" dirty="0"/>
          </a:p>
        </p:txBody>
      </p:sp>
      <p:sp>
        <p:nvSpPr>
          <p:cNvPr id="12" name="Text 8"/>
          <p:cNvSpPr txBox="1"/>
          <p:nvPr/>
        </p:nvSpPr>
        <p:spPr>
          <a:xfrm>
            <a:off x="8412480" y="31546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Не так — прямой апостроф</a:t>
            </a:r>
            <a:endParaRPr lang="en-US" sz="1400" dirty="0"/>
          </a:p>
        </p:txBody>
      </p:sp>
      <p:sp>
        <p:nvSpPr>
          <p:cNvPr id="13" name="Неверно"/>
          <p:cNvSpPr/>
          <p:nvPr/>
        </p:nvSpPr>
        <p:spPr>
          <a:xfrm>
            <a:off x="10835640" y="3429000"/>
            <a:ext cx="548640" cy="548640"/>
          </a:xfrm>
          <a:prstGeom prst="ellipse">
            <a:avLst/>
          </a:prstGeom>
          <a:solidFill>
            <a:srgbClr val="626D5B"/>
          </a:solidFill>
          <a:ln w="12700">
            <a:solidFill>
              <a:srgbClr val="626D5B"/>
            </a:solidFill>
            <a:prstDash val="solid"/>
          </a:ln>
        </p:spPr>
      </p:sp>
      <p:pic>
        <p:nvPicPr>
          <p:cNvPr id="14" name="Image 2" descr="неверно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1088" y="3584448"/>
            <a:ext cx="237744" cy="237744"/>
          </a:xfrm>
          <a:prstGeom prst="rect">
            <a:avLst/>
          </a:prstGeom>
        </p:spPr>
      </p:pic>
      <p:sp>
        <p:nvSpPr>
          <p:cNvPr id="15" name="Вариант i`way"/>
          <p:cNvSpPr/>
          <p:nvPr/>
        </p:nvSpPr>
        <p:spPr>
          <a:xfrm>
            <a:off x="5760720" y="4389120"/>
            <a:ext cx="5788152" cy="1097280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 w="15875">
            <a:solidFill>
              <a:srgbClr val="D6D8C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080760" y="438912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26D5B"/>
                </a:solidFill>
              </a:rPr>
              <a:t>i`way</a:t>
            </a:r>
            <a:endParaRPr lang="en-US" sz="3400" dirty="0"/>
          </a:p>
        </p:txBody>
      </p:sp>
      <p:sp>
        <p:nvSpPr>
          <p:cNvPr id="17" name="Text 12"/>
          <p:cNvSpPr txBox="1"/>
          <p:nvPr/>
        </p:nvSpPr>
        <p:spPr>
          <a:xfrm>
            <a:off x="8412480" y="438912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И не так — обратный апостроф</a:t>
            </a:r>
            <a:endParaRPr lang="en-US" sz="1400" dirty="0"/>
          </a:p>
        </p:txBody>
      </p:sp>
      <p:sp>
        <p:nvSpPr>
          <p:cNvPr id="18" name="Неверно"/>
          <p:cNvSpPr/>
          <p:nvPr/>
        </p:nvSpPr>
        <p:spPr>
          <a:xfrm>
            <a:off x="10835640" y="4663440"/>
            <a:ext cx="548640" cy="548640"/>
          </a:xfrm>
          <a:prstGeom prst="ellipse">
            <a:avLst/>
          </a:prstGeom>
          <a:solidFill>
            <a:srgbClr val="626D5B"/>
          </a:solidFill>
          <a:ln w="12700">
            <a:solidFill>
              <a:srgbClr val="626D5B"/>
            </a:solidFill>
            <a:prstDash val="solid"/>
          </a:ln>
        </p:spPr>
      </p:sp>
      <p:pic>
        <p:nvPicPr>
          <p:cNvPr id="19" name="Image 3" descr="неверно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91088" y="4818888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760720" y="5669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3026"/>
                </a:solidFill>
              </a:rPr>
              <a:t>Как напечатать на Windows:</a:t>
            </a:r>
            <a:endParaRPr lang="en-US" sz="1500" dirty="0"/>
          </a:p>
        </p:txBody>
      </p:sp>
      <p:sp>
        <p:nvSpPr>
          <p:cNvPr id="21" name="Клавиша Alt"/>
          <p:cNvSpPr/>
          <p:nvPr/>
        </p:nvSpPr>
        <p:spPr>
          <a:xfrm>
            <a:off x="8686800" y="5669280"/>
            <a:ext cx="822960" cy="457200"/>
          </a:xfrm>
          <a:prstGeom prst="roundRect">
            <a:avLst>
              <a:gd name="adj" fmla="val 24000"/>
            </a:avLst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686800" y="56692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3026"/>
                </a:solidFill>
              </a:rPr>
              <a:t>Alt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9555480" y="56692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5A1F"/>
                </a:solidFill>
              </a:rPr>
              <a:t>+</a:t>
            </a:r>
            <a:endParaRPr lang="en-US" sz="2200" dirty="0"/>
          </a:p>
        </p:txBody>
      </p:sp>
      <p:sp>
        <p:nvSpPr>
          <p:cNvPr id="24" name="Клавиша 0146"/>
          <p:cNvSpPr/>
          <p:nvPr/>
        </p:nvSpPr>
        <p:spPr>
          <a:xfrm>
            <a:off x="9921240" y="5669280"/>
            <a:ext cx="1188720" cy="457200"/>
          </a:xfrm>
          <a:prstGeom prst="roundRect">
            <a:avLst>
              <a:gd name="adj" fmla="val 24000"/>
            </a:avLst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9921240" y="56692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3026"/>
                </a:solidFill>
              </a:rPr>
              <a:t>0146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литка"/>
          <p:cNvSpPr/>
          <p:nvPr/>
        </p:nvSpPr>
        <p:spPr>
          <a:xfrm>
            <a:off x="7498080" y="822960"/>
            <a:ext cx="4023360" cy="5212080"/>
          </a:xfrm>
          <a:prstGeom prst="roundRect">
            <a:avLst>
              <a:gd name="adj" fmla="val 11364"/>
            </a:avLst>
          </a:prstGeom>
          <a:solidFill>
            <a:srgbClr val="00AD5A"/>
          </a:solidFill>
          <a:ln w="12700">
            <a:solidFill>
              <a:srgbClr val="00AD5A"/>
            </a:solidFill>
            <a:prstDash val="solid"/>
          </a:ln>
        </p:spPr>
      </p:sp>
      <p:pic>
        <p:nvPicPr>
          <p:cNvPr id="3" name="Стрелка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8900000">
            <a:off x="8229600" y="2194560"/>
            <a:ext cx="2560320" cy="2560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40080"/>
            <a:ext cx="67665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0" b="1" dirty="0">
                <a:solidFill>
                  <a:srgbClr val="C9EDDA"/>
                </a:solidFill>
              </a:rPr>
              <a:t>03</a:t>
            </a:r>
            <a:endParaRPr lang="en-US" sz="23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416052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dirty="0">
                <a:solidFill>
                  <a:schemeClr val="bg1"/>
                </a:solidFill>
              </a:rPr>
              <a:t>Команда i’way</a:t>
            </a:r>
            <a:endParaRPr lang="en-US" sz="5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212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Люди, благодаря которым всё работает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dirty="0">
                <a:solidFill>
                  <a:schemeClr val="tx1"/>
                </a:solidFill>
              </a:rPr>
              <a:t>Дирекция i’way</a:t>
            </a:r>
            <a:endParaRPr lang="en-US" sz="3800" dirty="0"/>
          </a:p>
        </p:txBody>
      </p:sp>
      <p:pic>
        <p:nvPicPr>
          <p:cNvPr id="3" name="Дмитрий Салихов" descr="Дмитрий Салихо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2606040" cy="3657600"/>
          </a:xfrm>
          <a:prstGeom prst="rect">
            <a:avLst/>
          </a:prstGeom>
        </p:spPr>
      </p:pic>
      <p:sp>
        <p:nvSpPr>
          <p:cNvPr id="4" name="Подпись Дмитрий Салихов"/>
          <p:cNvSpPr/>
          <p:nvPr/>
        </p:nvSpPr>
        <p:spPr>
          <a:xfrm>
            <a:off x="640080" y="5577840"/>
            <a:ext cx="2606040" cy="868680"/>
          </a:xfrm>
          <a:prstGeom prst="roundRect">
            <a:avLst>
              <a:gd name="adj" fmla="val 26316"/>
            </a:avLst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65099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Дмитрий Салихов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597103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CEO, основатель i’way</a:t>
            </a:r>
            <a:endParaRPr lang="en-US" sz="1100" dirty="0"/>
          </a:p>
        </p:txBody>
      </p:sp>
      <p:pic>
        <p:nvPicPr>
          <p:cNvPr id="7" name="Дмитрий Сарайкин" descr="Дмитрий Сарайки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8578" y="1828800"/>
            <a:ext cx="2606040" cy="3657600"/>
          </a:xfrm>
          <a:prstGeom prst="rect">
            <a:avLst/>
          </a:prstGeom>
        </p:spPr>
      </p:pic>
      <p:sp>
        <p:nvSpPr>
          <p:cNvPr id="8" name="Подпись Дмитрий Сарайкин"/>
          <p:cNvSpPr/>
          <p:nvPr/>
        </p:nvSpPr>
        <p:spPr>
          <a:xfrm>
            <a:off x="3408578" y="5577840"/>
            <a:ext cx="2606040" cy="868680"/>
          </a:xfrm>
          <a:prstGeom prst="roundRect">
            <a:avLst>
              <a:gd name="adj" fmla="val 26316"/>
            </a:avLst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591458" y="565099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B3026"/>
                </a:solidFill>
              </a:rPr>
              <a:t>Дмитрий Сарайкин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3591458" y="597103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026"/>
                </a:solidFill>
              </a:rPr>
              <a:t>Сооснователь i’way</a:t>
            </a:r>
            <a:endParaRPr lang="en-US" sz="1100" dirty="0"/>
          </a:p>
        </p:txBody>
      </p:sp>
      <p:pic>
        <p:nvPicPr>
          <p:cNvPr id="11" name="Александр Шведов" descr="Александр Шведов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7077" y="1828800"/>
            <a:ext cx="2606040" cy="3657600"/>
          </a:xfrm>
          <a:prstGeom prst="rect">
            <a:avLst/>
          </a:prstGeom>
        </p:spPr>
      </p:pic>
      <p:sp>
        <p:nvSpPr>
          <p:cNvPr id="12" name="Подпись Александр Шведов"/>
          <p:cNvSpPr/>
          <p:nvPr/>
        </p:nvSpPr>
        <p:spPr>
          <a:xfrm>
            <a:off x="6177077" y="5577840"/>
            <a:ext cx="2606040" cy="868680"/>
          </a:xfrm>
          <a:prstGeom prst="roundRect">
            <a:avLst>
              <a:gd name="adj" fmla="val 26316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359957" y="565099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B3026"/>
                </a:solidFill>
              </a:rPr>
              <a:t>Александр Шведов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6359957" y="597103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026"/>
                </a:solidFill>
              </a:rPr>
              <a:t>CTO, исполнительный директор</a:t>
            </a:r>
            <a:endParaRPr lang="en-US" sz="1100" dirty="0"/>
          </a:p>
        </p:txBody>
      </p:sp>
      <p:pic>
        <p:nvPicPr>
          <p:cNvPr id="15" name="Джехад Абугсиса" descr="Джехад Абугсис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5575" y="1828800"/>
            <a:ext cx="2606040" cy="3657600"/>
          </a:xfrm>
          <a:prstGeom prst="rect">
            <a:avLst/>
          </a:prstGeom>
        </p:spPr>
      </p:pic>
      <p:sp>
        <p:nvSpPr>
          <p:cNvPr id="16" name="Подпись Джехад Абугсиса"/>
          <p:cNvSpPr/>
          <p:nvPr/>
        </p:nvSpPr>
        <p:spPr>
          <a:xfrm>
            <a:off x="8945575" y="5577840"/>
            <a:ext cx="2606040" cy="868680"/>
          </a:xfrm>
          <a:prstGeom prst="roundRect">
            <a:avLst>
              <a:gd name="adj" fmla="val 26316"/>
            </a:avLst>
          </a:prstGeom>
          <a:solidFill>
            <a:srgbClr val="007026"/>
          </a:solidFill>
          <a:ln w="12700">
            <a:solidFill>
              <a:srgbClr val="00702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9128455" y="565099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Джехад Абугсиса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9128455" y="597103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Директор по международному развитию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dirty="0">
                <a:solidFill>
                  <a:schemeClr val="tx1"/>
                </a:solidFill>
              </a:rPr>
              <a:t>Мы — команда</a:t>
            </a:r>
            <a:endParaRPr lang="en-US" sz="3800" dirty="0"/>
          </a:p>
        </p:txBody>
      </p:sp>
      <p:sp>
        <p:nvSpPr>
          <p:cNvPr id="3" name="Сотрудники"/>
          <p:cNvSpPr/>
          <p:nvPr/>
        </p:nvSpPr>
        <p:spPr>
          <a:xfrm>
            <a:off x="640080" y="1828800"/>
            <a:ext cx="5852160" cy="4389120"/>
          </a:xfrm>
          <a:prstGeom prst="roundRect">
            <a:avLst>
              <a:gd name="adj" fmla="val 9375"/>
            </a:avLst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219456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0" b="1" dirty="0">
                <a:solidFill>
                  <a:srgbClr val="FFFFFF"/>
                </a:solidFill>
              </a:rPr>
              <a:t>160+</a:t>
            </a:r>
            <a:endParaRPr lang="en-US" sz="14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47548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8A5B"/>
                </a:solidFill>
              </a:rPr>
              <a:t>коллег в команде i’way</a:t>
            </a:r>
            <a:endParaRPr lang="en-US" sz="2400" dirty="0"/>
          </a:p>
        </p:txBody>
      </p:sp>
      <p:sp>
        <p:nvSpPr>
          <p:cNvPr id="6" name="Плитка девушек"/>
          <p:cNvSpPr/>
          <p:nvPr/>
        </p:nvSpPr>
        <p:spPr>
          <a:xfrm>
            <a:off x="6675120" y="1828800"/>
            <a:ext cx="4873752" cy="1371600"/>
          </a:xfrm>
          <a:prstGeom prst="roundRect">
            <a:avLst>
              <a:gd name="adj" fmla="val 26667"/>
            </a:avLst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pic>
        <p:nvPicPr>
          <p:cNvPr id="7" name="Image 0" descr="девушек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0" y="228600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772400" y="1965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B3026"/>
                </a:solidFill>
              </a:rPr>
              <a:t>100+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697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B3026"/>
                </a:solidFill>
              </a:rPr>
              <a:t>девушек</a:t>
            </a:r>
            <a:endParaRPr lang="en-US" sz="1600" dirty="0"/>
          </a:p>
        </p:txBody>
      </p:sp>
      <p:sp>
        <p:nvSpPr>
          <p:cNvPr id="10" name="Кнопка"/>
          <p:cNvSpPr/>
          <p:nvPr/>
        </p:nvSpPr>
        <p:spPr>
          <a:xfrm>
            <a:off x="10698480" y="2194560"/>
            <a:ext cx="640080" cy="640080"/>
          </a:xfrm>
          <a:prstGeom prst="ellipse">
            <a:avLst/>
          </a:prstGeom>
          <a:solidFill>
            <a:srgbClr val="2B3026"/>
          </a:solidFill>
          <a:ln w="12700">
            <a:solidFill>
              <a:srgbClr val="2B302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900000">
            <a:off x="10877702" y="2373782"/>
            <a:ext cx="281635" cy="281635"/>
          </a:xfrm>
          <a:prstGeom prst="rect">
            <a:avLst/>
          </a:prstGeom>
        </p:spPr>
      </p:pic>
      <p:sp>
        <p:nvSpPr>
          <p:cNvPr id="12" name="Плитка парней"/>
          <p:cNvSpPr/>
          <p:nvPr/>
        </p:nvSpPr>
        <p:spPr>
          <a:xfrm>
            <a:off x="6675120" y="3337560"/>
            <a:ext cx="4873752" cy="1371600"/>
          </a:xfrm>
          <a:prstGeom prst="roundRect">
            <a:avLst>
              <a:gd name="adj" fmla="val 26667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13" name="Image 2" descr="парней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379476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772400" y="3474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B3026"/>
                </a:solidFill>
              </a:rPr>
              <a:t>50+</a:t>
            </a:r>
            <a:endParaRPr lang="en-US" sz="4400" dirty="0"/>
          </a:p>
        </p:txBody>
      </p:sp>
      <p:sp>
        <p:nvSpPr>
          <p:cNvPr id="15" name="Text 10"/>
          <p:cNvSpPr txBox="1"/>
          <p:nvPr/>
        </p:nvSpPr>
        <p:spPr>
          <a:xfrm>
            <a:off x="777240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B3026"/>
                </a:solidFill>
              </a:rPr>
              <a:t>парней</a:t>
            </a:r>
            <a:endParaRPr lang="en-US" sz="1600" dirty="0"/>
          </a:p>
        </p:txBody>
      </p:sp>
      <p:sp>
        <p:nvSpPr>
          <p:cNvPr id="16" name="Кнопка"/>
          <p:cNvSpPr/>
          <p:nvPr/>
        </p:nvSpPr>
        <p:spPr>
          <a:xfrm>
            <a:off x="10698480" y="3703320"/>
            <a:ext cx="640080" cy="640080"/>
          </a:xfrm>
          <a:prstGeom prst="ellipse">
            <a:avLst/>
          </a:prstGeom>
          <a:solidFill>
            <a:srgbClr val="2B3026"/>
          </a:solidFill>
          <a:ln w="12700">
            <a:solidFill>
              <a:srgbClr val="2B3026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900000">
            <a:off x="10877702" y="3882542"/>
            <a:ext cx="281635" cy="281635"/>
          </a:xfrm>
          <a:prstGeom prst="rect">
            <a:avLst/>
          </a:prstGeom>
        </p:spPr>
      </p:pic>
      <p:sp>
        <p:nvSpPr>
          <p:cNvPr id="18" name="Плитка года — средний возраст"/>
          <p:cNvSpPr/>
          <p:nvPr/>
        </p:nvSpPr>
        <p:spPr>
          <a:xfrm>
            <a:off x="6675120" y="4846320"/>
            <a:ext cx="4873752" cy="1371600"/>
          </a:xfrm>
          <a:prstGeom prst="roundRect">
            <a:avLst>
              <a:gd name="adj" fmla="val 26667"/>
            </a:avLst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pic>
        <p:nvPicPr>
          <p:cNvPr id="19" name="Image 4" descr="года — средний возраст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5160" y="5303520"/>
            <a:ext cx="457200" cy="45720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772400" y="49834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32</a:t>
            </a:r>
            <a:endParaRPr lang="en-US" sz="4400" dirty="0"/>
          </a:p>
        </p:txBody>
      </p:sp>
      <p:sp>
        <p:nvSpPr>
          <p:cNvPr id="21" name="Text 14"/>
          <p:cNvSpPr txBox="1"/>
          <p:nvPr/>
        </p:nvSpPr>
        <p:spPr>
          <a:xfrm>
            <a:off x="7772400" y="5715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года — средний возраст</a:t>
            </a:r>
            <a:endParaRPr lang="en-US" sz="1600" dirty="0"/>
          </a:p>
        </p:txBody>
      </p:sp>
      <p:sp>
        <p:nvSpPr>
          <p:cNvPr id="22" name="Кнопка"/>
          <p:cNvSpPr/>
          <p:nvPr/>
        </p:nvSpPr>
        <p:spPr>
          <a:xfrm>
            <a:off x="10698480" y="521208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8900000">
            <a:off x="10877702" y="5391302"/>
            <a:ext cx="281635" cy="2816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dirty="0">
                <a:solidFill>
                  <a:schemeClr val="tx1"/>
                </a:solidFill>
              </a:rPr>
              <a:t>Где нас можно встретить</a:t>
            </a:r>
            <a:endParaRPr lang="en-US" sz="3800" dirty="0"/>
          </a:p>
        </p:txBody>
      </p:sp>
      <p:sp>
        <p:nvSpPr>
          <p:cNvPr id="3" name="Подпись"/>
          <p:cNvSpPr/>
          <p:nvPr/>
        </p:nvSpPr>
        <p:spPr>
          <a:xfrm>
            <a:off x="640080" y="1920240"/>
            <a:ext cx="2651760" cy="4389120"/>
          </a:xfrm>
          <a:prstGeom prst="roundRect">
            <a:avLst>
              <a:gd name="adj" fmla="val 13793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19456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7026"/>
                </a:solidFill>
              </a:rPr>
              <a:t>Города России и страны, где работает i’way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11480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026"/>
                </a:solidFill>
              </a:rPr>
              <a:t>Мы всё ближе к клиентам и партнёрам по всему миру</a:t>
            </a:r>
            <a:endParaRPr lang="en-US" sz="1400" dirty="0"/>
          </a:p>
        </p:txBody>
      </p:sp>
      <p:pic>
        <p:nvPicPr>
          <p:cNvPr id="6" name="Карта" descr="Карта присутствия i’w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13455" y="1920240"/>
            <a:ext cx="8138160" cy="43891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Мини-квиз · вопрос 1 из 3"/>
          <p:cNvSpPr/>
          <p:nvPr/>
        </p:nvSpPr>
        <p:spPr>
          <a:xfrm>
            <a:off x="640080" y="457200"/>
            <a:ext cx="3131820" cy="310896"/>
          </a:xfrm>
          <a:prstGeom prst="roundRect">
            <a:avLst>
              <a:gd name="adj" fmla="val 50000"/>
            </a:avLst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57200"/>
            <a:ext cx="31318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2B3026"/>
                </a:solidFill>
              </a:rPr>
              <a:t>МИНИ-КВИЗ · ВОПРОС 1 ИЗ 3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91440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tx1"/>
                </a:solidFill>
              </a:rPr>
              <a:t>Какая главная задача отдела HR в i’way?</a:t>
            </a:r>
            <a:endParaRPr lang="en-US" sz="4400" dirty="0"/>
          </a:p>
        </p:txBody>
      </p:sp>
      <p:sp>
        <p:nvSpPr>
          <p:cNvPr id="5" name="Вариант A"/>
          <p:cNvSpPr/>
          <p:nvPr/>
        </p:nvSpPr>
        <p:spPr>
          <a:xfrm>
            <a:off x="640080" y="2926080"/>
            <a:ext cx="5303520" cy="3017520"/>
          </a:xfrm>
          <a:prstGeom prst="roundRect">
            <a:avLst>
              <a:gd name="adj" fmla="val 13636"/>
            </a:avLst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6" name="Буква A"/>
          <p:cNvSpPr/>
          <p:nvPr/>
        </p:nvSpPr>
        <p:spPr>
          <a:xfrm>
            <a:off x="1005840" y="3291840"/>
            <a:ext cx="731520" cy="731520"/>
          </a:xfrm>
          <a:prstGeom prst="ellipse">
            <a:avLst/>
          </a:prstGeom>
          <a:solidFill>
            <a:srgbClr val="2B3026"/>
          </a:solidFill>
          <a:ln w="12700">
            <a:solidFill>
              <a:srgbClr val="2B30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3291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5A1F"/>
                </a:solidFill>
              </a:rPr>
              <a:t>A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420624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B3026"/>
                </a:solidFill>
              </a:rPr>
              <a:t>Укомплектованность штата</a:t>
            </a:r>
            <a:endParaRPr lang="en-US" sz="2200" dirty="0"/>
          </a:p>
        </p:txBody>
      </p:sp>
      <p:sp>
        <p:nvSpPr>
          <p:cNvPr id="9" name="Вариант B"/>
          <p:cNvSpPr/>
          <p:nvPr/>
        </p:nvSpPr>
        <p:spPr>
          <a:xfrm>
            <a:off x="6217920" y="2926080"/>
            <a:ext cx="5303520" cy="3017520"/>
          </a:xfrm>
          <a:prstGeom prst="roundRect">
            <a:avLst>
              <a:gd name="adj" fmla="val 13636"/>
            </a:avLst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0" name="Буква B"/>
          <p:cNvSpPr/>
          <p:nvPr/>
        </p:nvSpPr>
        <p:spPr>
          <a:xfrm>
            <a:off x="6583680" y="329184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3291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84E41"/>
                </a:solidFill>
              </a:rPr>
              <a:t>B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420624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Создать сильную команду для роста компании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Мини-квиз · вопрос 2 из 3"/>
          <p:cNvSpPr/>
          <p:nvPr/>
        </p:nvSpPr>
        <p:spPr>
          <a:xfrm>
            <a:off x="640080" y="457200"/>
            <a:ext cx="3131820" cy="310896"/>
          </a:xfrm>
          <a:prstGeom prst="roundRect">
            <a:avLst>
              <a:gd name="adj" fmla="val 50000"/>
            </a:avLst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57200"/>
            <a:ext cx="31318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2B3026"/>
                </a:solidFill>
              </a:rPr>
              <a:t>МИНИ-КВИЗ · ВОПРОС 2 ИЗ 3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91440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tx1"/>
                </a:solidFill>
              </a:rPr>
              <a:t>Ценность «открытость» — это…</a:t>
            </a:r>
            <a:endParaRPr lang="en-US" sz="4400" dirty="0"/>
          </a:p>
        </p:txBody>
      </p:sp>
      <p:sp>
        <p:nvSpPr>
          <p:cNvPr id="5" name="Вариант A"/>
          <p:cNvSpPr/>
          <p:nvPr/>
        </p:nvSpPr>
        <p:spPr>
          <a:xfrm>
            <a:off x="640080" y="2926080"/>
            <a:ext cx="5303520" cy="3017520"/>
          </a:xfrm>
          <a:prstGeom prst="roundRect">
            <a:avLst>
              <a:gd name="adj" fmla="val 13636"/>
            </a:avLst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6" name="Буква A"/>
          <p:cNvSpPr/>
          <p:nvPr/>
        </p:nvSpPr>
        <p:spPr>
          <a:xfrm>
            <a:off x="1005840" y="329184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3291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84E41"/>
                </a:solidFill>
              </a:rPr>
              <a:t>A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420624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Готовность принимать новое и прислушиваться к потребностям клиентов</a:t>
            </a:r>
            <a:endParaRPr lang="en-US" sz="2200" dirty="0"/>
          </a:p>
        </p:txBody>
      </p:sp>
      <p:sp>
        <p:nvSpPr>
          <p:cNvPr id="9" name="Вариант B"/>
          <p:cNvSpPr/>
          <p:nvPr/>
        </p:nvSpPr>
        <p:spPr>
          <a:xfrm>
            <a:off x="6217920" y="2926080"/>
            <a:ext cx="5303520" cy="3017520"/>
          </a:xfrm>
          <a:prstGeom prst="roundRect">
            <a:avLst>
              <a:gd name="adj" fmla="val 13636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10" name="Буква B"/>
          <p:cNvSpPr/>
          <p:nvPr/>
        </p:nvSpPr>
        <p:spPr>
          <a:xfrm>
            <a:off x="6583680" y="3291840"/>
            <a:ext cx="731520" cy="731520"/>
          </a:xfrm>
          <a:prstGeom prst="ellipse">
            <a:avLst/>
          </a:prstGeom>
          <a:solidFill>
            <a:srgbClr val="007026"/>
          </a:solidFill>
          <a:ln w="12700">
            <a:solidFill>
              <a:srgbClr val="0070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3291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EDDA"/>
                </a:solidFill>
              </a:rPr>
              <a:t>B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420624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B3026"/>
                </a:solidFill>
              </a:rPr>
              <a:t>Принцип «открытых дверей»: с идеей можно прийти к руководителю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Мини-квиз · вопрос 3 из 3"/>
          <p:cNvSpPr/>
          <p:nvPr/>
        </p:nvSpPr>
        <p:spPr>
          <a:xfrm>
            <a:off x="640080" y="457200"/>
            <a:ext cx="3131820" cy="310896"/>
          </a:xfrm>
          <a:prstGeom prst="roundRect">
            <a:avLst>
              <a:gd name="adj" fmla="val 50000"/>
            </a:avLst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57200"/>
            <a:ext cx="31318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2B3026"/>
                </a:solidFill>
              </a:rPr>
              <a:t>МИНИ-КВИЗ · ВОПРОС 3 ИЗ 3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91440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tx1"/>
                </a:solidFill>
              </a:rPr>
              <a:t>Кто в i’way главный?</a:t>
            </a:r>
            <a:endParaRPr lang="en-US" sz="4400" dirty="0"/>
          </a:p>
        </p:txBody>
      </p:sp>
      <p:sp>
        <p:nvSpPr>
          <p:cNvPr id="5" name="Вариант A"/>
          <p:cNvSpPr/>
          <p:nvPr/>
        </p:nvSpPr>
        <p:spPr>
          <a:xfrm>
            <a:off x="640080" y="2926080"/>
            <a:ext cx="5303520" cy="3017520"/>
          </a:xfrm>
          <a:prstGeom prst="roundRect">
            <a:avLst>
              <a:gd name="adj" fmla="val 13636"/>
            </a:avLst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6" name="Буква A"/>
          <p:cNvSpPr/>
          <p:nvPr/>
        </p:nvSpPr>
        <p:spPr>
          <a:xfrm>
            <a:off x="1005840" y="329184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3291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634"/>
                </a:solidFill>
              </a:rPr>
              <a:t>A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420624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Клиент</a:t>
            </a:r>
            <a:endParaRPr lang="en-US" sz="2200" dirty="0"/>
          </a:p>
        </p:txBody>
      </p:sp>
      <p:sp>
        <p:nvSpPr>
          <p:cNvPr id="9" name="Вариант B"/>
          <p:cNvSpPr/>
          <p:nvPr/>
        </p:nvSpPr>
        <p:spPr>
          <a:xfrm>
            <a:off x="6217920" y="2926080"/>
            <a:ext cx="5303520" cy="3017520"/>
          </a:xfrm>
          <a:prstGeom prst="roundRect">
            <a:avLst>
              <a:gd name="adj" fmla="val 13636"/>
            </a:avLst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10" name="Буква B"/>
          <p:cNvSpPr/>
          <p:nvPr/>
        </p:nvSpPr>
        <p:spPr>
          <a:xfrm>
            <a:off x="6583680" y="3291840"/>
            <a:ext cx="731520" cy="731520"/>
          </a:xfrm>
          <a:prstGeom prst="ellipse">
            <a:avLst/>
          </a:prstGeom>
          <a:solidFill>
            <a:srgbClr val="2B3026"/>
          </a:solidFill>
          <a:ln w="12700">
            <a:solidFill>
              <a:srgbClr val="2B30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3291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5A1F"/>
                </a:solidFill>
              </a:rPr>
              <a:t>B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420624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B3026"/>
                </a:solidFill>
              </a:rPr>
              <a:t>CEO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dirty="0">
                <a:solidFill>
                  <a:schemeClr val="tx1"/>
                </a:solidFill>
              </a:rPr>
              <a:t>Проверяем себя</a:t>
            </a:r>
            <a:endParaRPr lang="en-US" sz="3800" dirty="0"/>
          </a:p>
        </p:txBody>
      </p:sp>
      <p:sp>
        <p:nvSpPr>
          <p:cNvPr id="3" name="Ответ 1"/>
          <p:cNvSpPr/>
          <p:nvPr/>
        </p:nvSpPr>
        <p:spPr>
          <a:xfrm>
            <a:off x="640080" y="1920240"/>
            <a:ext cx="10911535" cy="1188720"/>
          </a:xfrm>
          <a:prstGeom prst="roundRect">
            <a:avLst>
              <a:gd name="adj" fmla="val 30769"/>
            </a:avLst>
          </a:prstGeom>
          <a:solidFill>
            <a:srgbClr val="FFFFFF"/>
          </a:solidFill>
          <a:ln w="15875">
            <a:solidFill>
              <a:srgbClr val="D6D8CF"/>
            </a:solidFill>
            <a:prstDash val="solid"/>
          </a:ln>
        </p:spPr>
      </p:sp>
      <p:sp>
        <p:nvSpPr>
          <p:cNvPr id="4" name="Номер 1"/>
          <p:cNvSpPr/>
          <p:nvPr/>
        </p:nvSpPr>
        <p:spPr>
          <a:xfrm>
            <a:off x="914400" y="2148840"/>
            <a:ext cx="731520" cy="731520"/>
          </a:xfrm>
          <a:prstGeom prst="ellipse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B3026"/>
                </a:solidFill>
              </a:rPr>
              <a:t>1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2011680" y="192024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D5B"/>
                </a:solidFill>
              </a:rPr>
              <a:t>Главная задача HR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920240"/>
            <a:ext cx="6217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026"/>
                </a:solidFill>
              </a:rPr>
              <a:t>Создать сильную команду для роста компании</a:t>
            </a:r>
            <a:endParaRPr lang="en-US" sz="2200" dirty="0"/>
          </a:p>
        </p:txBody>
      </p:sp>
      <p:sp>
        <p:nvSpPr>
          <p:cNvPr id="8" name="Ответ 2"/>
          <p:cNvSpPr/>
          <p:nvPr/>
        </p:nvSpPr>
        <p:spPr>
          <a:xfrm>
            <a:off x="640080" y="3291840"/>
            <a:ext cx="10911535" cy="1188720"/>
          </a:xfrm>
          <a:prstGeom prst="roundRect">
            <a:avLst>
              <a:gd name="adj" fmla="val 30769"/>
            </a:avLst>
          </a:prstGeom>
          <a:solidFill>
            <a:srgbClr val="FFFFFF"/>
          </a:solidFill>
          <a:ln w="15875">
            <a:solidFill>
              <a:srgbClr val="D6D8CF"/>
            </a:solidFill>
            <a:prstDash val="solid"/>
          </a:ln>
        </p:spPr>
      </p:sp>
      <p:sp>
        <p:nvSpPr>
          <p:cNvPr id="9" name="Номер 2"/>
          <p:cNvSpPr/>
          <p:nvPr/>
        </p:nvSpPr>
        <p:spPr>
          <a:xfrm>
            <a:off x="914400" y="3520440"/>
            <a:ext cx="731520" cy="73152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520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2011680" y="329184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D5B"/>
                </a:solidFill>
              </a:rPr>
              <a:t>Открытость — это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3291840"/>
            <a:ext cx="6217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026"/>
                </a:solidFill>
              </a:rPr>
              <a:t>Готовность принимать новое и слышать клиентов</a:t>
            </a:r>
            <a:endParaRPr lang="en-US" sz="2200" dirty="0"/>
          </a:p>
        </p:txBody>
      </p:sp>
      <p:sp>
        <p:nvSpPr>
          <p:cNvPr id="13" name="Ответ 3"/>
          <p:cNvSpPr/>
          <p:nvPr/>
        </p:nvSpPr>
        <p:spPr>
          <a:xfrm>
            <a:off x="640080" y="4663440"/>
            <a:ext cx="10911535" cy="1188720"/>
          </a:xfrm>
          <a:prstGeom prst="roundRect">
            <a:avLst>
              <a:gd name="adj" fmla="val 30769"/>
            </a:avLst>
          </a:prstGeom>
          <a:solidFill>
            <a:srgbClr val="FFFFFF"/>
          </a:solidFill>
          <a:ln w="15875">
            <a:solidFill>
              <a:srgbClr val="D6D8CF"/>
            </a:solidFill>
            <a:prstDash val="solid"/>
          </a:ln>
        </p:spPr>
      </p:sp>
      <p:sp>
        <p:nvSpPr>
          <p:cNvPr id="14" name="Номер 3"/>
          <p:cNvSpPr/>
          <p:nvPr/>
        </p:nvSpPr>
        <p:spPr>
          <a:xfrm>
            <a:off x="914400" y="4892040"/>
            <a:ext cx="731520" cy="73152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892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2011680" y="466344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D5B"/>
                </a:solidFill>
              </a:rPr>
              <a:t>Главный в i’way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663440"/>
            <a:ext cx="6217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026"/>
                </a:solidFill>
              </a:rPr>
              <a:t>Клиент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литка"/>
          <p:cNvSpPr/>
          <p:nvPr/>
        </p:nvSpPr>
        <p:spPr>
          <a:xfrm>
            <a:off x="640080" y="640080"/>
            <a:ext cx="6309360" cy="5577840"/>
          </a:xfrm>
          <a:prstGeom prst="roundRect">
            <a:avLst>
              <a:gd name="adj" fmla="val 8197"/>
            </a:avLst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3" name="Логотип" descr="i’w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914400"/>
            <a:ext cx="1188720" cy="510159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097280" y="182880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>
                <a:solidFill>
                  <a:schemeClr val="bg1"/>
                </a:solidFill>
              </a:rPr>
              <a:t>Спасибо!</a:t>
            </a:r>
            <a:endParaRPr lang="en-US" sz="72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310896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Мы всегда на связи: пиши, звони или заходи — поможем и подскажем.</a:t>
            </a:r>
            <a:endParaRPr lang="en-US" sz="2200" dirty="0"/>
          </a:p>
        </p:txBody>
      </p:sp>
      <p:sp>
        <p:nvSpPr>
          <p:cNvPr id="6" name="Почта"/>
          <p:cNvSpPr/>
          <p:nvPr/>
        </p:nvSpPr>
        <p:spPr>
          <a:xfrm>
            <a:off x="1097280" y="4937760"/>
            <a:ext cx="3291840" cy="777240"/>
          </a:xfrm>
          <a:prstGeom prst="roundRect">
            <a:avLst>
              <a:gd name="adj" fmla="val 49412"/>
            </a:avLst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493776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B3026"/>
                </a:solidFill>
              </a:rPr>
              <a:t>hr@iway.ru</a:t>
            </a:r>
            <a:endParaRPr lang="en-US" sz="2600" dirty="0"/>
          </a:p>
        </p:txBody>
      </p:sp>
      <p:pic>
        <p:nvPicPr>
          <p:cNvPr id="8" name="Портрет 1" descr="Сотрудник H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640080"/>
            <a:ext cx="2011680" cy="2126633"/>
          </a:xfrm>
          <a:prstGeom prst="rect">
            <a:avLst/>
          </a:prstGeom>
        </p:spPr>
      </p:pic>
      <p:pic>
        <p:nvPicPr>
          <p:cNvPr id="9" name="Портрет 2" descr="Сотрудник H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103120"/>
            <a:ext cx="2011680" cy="2126633"/>
          </a:xfrm>
          <a:prstGeom prst="rect">
            <a:avLst/>
          </a:prstGeom>
        </p:spPr>
      </p:pic>
      <p:pic>
        <p:nvPicPr>
          <p:cNvPr id="10" name="Портрет 3" descr="Сотрудник H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3566160"/>
            <a:ext cx="2011680" cy="2126633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литка"/>
          <p:cNvSpPr/>
          <p:nvPr/>
        </p:nvSpPr>
        <p:spPr>
          <a:xfrm>
            <a:off x="640080" y="1280160"/>
            <a:ext cx="6583680" cy="4937760"/>
          </a:xfrm>
          <a:prstGeom prst="roundRect">
            <a:avLst>
              <a:gd name="adj" fmla="val 9259"/>
            </a:avLst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88720" y="173736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Поделись обратной связью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448056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Нам важно твоё мнение — наведи камеру на QR-код</a:t>
            </a:r>
            <a:endParaRPr lang="en-US" sz="2000" dirty="0"/>
          </a:p>
        </p:txBody>
      </p:sp>
      <p:sp>
        <p:nvSpPr>
          <p:cNvPr id="5" name="Подложка QR"/>
          <p:cNvSpPr/>
          <p:nvPr/>
        </p:nvSpPr>
        <p:spPr>
          <a:xfrm>
            <a:off x="7589520" y="1280160"/>
            <a:ext cx="3959352" cy="4937760"/>
          </a:xfrm>
          <a:prstGeom prst="roundRect">
            <a:avLst>
              <a:gd name="adj" fmla="val 11547"/>
            </a:avLst>
          </a:prstGeom>
          <a:solidFill>
            <a:srgbClr val="FFFFFF"/>
          </a:solidFill>
          <a:ln w="15875">
            <a:solidFill>
              <a:srgbClr val="D6D8CF"/>
            </a:solidFill>
            <a:prstDash val="solid"/>
          </a:ln>
        </p:spPr>
      </p:sp>
      <p:pic>
        <p:nvPicPr>
          <p:cNvPr id="6" name="QR-код" descr="QR-ко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920240"/>
            <a:ext cx="3593592" cy="3593592"/>
          </a:xfrm>
          <a:prstGeom prst="rect">
            <a:avLst/>
          </a:prstGeom>
        </p:spPr>
      </p:pic>
      <p:sp>
        <p:nvSpPr>
          <p:cNvPr id="8" name="Text 1"/>
          <p:cNvSpPr/>
          <p:nvPr>
            <p:ph idx="102" type="title" hasCustomPrompt="1"/>
          </p:nvPr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литка"/>
          <p:cNvSpPr/>
          <p:nvPr/>
        </p:nvSpPr>
        <p:spPr>
          <a:xfrm>
            <a:off x="640080" y="1280160"/>
            <a:ext cx="6583680" cy="4937760"/>
          </a:xfrm>
          <a:prstGeom prst="roundRect">
            <a:avLst>
              <a:gd name="adj" fmla="val 9259"/>
            </a:avLst>
          </a:prstGeom>
          <a:solidFill>
            <a:srgbClr val="007026"/>
          </a:solidFill>
          <a:ln w="12700">
            <a:solidFill>
              <a:srgbClr val="00702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88720" y="173736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Оставь оценку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448056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Это займёт меньше минуты — спасибо!</a:t>
            </a:r>
            <a:endParaRPr lang="en-US" sz="2000" dirty="0"/>
          </a:p>
        </p:txBody>
      </p:sp>
      <p:sp>
        <p:nvSpPr>
          <p:cNvPr id="5" name="Подложка QR"/>
          <p:cNvSpPr/>
          <p:nvPr/>
        </p:nvSpPr>
        <p:spPr>
          <a:xfrm>
            <a:off x="7589520" y="1280160"/>
            <a:ext cx="3959352" cy="4937760"/>
          </a:xfrm>
          <a:prstGeom prst="roundRect">
            <a:avLst>
              <a:gd name="adj" fmla="val 11547"/>
            </a:avLst>
          </a:prstGeom>
          <a:solidFill>
            <a:srgbClr val="FFFFFF"/>
          </a:solidFill>
          <a:ln w="15875">
            <a:solidFill>
              <a:srgbClr val="D6D8CF"/>
            </a:solidFill>
            <a:prstDash val="solid"/>
          </a:ln>
        </p:spPr>
      </p:sp>
      <p:pic>
        <p:nvPicPr>
          <p:cNvPr id="6" name="QR-код" descr="QR-ко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920240"/>
            <a:ext cx="3593592" cy="3593592"/>
          </a:xfrm>
          <a:prstGeom prst="rect">
            <a:avLst/>
          </a:prstGeom>
        </p:spPr>
      </p:pic>
      <p:sp>
        <p:nvSpPr>
          <p:cNvPr id="8" name="Text 1"/>
          <p:cNvSpPr/>
          <p:nvPr>
            <p:ph idx="102" type="title" hasCustomPrompt="1"/>
          </p:nvPr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way HR">
  <a:themeElements>
    <a:clrScheme name="iway HR">
      <a:dk1>
        <a:srgbClr val="2B3026"/>
      </a:dk1>
      <a:lt1>
        <a:srgbClr val="FFFFFF"/>
      </a:lt1>
      <a:dk2>
        <a:srgbClr val="484E41"/>
      </a:dk2>
      <a:lt2>
        <a:srgbClr val="F4F4F0"/>
      </a:lt2>
      <a:accent1>
        <a:srgbClr val="009634"/>
      </a:accent1>
      <a:accent2>
        <a:srgbClr val="FF5A1F"/>
      </a:accent2>
      <a:accent3>
        <a:srgbClr val="484E41"/>
      </a:accent3>
      <a:accent4>
        <a:srgbClr val="C9EDDA"/>
      </a:accent4>
      <a:accent5>
        <a:srgbClr val="007026"/>
      </a:accent5>
      <a:accent6>
        <a:srgbClr val="FF8A5B"/>
      </a:accent6>
      <a:hlink>
        <a:srgbClr val="007026"/>
      </a:hlink>
      <a:folHlink>
        <a:srgbClr val="626D5B"/>
      </a:folHlink>
    </a:clrScheme>
    <a:fontScheme name="iway HR">
      <a:majorFont>
        <a:latin typeface="Fedra Sans Pro (Основной текст)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Fedra Sans Pro (Основной текст)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i’way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Отдел HR i’way — знакомство для новых сотрудников</dc:title>
  <dc:subject>PptxGenJS Presentation</dc:subject>
  <dc:creator>HR i’way</dc:creator>
  <cp:lastModifiedBy>HR i’way</cp:lastModifiedBy>
  <cp:revision>1</cp:revision>
  <dcterms:created xsi:type="dcterms:W3CDTF">2026-10-07T13:47:51Z</dcterms:created>
  <dcterms:modified xsi:type="dcterms:W3CDTF">2026-10-07T13:47:51Z</dcterms:modified>
</cp:coreProperties>
</file>