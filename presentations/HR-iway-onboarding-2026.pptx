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Fedra Sans Pro (Основной текст)"/>
      <p:regular r:id="rIdF0"/>
      <p:bold r:id="rIdF1"/>
      <p:italic r:id="rIdF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F0" Type="http://schemas.openxmlformats.org/officeDocument/2006/relationships/font" Target="fonts/font1.fntdata"/><Relationship Id="rIdF1" Type="http://schemas.openxmlformats.org/officeDocument/2006/relationships/font" Target="fonts/font2.fntdata"/><Relationship Id="rIdF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Приветствие. За 30 минут познакомимся с отделом HR, культурой i’way и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блока: HR, культура, команда. В конце — квиз из трёх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главной задачи —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 каждого: роль и зоны ответственности.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этапов пути сотрудника. Дальше — подробнее про найм, адаптацию и HR-бренд.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Длина столбцов пропорциональна числам. Данные на 31.12.2025.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Рассказать про welcome-встречу и анкеты. Названия программ оставляем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Снаружи — как нас видят кандидаты, внутри — как мы живём.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130+ стран, 2 500+ поездок и 600+ аэропортов — из внутренней презентации. Оценка 4,9, офисы в Казахстане, ОАЭ и Индии — по данным Felo-поиска (App Store, блог i’way, Forbes.kz); проверьте актуальность.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внутреннего дашборда. Перед показом широкой аудитории проверьте конфиденциальность цифр.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Даты 2009–2013 — из внутренней презентации; офис в Казахстане (начало 2023, Алматы) — Forbes.kz, по данным Felo-поиска.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Миссия — формулировка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Ценности — формулировки из бренд-кода,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принципов корпоративной культуры из внутренней презентации, переформулированы дружелюбнее.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Пишем i’way с типографским апострофом (Alt+0146).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Ольги Чикан (операционный директор) был скрыт в исходной презентации, поэтому здесь её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внутренней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Города России и страны присутствия — по карте.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B. Создать сильную команду для роста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Готовность принимать новое и прислушиваться к потребностям клиентов.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Клиент.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ошиблись — не страшно: всё это ещё не раз пригодится.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Адрес hr@iway.ru — взят из репозитория HR-портала; проверьте перед показом.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 (слайд назывался «Оценка»). Проверьте, куда он ведёт.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2935" y="566928"/>
            <a:ext cx="777240" cy="392117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56692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">
    <p:bg>
      <p:bgPr>
        <a:solidFill>
          <a:srgbClr val="484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Финал">
    <p:bg>
      <p:bgPr>
        <a:solidFill>
          <a:srgbClr val="484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58521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554480" cy="784233"/>
          </a:xfrm>
          <a:prstGeom prst="rect">
            <a:avLst/>
          </a:prstGeom>
        </p:spPr>
      </p:pic>
      <p:sp>
        <p:nvSpPr>
          <p:cNvPr id="3" name="Тег Знакомство с отделом HR"/>
          <p:cNvSpPr/>
          <p:nvPr/>
        </p:nvSpPr>
        <p:spPr>
          <a:xfrm>
            <a:off x="731520" y="1508760"/>
            <a:ext cx="316839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591056"/>
            <a:ext cx="164592" cy="16459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97280" y="1508760"/>
            <a:ext cx="27111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ЗНАКОМСТВО С ОТДЕЛОМ HR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01168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Привет!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Мы — HR i’way</a:t>
            </a:r>
            <a:endParaRPr lang="en-US" sz="54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42519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A6055"/>
                </a:solidFill>
              </a:rPr>
              <a:t>Чем занимаемся, как живёт компания и почему здесь классно работать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5577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Юлия Немчинова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Руководитель HR-отдела</a:t>
            </a:r>
            <a:endParaRPr lang="en-US" sz="1600" dirty="0"/>
          </a:p>
        </p:txBody>
      </p:sp>
      <p:pic>
        <p:nvPicPr>
          <p:cNvPr id="9" name="Фото" descr="Девушка на фоне город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640080"/>
            <a:ext cx="484632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План встречи"/>
          <p:cNvSpPr/>
          <p:nvPr/>
        </p:nvSpPr>
        <p:spPr>
          <a:xfrm>
            <a:off x="731520" y="685800"/>
            <a:ext cx="2011680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ПЛАН ВСТРЕЧИ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нас ждёт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Расскажем о трёх вещах — и закончим мини-квизом, чтобы проверить, что запомнилось.</a:t>
            </a:r>
            <a:endParaRPr lang="en-US" sz="1600" dirty="0"/>
          </a:p>
        </p:txBody>
      </p:sp>
      <p:sp>
        <p:nvSpPr>
          <p:cNvPr id="7" name="Блок Отдел HR"/>
          <p:cNvSpPr/>
          <p:nvPr/>
        </p:nvSpPr>
        <p:spPr>
          <a:xfrm>
            <a:off x="731520" y="29260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1051560" y="3246120"/>
            <a:ext cx="640080" cy="64008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382" y="3418942"/>
            <a:ext cx="294437" cy="29443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063240" y="32461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BFB1"/>
                </a:solidFill>
              </a:rPr>
              <a:t>01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41148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Отдел HR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6177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Кто мы и как заботимся о тебе на каждом этапе пути</a:t>
            </a:r>
            <a:endParaRPr lang="en-US" sz="1500" dirty="0"/>
          </a:p>
        </p:txBody>
      </p:sp>
      <p:sp>
        <p:nvSpPr>
          <p:cNvPr id="13" name="Блок Культура i’way"/>
          <p:cNvSpPr/>
          <p:nvPr/>
        </p:nvSpPr>
        <p:spPr>
          <a:xfrm>
            <a:off x="4381348" y="29260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Иконка"/>
          <p:cNvSpPr/>
          <p:nvPr/>
        </p:nvSpPr>
        <p:spPr>
          <a:xfrm>
            <a:off x="4701388" y="3246120"/>
            <a:ext cx="640080" cy="64008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4209" y="3418942"/>
            <a:ext cx="294437" cy="29443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13068" y="32461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BFB1"/>
                </a:solidFill>
              </a:rPr>
              <a:t>02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701388" y="41148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Культура i’way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4701388" y="46177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Миссия, ценности и наши правила игры</a:t>
            </a:r>
            <a:endParaRPr lang="en-US" sz="1500" dirty="0"/>
          </a:p>
        </p:txBody>
      </p:sp>
      <p:sp>
        <p:nvSpPr>
          <p:cNvPr id="19" name="Блок Команда i’way"/>
          <p:cNvSpPr/>
          <p:nvPr/>
        </p:nvSpPr>
        <p:spPr>
          <a:xfrm>
            <a:off x="8031175" y="29260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0" name="Иконка"/>
          <p:cNvSpPr/>
          <p:nvPr/>
        </p:nvSpPr>
        <p:spPr>
          <a:xfrm>
            <a:off x="8351215" y="3246120"/>
            <a:ext cx="640080" cy="64008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037" y="3418942"/>
            <a:ext cx="294437" cy="29443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362895" y="32461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BFB1"/>
                </a:solidFill>
              </a:rPr>
              <a:t>03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8351215" y="41148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Команда i’way</a:t>
            </a:r>
            <a:endParaRPr lang="en-US" sz="2200" dirty="0"/>
          </a:p>
        </p:txBody>
      </p:sp>
      <p:sp>
        <p:nvSpPr>
          <p:cNvPr id="24" name="Text 18"/>
          <p:cNvSpPr txBox="1"/>
          <p:nvPr/>
        </p:nvSpPr>
        <p:spPr>
          <a:xfrm>
            <a:off x="8351215" y="46177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Руководство, коллеги и цифры, которыми мы гордимся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b="1" dirty="0">
                <a:solidFill>
                  <a:srgbClr val="C9EDDA"/>
                </a:solidFill>
              </a:rPr>
              <a:t>01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Отдел HR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EDDA"/>
                </a:solidFill>
              </a:rPr>
              <a:t>Кто мы и чем занимаемся</a:t>
            </a:r>
            <a:endParaRPr lang="en-US" sz="2200" dirty="0"/>
          </a:p>
        </p:txBody>
      </p:sp>
      <p:sp>
        <p:nvSpPr>
          <p:cNvPr id="5" name="Круг"/>
          <p:cNvSpPr/>
          <p:nvPr/>
        </p:nvSpPr>
        <p:spPr>
          <a:xfrm>
            <a:off x="7863840" y="1554480"/>
            <a:ext cx="3291840" cy="3291840"/>
          </a:xfrm>
          <a:prstGeom prst="ellipse">
            <a:avLst/>
          </a:prstGeom>
          <a:solidFill>
            <a:srgbClr val="484E41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606040"/>
            <a:ext cx="1188720" cy="1188720"/>
          </a:xfrm>
          <a:prstGeom prst="rect">
            <a:avLst/>
          </a:prstGeom>
        </p:spPr>
      </p:pic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40080"/>
            <a:ext cx="1097280" cy="4709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тдел HR"/>
          <p:cNvSpPr/>
          <p:nvPr/>
        </p:nvSpPr>
        <p:spPr>
          <a:xfrm>
            <a:off x="731520" y="685800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ОТДЕЛ HR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Главная задача отдела HR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86000"/>
            <a:ext cx="69494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484E41"/>
                </a:solidFill>
              </a:rPr>
              <a:t>Создать такую экосистему внутри компании, где таланты могут </a:t>
            </a:r>
            <a:pPr indent="0" marL="0">
              <a:buNone/>
            </a:pPr>
            <a:r>
              <a:rPr lang="en-US" sz="3000" b="1" dirty="0">
                <a:solidFill>
                  <a:srgbClr val="009634"/>
                </a:solidFill>
              </a:rPr>
              <a:t>раскрываться</a:t>
            </a:r>
            <a:pPr indent="0" marL="0">
              <a:buNone/>
            </a:pPr>
            <a:r>
              <a:rPr lang="en-US" sz="3000" dirty="0">
                <a:solidFill>
                  <a:srgbClr val="484E41"/>
                </a:solidFill>
              </a:rPr>
              <a:t>, а бизнес — </a:t>
            </a:r>
            <a:pPr indent="0" marL="0">
              <a:buNone/>
            </a:pPr>
            <a:r>
              <a:rPr lang="en-US" sz="3000" b="1" dirty="0">
                <a:solidFill>
                  <a:srgbClr val="009634"/>
                </a:solidFill>
              </a:rPr>
              <a:t>расти</a:t>
            </a:r>
            <a:pPr indent="0" marL="0">
              <a:buNone/>
            </a:pPr>
            <a:r>
              <a:rPr lang="en-US" sz="3000" dirty="0">
                <a:solidFill>
                  <a:srgbClr val="484E41"/>
                </a:solidFill>
              </a:rPr>
              <a:t> благодаря слаженной и эффективной работе всей команды.</a:t>
            </a:r>
            <a:endParaRPr lang="en-US" sz="3000" dirty="0"/>
          </a:p>
        </p:txBody>
      </p:sp>
      <p:sp>
        <p:nvSpPr>
          <p:cNvPr id="7" name="Карточка Таланты раскрываются"/>
          <p:cNvSpPr/>
          <p:nvPr/>
        </p:nvSpPr>
        <p:spPr>
          <a:xfrm>
            <a:off x="8183880" y="2286000"/>
            <a:ext cx="3273552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8458200" y="256032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333" y="2708453"/>
            <a:ext cx="252374" cy="25237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18972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Таланты раскрываются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458200" y="3246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Помогаем каждому найти своё место и расти</a:t>
            </a:r>
            <a:endParaRPr lang="en-US" sz="1400" dirty="0"/>
          </a:p>
        </p:txBody>
      </p:sp>
      <p:sp>
        <p:nvSpPr>
          <p:cNvPr id="12" name="Карточка Бизнес растёт"/>
          <p:cNvSpPr/>
          <p:nvPr/>
        </p:nvSpPr>
        <p:spPr>
          <a:xfrm>
            <a:off x="8183880" y="4206240"/>
            <a:ext cx="3273552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3" name="Иконка"/>
          <p:cNvSpPr/>
          <p:nvPr/>
        </p:nvSpPr>
        <p:spPr>
          <a:xfrm>
            <a:off x="8458200" y="448056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333" y="4628693"/>
            <a:ext cx="252374" cy="25237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189720" y="4480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Бизнес растёт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5166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Сильная команда — сильная компания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тдел HR"/>
          <p:cNvSpPr/>
          <p:nvPr/>
        </p:nvSpPr>
        <p:spPr>
          <a:xfrm>
            <a:off x="731520" y="685800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ОТДЕЛ HR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Знакомьтесь: команда HR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Мы всегда рядом: пишите и заходите в любое время — будем рады поговорить.</a:t>
            </a:r>
            <a:endParaRPr lang="en-US" sz="1600" dirty="0"/>
          </a:p>
        </p:txBody>
      </p:sp>
      <p:sp>
        <p:nvSpPr>
          <p:cNvPr id="7" name="Карточка Юлия Немчинова"/>
          <p:cNvSpPr/>
          <p:nvPr/>
        </p:nvSpPr>
        <p:spPr>
          <a:xfrm>
            <a:off x="731520" y="27432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8" name="Юлия Немчинова" descr="Юлия Немчинов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26080"/>
            <a:ext cx="3063240" cy="1828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05840" y="5029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Юлия Немчинова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54406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Руководитель отдела HR</a:t>
            </a:r>
            <a:endParaRPr lang="en-US" sz="1500" dirty="0"/>
          </a:p>
        </p:txBody>
      </p:sp>
      <p:sp>
        <p:nvSpPr>
          <p:cNvPr id="11" name="Карточка Анна Шулятицкая"/>
          <p:cNvSpPr/>
          <p:nvPr/>
        </p:nvSpPr>
        <p:spPr>
          <a:xfrm>
            <a:off x="4381348" y="27432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2" name="Анна Шулятицкая" descr="Анна Шулятицкая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228" y="2926080"/>
            <a:ext cx="3063240" cy="1828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55668" y="5029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Анна Шулятицкая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4655668" y="54406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Ведущий HR-специалист</a:t>
            </a:r>
            <a:endParaRPr lang="en-US" sz="1500" dirty="0"/>
          </a:p>
        </p:txBody>
      </p:sp>
      <p:sp>
        <p:nvSpPr>
          <p:cNvPr id="15" name="Карточка Елена Таратынова"/>
          <p:cNvSpPr/>
          <p:nvPr/>
        </p:nvSpPr>
        <p:spPr>
          <a:xfrm>
            <a:off x="8031175" y="27432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6" name="Елена Таратынова" descr="Елена Таратынов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055" y="2926080"/>
            <a:ext cx="3063240" cy="18288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05495" y="5029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Елена Таратынова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05495" y="54406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Офис-менеджер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mployee Journey Map"/>
          <p:cNvSpPr/>
          <p:nvPr/>
        </p:nvSpPr>
        <p:spPr>
          <a:xfrm>
            <a:off x="731520" y="685800"/>
            <a:ext cx="285292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EMPLOYEE JOURNEY MAP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Мы рядом на всём твоём пути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Карта пути сотрудника: на каждом этапе у нас есть, чем помочь.</a:t>
            </a:r>
            <a:endParaRPr lang="en-US" sz="1600" dirty="0"/>
          </a:p>
        </p:txBody>
      </p:sp>
      <p:sp>
        <p:nvSpPr>
          <p:cNvPr id="7" name="Этап Найм"/>
          <p:cNvSpPr/>
          <p:nvPr/>
        </p:nvSpPr>
        <p:spPr>
          <a:xfrm>
            <a:off x="731520" y="274320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1005840" y="3017520"/>
            <a:ext cx="566928" cy="56692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911" y="3170591"/>
            <a:ext cx="260787" cy="2607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017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Найм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005840" y="37490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Знакомимся и зовём в команду</a:t>
            </a:r>
            <a:endParaRPr lang="en-US" sz="1400" dirty="0"/>
          </a:p>
        </p:txBody>
      </p:sp>
      <p:sp>
        <p:nvSpPr>
          <p:cNvPr id="12" name="Этап Адаптация"/>
          <p:cNvSpPr/>
          <p:nvPr/>
        </p:nvSpPr>
        <p:spPr>
          <a:xfrm>
            <a:off x="4381348" y="274320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3" name="Иконка"/>
          <p:cNvSpPr/>
          <p:nvPr/>
        </p:nvSpPr>
        <p:spPr>
          <a:xfrm>
            <a:off x="4655668" y="3017520"/>
            <a:ext cx="566928" cy="56692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738" y="3170591"/>
            <a:ext cx="260787" cy="26078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32908" y="3017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Адаптация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55668" y="37490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Помогаем влиться и освоиться</a:t>
            </a:r>
            <a:endParaRPr lang="en-US" sz="1400" dirty="0"/>
          </a:p>
        </p:txBody>
      </p:sp>
      <p:sp>
        <p:nvSpPr>
          <p:cNvPr id="17" name="Этап Вовлечённость"/>
          <p:cNvSpPr/>
          <p:nvPr/>
        </p:nvSpPr>
        <p:spPr>
          <a:xfrm>
            <a:off x="8031175" y="274320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Иконка"/>
          <p:cNvSpPr/>
          <p:nvPr/>
        </p:nvSpPr>
        <p:spPr>
          <a:xfrm>
            <a:off x="8305495" y="3017520"/>
            <a:ext cx="566928" cy="56692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566" y="3170591"/>
            <a:ext cx="260787" cy="26078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82735" y="3017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Вовлечённость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05495" y="37490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Чтобы было интересно и тепло</a:t>
            </a:r>
            <a:endParaRPr lang="en-US" sz="1400" dirty="0"/>
          </a:p>
        </p:txBody>
      </p:sp>
      <p:sp>
        <p:nvSpPr>
          <p:cNvPr id="22" name="Этап Обучение"/>
          <p:cNvSpPr/>
          <p:nvPr/>
        </p:nvSpPr>
        <p:spPr>
          <a:xfrm>
            <a:off x="731520" y="457200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3" name="Иконка"/>
          <p:cNvSpPr/>
          <p:nvPr/>
        </p:nvSpPr>
        <p:spPr>
          <a:xfrm>
            <a:off x="1005840" y="4846320"/>
            <a:ext cx="566928" cy="56692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8911" y="4999391"/>
            <a:ext cx="260787" cy="260787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783080" y="48463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Обучение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1005840" y="5577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Делимся знаниями и навыками</a:t>
            </a:r>
            <a:endParaRPr lang="en-US" sz="1400" dirty="0"/>
          </a:p>
        </p:txBody>
      </p:sp>
      <p:sp>
        <p:nvSpPr>
          <p:cNvPr id="27" name="Этап Рост и развитие"/>
          <p:cNvSpPr/>
          <p:nvPr/>
        </p:nvSpPr>
        <p:spPr>
          <a:xfrm>
            <a:off x="4381348" y="457200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8" name="Иконка"/>
          <p:cNvSpPr/>
          <p:nvPr/>
        </p:nvSpPr>
        <p:spPr>
          <a:xfrm>
            <a:off x="4655668" y="4846320"/>
            <a:ext cx="566928" cy="56692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8738" y="4999391"/>
            <a:ext cx="260787" cy="260787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432908" y="48463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Рост и развитие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4655668" y="5577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Двигаемся вперёд вместе</a:t>
            </a:r>
            <a:endParaRPr lang="en-US" sz="1400" dirty="0"/>
          </a:p>
        </p:txBody>
      </p:sp>
      <p:sp>
        <p:nvSpPr>
          <p:cNvPr id="32" name="Этап HR-бренд"/>
          <p:cNvSpPr/>
          <p:nvPr/>
        </p:nvSpPr>
        <p:spPr>
          <a:xfrm>
            <a:off x="8031175" y="457200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33" name="Иконка"/>
          <p:cNvSpPr/>
          <p:nvPr/>
        </p:nvSpPr>
        <p:spPr>
          <a:xfrm>
            <a:off x="8305495" y="4846320"/>
            <a:ext cx="566928" cy="56692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566" y="4999391"/>
            <a:ext cx="260787" cy="260787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082735" y="48463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HR-бренд</a:t>
            </a:r>
            <a:endParaRPr lang="en-US" sz="1800" dirty="0"/>
          </a:p>
        </p:txBody>
      </p:sp>
      <p:sp>
        <p:nvSpPr>
          <p:cNvPr id="36" name="Text 27"/>
          <p:cNvSpPr txBox="1"/>
          <p:nvPr/>
        </p:nvSpPr>
        <p:spPr>
          <a:xfrm>
            <a:off x="8305495" y="5577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Рассказываем, какие мы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JM · Найм"/>
          <p:cNvSpPr/>
          <p:nvPr/>
        </p:nvSpPr>
        <p:spPr>
          <a:xfrm>
            <a:off x="731520" y="685800"/>
            <a:ext cx="180136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34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НАЙМ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Найм: как мы собираем команду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От отклика до первого рабочего дня — так выглядела наша воронка.</a:t>
            </a:r>
            <a:endParaRPr lang="en-US" sz="1600" dirty="0"/>
          </a:p>
        </p:txBody>
      </p:sp>
      <p:sp>
        <p:nvSpPr>
          <p:cNvPr id="7" name="Линия"/>
          <p:cNvSpPr/>
          <p:nvPr/>
        </p:nvSpPr>
        <p:spPr>
          <a:xfrm>
            <a:off x="731520" y="2752344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Отклики</a:t>
            </a:r>
            <a:endParaRPr lang="en-US" sz="1500" dirty="0"/>
          </a:p>
        </p:txBody>
      </p:sp>
      <p:sp>
        <p:nvSpPr>
          <p:cNvPr id="9" name="Столбец Отклики"/>
          <p:cNvSpPr/>
          <p:nvPr/>
        </p:nvSpPr>
        <p:spPr>
          <a:xfrm>
            <a:off x="4023360" y="2926080"/>
            <a:ext cx="2926080" cy="182880"/>
          </a:xfrm>
          <a:prstGeom prst="roundRect">
            <a:avLst>
              <a:gd name="adj" fmla="val 250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0" y="2788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5 866</a:t>
            </a:r>
            <a:endParaRPr lang="en-US" sz="1800" dirty="0"/>
          </a:p>
        </p:txBody>
      </p:sp>
      <p:sp>
        <p:nvSpPr>
          <p:cNvPr id="11" name="Линия"/>
          <p:cNvSpPr/>
          <p:nvPr/>
        </p:nvSpPr>
        <p:spPr>
          <a:xfrm>
            <a:off x="731520" y="3319272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Первый контакт</a:t>
            </a:r>
            <a:endParaRPr lang="en-US" sz="1500" dirty="0"/>
          </a:p>
        </p:txBody>
      </p:sp>
      <p:sp>
        <p:nvSpPr>
          <p:cNvPr id="13" name="Столбец Первый контакт"/>
          <p:cNvSpPr/>
          <p:nvPr/>
        </p:nvSpPr>
        <p:spPr>
          <a:xfrm>
            <a:off x="4023360" y="3493008"/>
            <a:ext cx="517775" cy="182880"/>
          </a:xfrm>
          <a:prstGeom prst="roundRect">
            <a:avLst>
              <a:gd name="adj" fmla="val 250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0" y="33558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1 038</a:t>
            </a:r>
            <a:endParaRPr lang="en-US" sz="1800" dirty="0"/>
          </a:p>
        </p:txBody>
      </p:sp>
      <p:sp>
        <p:nvSpPr>
          <p:cNvPr id="15" name="Линия"/>
          <p:cNvSpPr/>
          <p:nvPr/>
        </p:nvSpPr>
        <p:spPr>
          <a:xfrm>
            <a:off x="731520" y="3886200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39227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Приглашение на собеседование</a:t>
            </a:r>
            <a:endParaRPr lang="en-US" sz="1500" dirty="0"/>
          </a:p>
        </p:txBody>
      </p:sp>
      <p:sp>
        <p:nvSpPr>
          <p:cNvPr id="17" name="Столбец Приглашение на собеседование"/>
          <p:cNvSpPr/>
          <p:nvPr/>
        </p:nvSpPr>
        <p:spPr>
          <a:xfrm>
            <a:off x="4023360" y="4059936"/>
            <a:ext cx="370623" cy="182880"/>
          </a:xfrm>
          <a:prstGeom prst="roundRect">
            <a:avLst>
              <a:gd name="adj" fmla="val 250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132320" y="39227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743</a:t>
            </a:r>
            <a:endParaRPr lang="en-US" sz="1800" dirty="0"/>
          </a:p>
        </p:txBody>
      </p:sp>
      <p:sp>
        <p:nvSpPr>
          <p:cNvPr id="19" name="Линия"/>
          <p:cNvSpPr/>
          <p:nvPr/>
        </p:nvSpPr>
        <p:spPr>
          <a:xfrm>
            <a:off x="731520" y="4453128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44897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Собеседование</a:t>
            </a:r>
            <a:endParaRPr lang="en-US" sz="1500" dirty="0"/>
          </a:p>
        </p:txBody>
      </p:sp>
      <p:sp>
        <p:nvSpPr>
          <p:cNvPr id="21" name="Столбец Собеседование"/>
          <p:cNvSpPr/>
          <p:nvPr/>
        </p:nvSpPr>
        <p:spPr>
          <a:xfrm>
            <a:off x="4023360" y="4626864"/>
            <a:ext cx="287321" cy="182880"/>
          </a:xfrm>
          <a:prstGeom prst="roundRect">
            <a:avLst>
              <a:gd name="adj" fmla="val 250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132320" y="44897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576</a:t>
            </a:r>
            <a:endParaRPr lang="en-US" sz="1800" dirty="0"/>
          </a:p>
        </p:txBody>
      </p:sp>
      <p:sp>
        <p:nvSpPr>
          <p:cNvPr id="23" name="Линия"/>
          <p:cNvSpPr/>
          <p:nvPr/>
        </p:nvSpPr>
        <p:spPr>
          <a:xfrm>
            <a:off x="731520" y="5020056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50566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Оффер</a:t>
            </a:r>
            <a:endParaRPr lang="en-US" sz="1500" dirty="0"/>
          </a:p>
        </p:txBody>
      </p:sp>
      <p:sp>
        <p:nvSpPr>
          <p:cNvPr id="25" name="Столбец Оффер"/>
          <p:cNvSpPr/>
          <p:nvPr/>
        </p:nvSpPr>
        <p:spPr>
          <a:xfrm>
            <a:off x="4023360" y="5193792"/>
            <a:ext cx="54864" cy="182880"/>
          </a:xfrm>
          <a:prstGeom prst="roundRect">
            <a:avLst>
              <a:gd name="adj" fmla="val 83333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32320" y="5056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100</a:t>
            </a:r>
            <a:endParaRPr lang="en-US" sz="1800" dirty="0"/>
          </a:p>
        </p:txBody>
      </p:sp>
      <p:sp>
        <p:nvSpPr>
          <p:cNvPr id="27" name="Линия"/>
          <p:cNvSpPr/>
          <p:nvPr/>
        </p:nvSpPr>
        <p:spPr>
          <a:xfrm>
            <a:off x="731520" y="5586984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5623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Выход на работу</a:t>
            </a:r>
            <a:endParaRPr lang="en-US" sz="1500" dirty="0"/>
          </a:p>
        </p:txBody>
      </p:sp>
      <p:sp>
        <p:nvSpPr>
          <p:cNvPr id="29" name="Столбец Выход на работу"/>
          <p:cNvSpPr/>
          <p:nvPr/>
        </p:nvSpPr>
        <p:spPr>
          <a:xfrm>
            <a:off x="4023360" y="5760720"/>
            <a:ext cx="54864" cy="182880"/>
          </a:xfrm>
          <a:prstGeom prst="roundRect">
            <a:avLst>
              <a:gd name="adj" fmla="val 83333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32320" y="56235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9634"/>
                </a:solidFill>
              </a:rPr>
              <a:t>95</a:t>
            </a:r>
            <a:endParaRPr lang="en-US" sz="1800" dirty="0"/>
          </a:p>
        </p:txBody>
      </p:sp>
      <p:sp>
        <p:nvSpPr>
          <p:cNvPr id="31" name="Линия"/>
          <p:cNvSpPr/>
          <p:nvPr/>
        </p:nvSpPr>
        <p:spPr>
          <a:xfrm>
            <a:off x="731520" y="6153912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055"/>
                </a:solidFill>
              </a:rPr>
              <a:t>*данные на 31.12.2025</a:t>
            </a:r>
            <a:endParaRPr lang="en-US" sz="1100" dirty="0"/>
          </a:p>
        </p:txBody>
      </p:sp>
      <p:sp>
        <p:nvSpPr>
          <p:cNvPr id="33" name="Итог"/>
          <p:cNvSpPr/>
          <p:nvPr/>
        </p:nvSpPr>
        <p:spPr>
          <a:xfrm>
            <a:off x="8869680" y="2743200"/>
            <a:ext cx="2587752" cy="3383280"/>
          </a:xfrm>
          <a:prstGeom prst="roundRect">
            <a:avLst>
              <a:gd name="adj" fmla="val 424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0982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9634"/>
                </a:solidFill>
              </a:rPr>
              <a:t>95</a:t>
            </a:r>
            <a:endParaRPr lang="en-US" sz="7200" dirty="0"/>
          </a:p>
        </p:txBody>
      </p:sp>
      <p:sp>
        <p:nvSpPr>
          <p:cNvPr id="35" name="Text 32"/>
          <p:cNvSpPr txBox="1"/>
          <p:nvPr/>
        </p:nvSpPr>
        <p:spPr>
          <a:xfrm>
            <a:off x="9098280" y="41605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новых коллег вышли на работу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9098280" y="5212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≈ 1 из 60 откликов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JM · Адаптация и развитие"/>
          <p:cNvSpPr/>
          <p:nvPr/>
        </p:nvSpPr>
        <p:spPr>
          <a:xfrm>
            <a:off x="731520" y="685800"/>
            <a:ext cx="3483864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3026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АДАПТАЦИЯ И РАЗВИТИЕ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Чтобы с первого дня было комфортно</a:t>
            </a:r>
            <a:endParaRPr lang="en-US" sz="3600" dirty="0"/>
          </a:p>
        </p:txBody>
      </p:sp>
      <p:pic>
        <p:nvPicPr>
          <p:cNvPr id="6" name="Фото команды" descr="Команда за рабочим столо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206240" cy="3840480"/>
          </a:xfrm>
          <a:prstGeom prst="rect">
            <a:avLst/>
          </a:prstGeom>
        </p:spPr>
      </p:pic>
      <p:sp>
        <p:nvSpPr>
          <p:cNvPr id="7" name="Шаг Welcome-встреча"/>
          <p:cNvSpPr/>
          <p:nvPr/>
        </p:nvSpPr>
        <p:spPr>
          <a:xfrm>
            <a:off x="5212080" y="219456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Номер 1"/>
          <p:cNvSpPr/>
          <p:nvPr/>
        </p:nvSpPr>
        <p:spPr>
          <a:xfrm>
            <a:off x="5440680" y="2423160"/>
            <a:ext cx="457200" cy="4572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406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08076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Welcome-встреча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440680" y="30632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Знакомимся и рассказываем, как у нас всё устроено</a:t>
            </a:r>
            <a:endParaRPr lang="en-US" sz="1300" dirty="0"/>
          </a:p>
        </p:txBody>
      </p:sp>
      <p:sp>
        <p:nvSpPr>
          <p:cNvPr id="12" name="Шаг Неделя адаптации"/>
          <p:cNvSpPr/>
          <p:nvPr/>
        </p:nvSpPr>
        <p:spPr>
          <a:xfrm>
            <a:off x="8458200" y="219456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3" name="Номер 2"/>
          <p:cNvSpPr/>
          <p:nvPr/>
        </p:nvSpPr>
        <p:spPr>
          <a:xfrm>
            <a:off x="8686800" y="2423160"/>
            <a:ext cx="457200" cy="4572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932688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Неделя адаптации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0" y="30632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Просим короткую анкету: нам важно твоё мнение</a:t>
            </a:r>
            <a:endParaRPr lang="en-US" sz="1300" dirty="0"/>
          </a:p>
        </p:txBody>
      </p:sp>
      <p:sp>
        <p:nvSpPr>
          <p:cNvPr id="17" name="Шаг Обучение"/>
          <p:cNvSpPr/>
          <p:nvPr/>
        </p:nvSpPr>
        <p:spPr>
          <a:xfrm>
            <a:off x="5212080" y="420624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Номер 3"/>
          <p:cNvSpPr/>
          <p:nvPr/>
        </p:nvSpPr>
        <p:spPr>
          <a:xfrm>
            <a:off x="5440680" y="4434840"/>
            <a:ext cx="457200" cy="4572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40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6080760" y="44348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Обучение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5440680" y="50749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«Игра по неподачам», «Системный руководитель», «Академия i’way»</a:t>
            </a:r>
            <a:endParaRPr lang="en-US" sz="1300" dirty="0"/>
          </a:p>
        </p:txBody>
      </p:sp>
      <p:sp>
        <p:nvSpPr>
          <p:cNvPr id="22" name="Шаг Переводы"/>
          <p:cNvSpPr/>
          <p:nvPr/>
        </p:nvSpPr>
        <p:spPr>
          <a:xfrm>
            <a:off x="8458200" y="420624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3" name="Номер 4"/>
          <p:cNvSpPr/>
          <p:nvPr/>
        </p:nvSpPr>
        <p:spPr>
          <a:xfrm>
            <a:off x="8686800" y="4434840"/>
            <a:ext cx="457200" cy="4572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686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9326880" y="44348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Переводы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686800" y="50749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Поддерживаем, если решишь сменить роль или команду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JM · HR-бренд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HR-БРЕНД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HR-бренд: как мы о себе рассказываем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Снаружи нас видят кандидаты, внутри — мы сами. Работаем с обеими сторонами.</a:t>
            </a:r>
            <a:endParaRPr lang="en-US" sz="1600" dirty="0"/>
          </a:p>
        </p:txBody>
      </p:sp>
      <p:sp>
        <p:nvSpPr>
          <p:cNvPr id="7" name="Колонка Снаружи"/>
          <p:cNvSpPr/>
          <p:nvPr/>
        </p:nvSpPr>
        <p:spPr>
          <a:xfrm>
            <a:off x="731520" y="2743200"/>
            <a:ext cx="534924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1051560" y="301752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037" y="3177997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828800" y="30175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84E41"/>
                </a:solidFill>
              </a:rPr>
              <a:t>Снаружи</a:t>
            </a:r>
            <a:endParaRPr lang="en-US" sz="2400" dirty="0"/>
          </a:p>
        </p:txBody>
      </p:sp>
      <p:sp>
        <p:nvSpPr>
          <p:cNvPr id="11" name="Линия"/>
          <p:cNvSpPr/>
          <p:nvPr/>
        </p:nvSpPr>
        <p:spPr>
          <a:xfrm>
            <a:off x="1051560" y="379476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38404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Карьерные сайты: hh.ru и LinkedIn</a:t>
            </a:r>
            <a:endParaRPr lang="en-US" sz="1500" dirty="0"/>
          </a:p>
        </p:txBody>
      </p:sp>
      <p:sp>
        <p:nvSpPr>
          <p:cNvPr id="13" name="Линия"/>
          <p:cNvSpPr/>
          <p:nvPr/>
        </p:nvSpPr>
        <p:spPr>
          <a:xfrm>
            <a:off x="1051560" y="434340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51560" y="4389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Наружная реклама: метро и экраны</a:t>
            </a:r>
            <a:endParaRPr lang="en-US" sz="1500" dirty="0"/>
          </a:p>
        </p:txBody>
      </p:sp>
      <p:sp>
        <p:nvSpPr>
          <p:cNvPr id="15" name="Линия"/>
          <p:cNvSpPr/>
          <p:nvPr/>
        </p:nvSpPr>
        <p:spPr>
          <a:xfrm>
            <a:off x="1051560" y="489204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5156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Работа с университетами</a:t>
            </a:r>
            <a:endParaRPr lang="en-US" sz="1500" dirty="0"/>
          </a:p>
        </p:txBody>
      </p:sp>
      <p:sp>
        <p:nvSpPr>
          <p:cNvPr id="17" name="Линия"/>
          <p:cNvSpPr/>
          <p:nvPr/>
        </p:nvSpPr>
        <p:spPr>
          <a:xfrm>
            <a:off x="1051560" y="544068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51560" y="54864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Ответы на отзывы на площадках</a:t>
            </a:r>
            <a:endParaRPr lang="en-US" sz="1500" dirty="0"/>
          </a:p>
        </p:txBody>
      </p:sp>
      <p:sp>
        <p:nvSpPr>
          <p:cNvPr id="19" name="Колонка Внутри"/>
          <p:cNvSpPr/>
          <p:nvPr/>
        </p:nvSpPr>
        <p:spPr>
          <a:xfrm>
            <a:off x="6263640" y="2743200"/>
            <a:ext cx="534924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0" name="Иконка"/>
          <p:cNvSpPr/>
          <p:nvPr/>
        </p:nvSpPr>
        <p:spPr>
          <a:xfrm>
            <a:off x="6583680" y="301752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4157" y="3177997"/>
            <a:ext cx="273406" cy="27340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60920" y="30175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84E41"/>
                </a:solidFill>
              </a:rPr>
              <a:t>Внутри</a:t>
            </a:r>
            <a:endParaRPr lang="en-US" sz="2400" dirty="0"/>
          </a:p>
        </p:txBody>
      </p:sp>
      <p:sp>
        <p:nvSpPr>
          <p:cNvPr id="23" name="Линия"/>
          <p:cNvSpPr/>
          <p:nvPr/>
        </p:nvSpPr>
        <p:spPr>
          <a:xfrm>
            <a:off x="6583680" y="379476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583680" y="38404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Миссия и ценности</a:t>
            </a:r>
            <a:endParaRPr lang="en-US" sz="1500" dirty="0"/>
          </a:p>
        </p:txBody>
      </p:sp>
      <p:sp>
        <p:nvSpPr>
          <p:cNvPr id="25" name="Линия"/>
          <p:cNvSpPr/>
          <p:nvPr/>
        </p:nvSpPr>
        <p:spPr>
          <a:xfrm>
            <a:off x="6583680" y="434340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83680" y="4389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Внутренние коммуникации</a:t>
            </a:r>
            <a:endParaRPr lang="en-US" sz="1500" dirty="0"/>
          </a:p>
        </p:txBody>
      </p:sp>
      <p:sp>
        <p:nvSpPr>
          <p:cNvPr id="27" name="Линия"/>
          <p:cNvSpPr/>
          <p:nvPr/>
        </p:nvSpPr>
        <p:spPr>
          <a:xfrm>
            <a:off x="6583680" y="489204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Мотивация и бенефиты</a:t>
            </a:r>
            <a:endParaRPr lang="en-US" sz="1500" dirty="0"/>
          </a:p>
        </p:txBody>
      </p:sp>
      <p:sp>
        <p:nvSpPr>
          <p:cNvPr id="29" name="Линия"/>
          <p:cNvSpPr/>
          <p:nvPr/>
        </p:nvSpPr>
        <p:spPr>
          <a:xfrm>
            <a:off x="6583680" y="544068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583680" y="54864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EVP — уникальное ценностное предложение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b="1" dirty="0">
                <a:solidFill>
                  <a:srgbClr val="C9EDDA"/>
                </a:solidFill>
              </a:rPr>
              <a:t>02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Культура i’way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EDDA"/>
                </a:solidFill>
              </a:rPr>
              <a:t>Во что мы верим и как работаем вместе</a:t>
            </a:r>
            <a:endParaRPr lang="en-US" sz="2200" dirty="0"/>
          </a:p>
        </p:txBody>
      </p:sp>
      <p:sp>
        <p:nvSpPr>
          <p:cNvPr id="5" name="Круг"/>
          <p:cNvSpPr/>
          <p:nvPr/>
        </p:nvSpPr>
        <p:spPr>
          <a:xfrm>
            <a:off x="7863840" y="1554480"/>
            <a:ext cx="3291840" cy="3291840"/>
          </a:xfrm>
          <a:prstGeom prst="ellipse">
            <a:avLst/>
          </a:prstGeom>
          <a:solidFill>
            <a:srgbClr val="484E41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606040"/>
            <a:ext cx="1188720" cy="1188720"/>
          </a:xfrm>
          <a:prstGeom prst="rect">
            <a:avLst/>
          </a:prstGeom>
        </p:spPr>
      </p:pic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40080"/>
            <a:ext cx="1097280" cy="4709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i’way — трансферы по всему миру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Сервис заказа трансферов, который объединяет страны, аэропорты и людей.</a:t>
            </a:r>
            <a:endParaRPr lang="en-US" sz="1600" dirty="0"/>
          </a:p>
        </p:txBody>
      </p:sp>
      <p:sp>
        <p:nvSpPr>
          <p:cNvPr id="7" name="Линия"/>
          <p:cNvSpPr/>
          <p:nvPr/>
        </p:nvSpPr>
        <p:spPr>
          <a:xfrm>
            <a:off x="731520" y="2788920"/>
            <a:ext cx="3429000" cy="0"/>
          </a:xfrm>
          <a:prstGeom prst="line">
            <a:avLst/>
          </a:prstGeom>
          <a:noFill/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92608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009634"/>
                </a:solidFill>
              </a:rPr>
              <a:t>130+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605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84E41"/>
                </a:solidFill>
              </a:rPr>
              <a:t>стран, где мы возим людей</a:t>
            </a:r>
            <a:endParaRPr lang="en-US" sz="1800" dirty="0"/>
          </a:p>
        </p:txBody>
      </p:sp>
      <p:sp>
        <p:nvSpPr>
          <p:cNvPr id="10" name="Линия"/>
          <p:cNvSpPr/>
          <p:nvPr/>
        </p:nvSpPr>
        <p:spPr>
          <a:xfrm>
            <a:off x="4381348" y="2788920"/>
            <a:ext cx="3429000" cy="0"/>
          </a:xfrm>
          <a:prstGeom prst="line">
            <a:avLst/>
          </a:prstGeom>
          <a:noFill/>
          <a:ln w="12700">
            <a:solidFill>
              <a:srgbClr val="484E4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1348" y="292608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009634"/>
                </a:solidFill>
              </a:rPr>
              <a:t>2 500+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4381348" y="41605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84E41"/>
                </a:solidFill>
              </a:rPr>
              <a:t>поездок ежедневно</a:t>
            </a:r>
            <a:endParaRPr lang="en-US" sz="1800" dirty="0"/>
          </a:p>
        </p:txBody>
      </p:sp>
      <p:sp>
        <p:nvSpPr>
          <p:cNvPr id="13" name="Линия"/>
          <p:cNvSpPr/>
          <p:nvPr/>
        </p:nvSpPr>
        <p:spPr>
          <a:xfrm>
            <a:off x="8031175" y="2788920"/>
            <a:ext cx="3429000" cy="0"/>
          </a:xfrm>
          <a:prstGeom prst="line">
            <a:avLst/>
          </a:prstGeom>
          <a:noFill/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31175" y="292608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009634"/>
                </a:solidFill>
              </a:rPr>
              <a:t>600+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8031175" y="41605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84E41"/>
                </a:solidFill>
              </a:rPr>
              <a:t>аэропортов мира</a:t>
            </a:r>
            <a:endParaRPr lang="en-US" sz="1800" dirty="0"/>
          </a:p>
        </p:txBody>
      </p:sp>
      <p:sp>
        <p:nvSpPr>
          <p:cNvPr id="16" name="Факт с 2009"/>
          <p:cNvSpPr/>
          <p:nvPr/>
        </p:nvSpPr>
        <p:spPr>
          <a:xfrm>
            <a:off x="731520" y="4983480"/>
            <a:ext cx="34290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7" name="Иконка"/>
          <p:cNvSpPr/>
          <p:nvPr/>
        </p:nvSpPr>
        <p:spPr>
          <a:xfrm>
            <a:off x="1005840" y="530352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3" y="5451653"/>
            <a:ext cx="252374" cy="25237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783080" y="52395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с 2009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783080" y="5623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года на рынке</a:t>
            </a:r>
            <a:endParaRPr lang="en-US" sz="1300" dirty="0"/>
          </a:p>
        </p:txBody>
      </p:sp>
      <p:sp>
        <p:nvSpPr>
          <p:cNvPr id="21" name="Факт 4,9 из 5"/>
          <p:cNvSpPr/>
          <p:nvPr/>
        </p:nvSpPr>
        <p:spPr>
          <a:xfrm>
            <a:off x="4381348" y="4983480"/>
            <a:ext cx="34290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2" name="Иконка"/>
          <p:cNvSpPr/>
          <p:nvPr/>
        </p:nvSpPr>
        <p:spPr>
          <a:xfrm>
            <a:off x="4655668" y="530352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800" y="5451653"/>
            <a:ext cx="252374" cy="25237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432908" y="52395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4,9 из 5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5432908" y="5623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оценка поездок</a:t>
            </a:r>
            <a:endParaRPr lang="en-US" sz="1300" dirty="0"/>
          </a:p>
        </p:txBody>
      </p:sp>
      <p:sp>
        <p:nvSpPr>
          <p:cNvPr id="26" name="Факт Офисы"/>
          <p:cNvSpPr/>
          <p:nvPr/>
        </p:nvSpPr>
        <p:spPr>
          <a:xfrm>
            <a:off x="8031175" y="4983480"/>
            <a:ext cx="34290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7" name="Иконка"/>
          <p:cNvSpPr/>
          <p:nvPr/>
        </p:nvSpPr>
        <p:spPr>
          <a:xfrm>
            <a:off x="8305495" y="530352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3628" y="5451653"/>
            <a:ext cx="252374" cy="25237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82735" y="52395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Офисы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9082735" y="5623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в Казахстане, ОАЭ, Индии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 день в цифрах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860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84E41"/>
                </a:solidFill>
              </a:rPr>
              <a:t>Бронирования, выручка и оценки клиентов — всё на одном экране, в реальном времени.</a:t>
            </a:r>
            <a:endParaRPr lang="en-US" sz="2000" dirty="0"/>
          </a:p>
        </p:txBody>
      </p:sp>
      <p:sp>
        <p:nvSpPr>
          <p:cNvPr id="7" name="Оценка"/>
          <p:cNvSpPr/>
          <p:nvPr/>
        </p:nvSpPr>
        <p:spPr>
          <a:xfrm>
            <a:off x="731520" y="4297680"/>
            <a:ext cx="3840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1005840" y="457200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3" y="4720133"/>
            <a:ext cx="252374" cy="25237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4526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4,9 из 5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1005840" y="5303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средняя оценка поездок — каждый из нас влияет на эту цифру</a:t>
            </a:r>
            <a:endParaRPr lang="en-US" sz="1300" dirty="0"/>
          </a:p>
        </p:txBody>
      </p:sp>
      <p:pic>
        <p:nvPicPr>
          <p:cNvPr id="12" name="Дашборд" descr="Панель с онлайн-метрикам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194560"/>
            <a:ext cx="6492240" cy="3657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 · История"/>
          <p:cNvSpPr/>
          <p:nvPr/>
        </p:nvSpPr>
        <p:spPr>
          <a:xfrm>
            <a:off x="731520" y="685800"/>
            <a:ext cx="327355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816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 · ИСТОРИЯ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 всё начиналось</a:t>
            </a:r>
            <a:endParaRPr lang="en-US" sz="3600" dirty="0"/>
          </a:p>
        </p:txBody>
      </p:sp>
      <p:pic>
        <p:nvPicPr>
          <p:cNvPr id="6" name="Основатели" descr="Основатели 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3017520" cy="3840480"/>
          </a:xfrm>
          <a:prstGeom prst="rect">
            <a:avLst/>
          </a:prstGeom>
        </p:spPr>
      </p:pic>
      <p:sp>
        <p:nvSpPr>
          <p:cNvPr id="7" name="Год 2009"/>
          <p:cNvSpPr/>
          <p:nvPr/>
        </p:nvSpPr>
        <p:spPr>
          <a:xfrm>
            <a:off x="4023360" y="219456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343400" y="2423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2009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4343400" y="3200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ООО «Сибирская трансферная компания»</a:t>
            </a:r>
            <a:endParaRPr lang="en-US" sz="1500" dirty="0"/>
          </a:p>
        </p:txBody>
      </p:sp>
      <p:sp>
        <p:nvSpPr>
          <p:cNvPr id="10" name="Год 2011"/>
          <p:cNvSpPr/>
          <p:nvPr/>
        </p:nvSpPr>
        <p:spPr>
          <a:xfrm>
            <a:off x="7818120" y="219456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138160" y="2423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2011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200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iWay Express: двуязычный сайт с онлайн-бронированием</a:t>
            </a:r>
            <a:endParaRPr lang="en-US" sz="1500" dirty="0"/>
          </a:p>
        </p:txBody>
      </p:sp>
      <p:sp>
        <p:nvSpPr>
          <p:cNvPr id="13" name="Год 2013"/>
          <p:cNvSpPr/>
          <p:nvPr/>
        </p:nvSpPr>
        <p:spPr>
          <a:xfrm>
            <a:off x="4023360" y="420624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343400" y="4434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2013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5212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Родился бренд i’way</a:t>
            </a:r>
            <a:endParaRPr lang="en-US" sz="1500" dirty="0"/>
          </a:p>
        </p:txBody>
      </p:sp>
      <p:sp>
        <p:nvSpPr>
          <p:cNvPr id="16" name="Год 2023"/>
          <p:cNvSpPr/>
          <p:nvPr/>
        </p:nvSpPr>
        <p:spPr>
          <a:xfrm>
            <a:off x="7818120" y="420624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138160" y="4434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2023</a:t>
            </a:r>
            <a:endParaRPr lang="en-US" sz="4000" dirty="0"/>
          </a:p>
        </p:txBody>
      </p:sp>
      <p:sp>
        <p:nvSpPr>
          <p:cNvPr id="18" name="Text 14"/>
          <p:cNvSpPr txBox="1"/>
          <p:nvPr/>
        </p:nvSpPr>
        <p:spPr>
          <a:xfrm>
            <a:off x="8138160" y="5212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Открыли офис в Казахстане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Фундамент"/>
          <p:cNvSpPr/>
          <p:nvPr/>
        </p:nvSpPr>
        <p:spPr>
          <a:xfrm>
            <a:off x="731520" y="685800"/>
            <a:ext cx="169621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239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ФУНДАМЕНТ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Наша миссия</a:t>
            </a:r>
            <a:endParaRPr lang="en-US" sz="3600" dirty="0"/>
          </a:p>
        </p:txBody>
      </p:sp>
      <p:sp>
        <p:nvSpPr>
          <p:cNvPr id="6" name="Миссия"/>
          <p:cNvSpPr/>
          <p:nvPr/>
        </p:nvSpPr>
        <p:spPr>
          <a:xfrm>
            <a:off x="731520" y="2103120"/>
            <a:ext cx="10728655" cy="4023360"/>
          </a:xfrm>
          <a:prstGeom prst="roundRect">
            <a:avLst>
              <a:gd name="adj" fmla="val 3409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0" y="2468880"/>
            <a:ext cx="9326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</a:rPr>
              <a:t>i’way меняет представление о транспортном сервисе в России и мире и, ориентируясь на потребности клиентов, выступает законодателем стандартов обслуживания.</a:t>
            </a:r>
            <a:endParaRPr lang="en-US" sz="3000" dirty="0"/>
          </a:p>
        </p:txBody>
      </p:sp>
      <p:pic>
        <p:nvPicPr>
          <p:cNvPr id="8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349240"/>
            <a:ext cx="868680" cy="372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Бренд-код"/>
          <p:cNvSpPr/>
          <p:nvPr/>
        </p:nvSpPr>
        <p:spPr>
          <a:xfrm>
            <a:off x="731520" y="685800"/>
            <a:ext cx="169621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239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БРЕНД-КОД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Наши ценности</a:t>
            </a:r>
            <a:endParaRPr lang="en-US" sz="3600" dirty="0"/>
          </a:p>
        </p:txBody>
      </p:sp>
      <p:sp>
        <p:nvSpPr>
          <p:cNvPr id="6" name="Ценность Открытость"/>
          <p:cNvSpPr/>
          <p:nvPr/>
        </p:nvSpPr>
        <p:spPr>
          <a:xfrm>
            <a:off x="731520" y="21031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Иконка"/>
          <p:cNvSpPr/>
          <p:nvPr/>
        </p:nvSpPr>
        <p:spPr>
          <a:xfrm>
            <a:off x="1005840" y="235915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628" y="2494940"/>
            <a:ext cx="231343" cy="231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3591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Открытость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30175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Готовность принимать новое, прислушиваться к просьбам и проблемам клиентов; старание быть нужным.</a:t>
            </a:r>
            <a:endParaRPr lang="en-US" sz="1300" dirty="0"/>
          </a:p>
        </p:txBody>
      </p:sp>
      <p:sp>
        <p:nvSpPr>
          <p:cNvPr id="11" name="Ценность Честность"/>
          <p:cNvSpPr/>
          <p:nvPr/>
        </p:nvSpPr>
        <p:spPr>
          <a:xfrm>
            <a:off x="4381348" y="21031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Иконка"/>
          <p:cNvSpPr/>
          <p:nvPr/>
        </p:nvSpPr>
        <p:spPr>
          <a:xfrm>
            <a:off x="4655668" y="235915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494940"/>
            <a:ext cx="231343" cy="231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41468" y="23591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Честность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4655668" y="30175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Соблюдение делового этикета и корпоративной политики; неприятие обмана и хитростей в корыстных целях.</a:t>
            </a:r>
            <a:endParaRPr lang="en-US" sz="1300" dirty="0"/>
          </a:p>
        </p:txBody>
      </p:sp>
      <p:sp>
        <p:nvSpPr>
          <p:cNvPr id="16" name="Ценность Лидерство"/>
          <p:cNvSpPr/>
          <p:nvPr/>
        </p:nvSpPr>
        <p:spPr>
          <a:xfrm>
            <a:off x="8031175" y="21031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7" name="Иконка"/>
          <p:cNvSpPr/>
          <p:nvPr/>
        </p:nvSpPr>
        <p:spPr>
          <a:xfrm>
            <a:off x="8305495" y="235915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284" y="2494940"/>
            <a:ext cx="231343" cy="23134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991295" y="23591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Лидерство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8305495" y="30175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Предоставление клиентам лучшего; ввод новых стандартов обслуживания.</a:t>
            </a:r>
            <a:endParaRPr lang="en-US" sz="1300" dirty="0"/>
          </a:p>
        </p:txBody>
      </p:sp>
      <p:sp>
        <p:nvSpPr>
          <p:cNvPr id="21" name="Ценность Технологичность"/>
          <p:cNvSpPr/>
          <p:nvPr/>
        </p:nvSpPr>
        <p:spPr>
          <a:xfrm>
            <a:off x="731520" y="429768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2" name="Иконка"/>
          <p:cNvSpPr/>
          <p:nvPr/>
        </p:nvSpPr>
        <p:spPr>
          <a:xfrm>
            <a:off x="1005840" y="455371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628" y="4689500"/>
            <a:ext cx="231343" cy="23134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1640" y="455371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Технологичность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1005840" y="5212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Внедрение современных решений.</a:t>
            </a:r>
            <a:endParaRPr lang="en-US" sz="1300" dirty="0"/>
          </a:p>
        </p:txBody>
      </p:sp>
      <p:sp>
        <p:nvSpPr>
          <p:cNvPr id="26" name="Ценность Человечность"/>
          <p:cNvSpPr/>
          <p:nvPr/>
        </p:nvSpPr>
        <p:spPr>
          <a:xfrm>
            <a:off x="4381348" y="429768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7" name="Иконка"/>
          <p:cNvSpPr/>
          <p:nvPr/>
        </p:nvSpPr>
        <p:spPr>
          <a:xfrm>
            <a:off x="4655668" y="455371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1456" y="4689500"/>
            <a:ext cx="231343" cy="231343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341468" y="455371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Человечность</a:t>
            </a:r>
            <a:endParaRPr lang="en-US" sz="1800" dirty="0"/>
          </a:p>
        </p:txBody>
      </p:sp>
      <p:sp>
        <p:nvSpPr>
          <p:cNvPr id="30" name="Text 22"/>
          <p:cNvSpPr txBox="1"/>
          <p:nvPr/>
        </p:nvSpPr>
        <p:spPr>
          <a:xfrm>
            <a:off x="4655668" y="5212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Уважительное отношение; дружелюбие в общении.</a:t>
            </a:r>
            <a:endParaRPr lang="en-US" sz="1300" dirty="0"/>
          </a:p>
        </p:txBody>
      </p:sp>
      <p:sp>
        <p:nvSpPr>
          <p:cNvPr id="31" name="Логотип"/>
          <p:cNvSpPr/>
          <p:nvPr/>
        </p:nvSpPr>
        <p:spPr>
          <a:xfrm>
            <a:off x="8031175" y="429768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3F5F1"/>
          </a:solidFill>
          <a:ln w="12700">
            <a:solidFill>
              <a:srgbClr val="D5D9CF"/>
            </a:solidFill>
            <a:prstDash val="solid"/>
          </a:ln>
        </p:spPr>
      </p:sp>
      <p:pic>
        <p:nvPicPr>
          <p:cNvPr id="32" name="Логотип" descr="i’wa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6995" y="4842412"/>
            <a:ext cx="1737360" cy="876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 у нас принято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Пять правил, по которым мы живём и работаем каждый день.</a:t>
            </a:r>
            <a:endParaRPr lang="en-US" sz="1600" dirty="0"/>
          </a:p>
        </p:txBody>
      </p:sp>
      <p:sp>
        <p:nvSpPr>
          <p:cNvPr id="7" name="Линия"/>
          <p:cNvSpPr/>
          <p:nvPr/>
        </p:nvSpPr>
        <p:spPr>
          <a:xfrm>
            <a:off x="731520" y="2642616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731520" y="2734056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308" y="2869844"/>
            <a:ext cx="231343" cy="2313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69748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Дресс-код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697480"/>
            <a:ext cx="6336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Smart Casual: выглядим опрятно и остаёмся собой</a:t>
            </a:r>
            <a:endParaRPr lang="en-US" sz="1600" dirty="0"/>
          </a:p>
        </p:txBody>
      </p:sp>
      <p:sp>
        <p:nvSpPr>
          <p:cNvPr id="12" name="Линия"/>
          <p:cNvSpPr/>
          <p:nvPr/>
        </p:nvSpPr>
        <p:spPr>
          <a:xfrm>
            <a:off x="731520" y="3355848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3" name="Иконка"/>
          <p:cNvSpPr/>
          <p:nvPr/>
        </p:nvSpPr>
        <p:spPr>
          <a:xfrm>
            <a:off x="731520" y="3447288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308" y="3583076"/>
            <a:ext cx="231343" cy="23134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54480" y="34107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Руководитель рядом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120640" y="3410712"/>
            <a:ext cx="6336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Он — первая точка входа для любого вопроса</a:t>
            </a:r>
            <a:endParaRPr lang="en-US" sz="1600" dirty="0"/>
          </a:p>
        </p:txBody>
      </p:sp>
      <p:sp>
        <p:nvSpPr>
          <p:cNvPr id="17" name="Линия"/>
          <p:cNvSpPr/>
          <p:nvPr/>
        </p:nvSpPr>
        <p:spPr>
          <a:xfrm>
            <a:off x="731520" y="4069080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8" name="Иконка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308" y="4296308"/>
            <a:ext cx="231343" cy="23134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554480" y="412394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Ответственность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5120640" y="4123944"/>
            <a:ext cx="6336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Отвечаем за результат и держим слово</a:t>
            </a:r>
            <a:endParaRPr lang="en-US" sz="1600" dirty="0"/>
          </a:p>
        </p:txBody>
      </p:sp>
      <p:sp>
        <p:nvSpPr>
          <p:cNvPr id="22" name="Линия"/>
          <p:cNvSpPr/>
          <p:nvPr/>
        </p:nvSpPr>
        <p:spPr>
          <a:xfrm>
            <a:off x="731520" y="4782312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3" name="Иконка"/>
          <p:cNvSpPr/>
          <p:nvPr/>
        </p:nvSpPr>
        <p:spPr>
          <a:xfrm>
            <a:off x="731520" y="487375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308" y="5009540"/>
            <a:ext cx="231343" cy="231343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54480" y="483717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Идеи приветствуются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120640" y="4837176"/>
            <a:ext cx="6336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Предложил полезное — поможем воплотить</a:t>
            </a:r>
            <a:endParaRPr lang="en-US" sz="1600" dirty="0"/>
          </a:p>
        </p:txBody>
      </p:sp>
      <p:sp>
        <p:nvSpPr>
          <p:cNvPr id="27" name="Линия"/>
          <p:cNvSpPr/>
          <p:nvPr/>
        </p:nvSpPr>
        <p:spPr>
          <a:xfrm>
            <a:off x="731520" y="5495544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8" name="Иконка"/>
          <p:cNvSpPr/>
          <p:nvPr/>
        </p:nvSpPr>
        <p:spPr>
          <a:xfrm>
            <a:off x="731520" y="5586984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308" y="5722772"/>
            <a:ext cx="231343" cy="23134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554480" y="555040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Неравнодушие</a:t>
            </a:r>
            <a:endParaRPr lang="en-US" sz="1900" dirty="0"/>
          </a:p>
        </p:txBody>
      </p:sp>
      <p:sp>
        <p:nvSpPr>
          <p:cNvPr id="31" name="Text 23"/>
          <p:cNvSpPr txBox="1"/>
          <p:nvPr/>
        </p:nvSpPr>
        <p:spPr>
          <a:xfrm>
            <a:off x="5120640" y="5550408"/>
            <a:ext cx="6336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Нам не всё равно — к клиентам и друг к другу</a:t>
            </a:r>
            <a:endParaRPr lang="en-US" sz="1600" dirty="0"/>
          </a:p>
        </p:txBody>
      </p:sp>
      <p:sp>
        <p:nvSpPr>
          <p:cNvPr id="32" name="Линия"/>
          <p:cNvSpPr/>
          <p:nvPr/>
        </p:nvSpPr>
        <p:spPr>
          <a:xfrm>
            <a:off x="731520" y="6208776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аленькая деталь"/>
          <p:cNvSpPr/>
          <p:nvPr/>
        </p:nvSpPr>
        <p:spPr>
          <a:xfrm>
            <a:off x="731520" y="685800"/>
            <a:ext cx="2432304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МАЛЕНЬКАЯ ДЕТАЛЬ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 апостроф — особенный</a:t>
            </a:r>
            <a:endParaRPr lang="en-US" sz="3600" dirty="0"/>
          </a:p>
        </p:txBody>
      </p:sp>
      <p:sp>
        <p:nvSpPr>
          <p:cNvPr id="6" name="Плитка логотипа"/>
          <p:cNvSpPr/>
          <p:nvPr/>
        </p:nvSpPr>
        <p:spPr>
          <a:xfrm>
            <a:off x="731520" y="2194560"/>
            <a:ext cx="4754880" cy="3931920"/>
          </a:xfrm>
          <a:prstGeom prst="roundRect">
            <a:avLst>
              <a:gd name="adj" fmla="val 2791"/>
            </a:avLst>
          </a:prstGeom>
          <a:solidFill>
            <a:srgbClr val="F3F5F1"/>
          </a:solidFill>
          <a:ln w="12700">
            <a:solidFill>
              <a:srgbClr val="D5D9CF"/>
            </a:solidFill>
            <a:prstDash val="solid"/>
          </a:ln>
        </p:spPr>
      </p:sp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108960"/>
            <a:ext cx="3474720" cy="1752992"/>
          </a:xfrm>
          <a:prstGeom prst="rect">
            <a:avLst/>
          </a:prstGeom>
        </p:spPr>
      </p:pic>
      <p:sp>
        <p:nvSpPr>
          <p:cNvPr id="8" name="Вариант i’way"/>
          <p:cNvSpPr/>
          <p:nvPr/>
        </p:nvSpPr>
        <p:spPr>
          <a:xfrm>
            <a:off x="5760720" y="2194560"/>
            <a:ext cx="569671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035040" y="219456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634"/>
                </a:solidFill>
              </a:rPr>
              <a:t>i’way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046720" y="219456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Правильно — с красивым апострофом</a:t>
            </a:r>
            <a:endParaRPr lang="en-US" sz="1400" dirty="0"/>
          </a:p>
        </p:txBody>
      </p:sp>
      <p:sp>
        <p:nvSpPr>
          <p:cNvPr id="11" name="Верно"/>
          <p:cNvSpPr/>
          <p:nvPr/>
        </p:nvSpPr>
        <p:spPr>
          <a:xfrm>
            <a:off x="10698480" y="242316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2" name="Image 2" descr="верн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2560320"/>
            <a:ext cx="228600" cy="228600"/>
          </a:xfrm>
          <a:prstGeom prst="rect">
            <a:avLst/>
          </a:prstGeom>
        </p:spPr>
      </p:pic>
      <p:sp>
        <p:nvSpPr>
          <p:cNvPr id="13" name="Вариант i'way"/>
          <p:cNvSpPr/>
          <p:nvPr/>
        </p:nvSpPr>
        <p:spPr>
          <a:xfrm>
            <a:off x="5760720" y="3291840"/>
            <a:ext cx="569671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035040" y="32918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6055"/>
                </a:solidFill>
              </a:rPr>
              <a:t>i'way</a:t>
            </a:r>
            <a:endParaRPr lang="en-US" sz="3000" dirty="0"/>
          </a:p>
        </p:txBody>
      </p:sp>
      <p:sp>
        <p:nvSpPr>
          <p:cNvPr id="15" name="Text 10"/>
          <p:cNvSpPr txBox="1"/>
          <p:nvPr/>
        </p:nvSpPr>
        <p:spPr>
          <a:xfrm>
            <a:off x="8046720" y="32918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Не так — прямой апостроф</a:t>
            </a:r>
            <a:endParaRPr lang="en-US" sz="1400" dirty="0"/>
          </a:p>
        </p:txBody>
      </p:sp>
      <p:sp>
        <p:nvSpPr>
          <p:cNvPr id="16" name="Неверно"/>
          <p:cNvSpPr/>
          <p:nvPr/>
        </p:nvSpPr>
        <p:spPr>
          <a:xfrm>
            <a:off x="10698480" y="3520440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7" name="Image 3" descr="неверн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3657600"/>
            <a:ext cx="228600" cy="228600"/>
          </a:xfrm>
          <a:prstGeom prst="rect">
            <a:avLst/>
          </a:prstGeom>
        </p:spPr>
      </p:pic>
      <p:sp>
        <p:nvSpPr>
          <p:cNvPr id="18" name="Вариант i`way"/>
          <p:cNvSpPr/>
          <p:nvPr/>
        </p:nvSpPr>
        <p:spPr>
          <a:xfrm>
            <a:off x="5760720" y="4389120"/>
            <a:ext cx="569671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035040" y="43891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6055"/>
                </a:solidFill>
              </a:rPr>
              <a:t>i`way</a:t>
            </a:r>
            <a:endParaRPr lang="en-US" sz="3000" dirty="0"/>
          </a:p>
        </p:txBody>
      </p:sp>
      <p:sp>
        <p:nvSpPr>
          <p:cNvPr id="20" name="Text 14"/>
          <p:cNvSpPr txBox="1"/>
          <p:nvPr/>
        </p:nvSpPr>
        <p:spPr>
          <a:xfrm>
            <a:off x="8046720" y="4389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И не так — обратный апостроф</a:t>
            </a:r>
            <a:endParaRPr lang="en-US" sz="1400" dirty="0"/>
          </a:p>
        </p:txBody>
      </p:sp>
      <p:sp>
        <p:nvSpPr>
          <p:cNvPr id="21" name="Неверно"/>
          <p:cNvSpPr/>
          <p:nvPr/>
        </p:nvSpPr>
        <p:spPr>
          <a:xfrm>
            <a:off x="10698480" y="4617720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2" name="Image 4" descr="неверно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5640" y="4754880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760720" y="5623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Как напечатать на Windows:</a:t>
            </a:r>
            <a:endParaRPr lang="en-US" sz="1500" dirty="0"/>
          </a:p>
        </p:txBody>
      </p:sp>
      <p:sp>
        <p:nvSpPr>
          <p:cNvPr id="24" name="Клавиша Alt"/>
          <p:cNvSpPr/>
          <p:nvPr/>
        </p:nvSpPr>
        <p:spPr>
          <a:xfrm>
            <a:off x="8686800" y="5623560"/>
            <a:ext cx="7772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686800" y="562356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Alt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509760" y="562356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+</a:t>
            </a:r>
            <a:endParaRPr lang="en-US" sz="2000" dirty="0"/>
          </a:p>
        </p:txBody>
      </p:sp>
      <p:sp>
        <p:nvSpPr>
          <p:cNvPr id="27" name="Клавиша 0146"/>
          <p:cNvSpPr/>
          <p:nvPr/>
        </p:nvSpPr>
        <p:spPr>
          <a:xfrm>
            <a:off x="9875520" y="5623560"/>
            <a:ext cx="10972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9875520" y="5623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0146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b="1" dirty="0">
                <a:solidFill>
                  <a:srgbClr val="C9EDDA"/>
                </a:solidFill>
              </a:rPr>
              <a:t>03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Команда i’way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EDDA"/>
                </a:solidFill>
              </a:rPr>
              <a:t>Люди, благодаря которым всё работает</a:t>
            </a:r>
            <a:endParaRPr lang="en-US" sz="2200" dirty="0"/>
          </a:p>
        </p:txBody>
      </p:sp>
      <p:sp>
        <p:nvSpPr>
          <p:cNvPr id="5" name="Круг"/>
          <p:cNvSpPr/>
          <p:nvPr/>
        </p:nvSpPr>
        <p:spPr>
          <a:xfrm>
            <a:off x="7863840" y="1554480"/>
            <a:ext cx="3291840" cy="3291840"/>
          </a:xfrm>
          <a:prstGeom prst="ellipse">
            <a:avLst/>
          </a:prstGeom>
          <a:solidFill>
            <a:srgbClr val="484E41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606040"/>
            <a:ext cx="1188720" cy="1188720"/>
          </a:xfrm>
          <a:prstGeom prst="rect">
            <a:avLst/>
          </a:prstGeom>
        </p:spPr>
      </p:pic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40080"/>
            <a:ext cx="1097280" cy="4709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оманда i’way"/>
          <p:cNvSpPr/>
          <p:nvPr/>
        </p:nvSpPr>
        <p:spPr>
          <a:xfrm>
            <a:off x="731520" y="685800"/>
            <a:ext cx="211683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659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КОМАНДА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Дирекция i’way</a:t>
            </a:r>
            <a:endParaRPr lang="en-US" sz="3600" dirty="0"/>
          </a:p>
        </p:txBody>
      </p:sp>
      <p:sp>
        <p:nvSpPr>
          <p:cNvPr id="6" name="Карточка Дмитрий Салихов"/>
          <p:cNvSpPr/>
          <p:nvPr/>
        </p:nvSpPr>
        <p:spPr>
          <a:xfrm>
            <a:off x="731520" y="2011680"/>
            <a:ext cx="2560320" cy="4206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7" name="Дмитрий Салихов" descr="Дмитрий Салихов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2286000" cy="2651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14400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Дмитрий Салихов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394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CEO, основатель i’way</a:t>
            </a:r>
            <a:endParaRPr lang="en-US" sz="1400" dirty="0"/>
          </a:p>
        </p:txBody>
      </p:sp>
      <p:sp>
        <p:nvSpPr>
          <p:cNvPr id="10" name="Карточка Дмитрий Сарайкин"/>
          <p:cNvSpPr/>
          <p:nvPr/>
        </p:nvSpPr>
        <p:spPr>
          <a:xfrm>
            <a:off x="3454298" y="2011680"/>
            <a:ext cx="2560320" cy="4206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1" name="Дмитрий Сарайкин" descr="Дмитрий Сарайки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1458" y="2148840"/>
            <a:ext cx="228600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37178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Дмитрий Сарайкин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637178" y="5394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Сооснователь i’way</a:t>
            </a:r>
            <a:endParaRPr lang="en-US" sz="1400" dirty="0"/>
          </a:p>
        </p:txBody>
      </p:sp>
      <p:sp>
        <p:nvSpPr>
          <p:cNvPr id="14" name="Карточка Александр Шведов"/>
          <p:cNvSpPr/>
          <p:nvPr/>
        </p:nvSpPr>
        <p:spPr>
          <a:xfrm>
            <a:off x="6177077" y="2011680"/>
            <a:ext cx="2560320" cy="4206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5" name="Александр Шведов" descr="Александр Шведов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4237" y="2148840"/>
            <a:ext cx="2286000" cy="26517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59957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Александр Шведов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6359957" y="5394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CTO, исполнительный директор</a:t>
            </a:r>
            <a:endParaRPr lang="en-US" sz="1400" dirty="0"/>
          </a:p>
        </p:txBody>
      </p:sp>
      <p:sp>
        <p:nvSpPr>
          <p:cNvPr id="18" name="Карточка Джехад Абугсиса"/>
          <p:cNvSpPr/>
          <p:nvPr/>
        </p:nvSpPr>
        <p:spPr>
          <a:xfrm>
            <a:off x="8899855" y="2011680"/>
            <a:ext cx="2560320" cy="4206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9" name="Джехад Абугсиса" descr="Джехад Абугсис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7015" y="2148840"/>
            <a:ext cx="2286000" cy="26517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082735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Джехад Абугсиса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9082735" y="5394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Директор по международному развитию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оманда i’way"/>
          <p:cNvSpPr/>
          <p:nvPr/>
        </p:nvSpPr>
        <p:spPr>
          <a:xfrm>
            <a:off x="731520" y="685800"/>
            <a:ext cx="211683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659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КОМАНДА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Мы — большая команда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Разные люди и города — одна команда i’way.</a:t>
            </a:r>
            <a:endParaRPr lang="en-US" sz="1600" dirty="0"/>
          </a:p>
        </p:txBody>
      </p:sp>
      <p:sp>
        <p:nvSpPr>
          <p:cNvPr id="7" name="Плитка коллег в команде"/>
          <p:cNvSpPr/>
          <p:nvPr/>
        </p:nvSpPr>
        <p:spPr>
          <a:xfrm>
            <a:off x="731520" y="274320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1051560" y="306324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037" y="3223717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3886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160+</a:t>
            </a:r>
            <a:endParaRPr lang="en-US" sz="56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84E41"/>
                </a:solidFill>
              </a:rPr>
              <a:t>коллег в команде</a:t>
            </a:r>
            <a:endParaRPr lang="en-US" sz="1600" dirty="0"/>
          </a:p>
        </p:txBody>
      </p:sp>
      <p:sp>
        <p:nvSpPr>
          <p:cNvPr id="12" name="Плитка девушек"/>
          <p:cNvSpPr/>
          <p:nvPr/>
        </p:nvSpPr>
        <p:spPr>
          <a:xfrm>
            <a:off x="3454298" y="274320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3" name="Иконка"/>
          <p:cNvSpPr/>
          <p:nvPr/>
        </p:nvSpPr>
        <p:spPr>
          <a:xfrm>
            <a:off x="3774338" y="306324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4816" y="3223717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74338" y="3886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100+</a:t>
            </a:r>
            <a:endParaRPr lang="en-US" sz="5600" dirty="0"/>
          </a:p>
        </p:txBody>
      </p:sp>
      <p:sp>
        <p:nvSpPr>
          <p:cNvPr id="16" name="Text 11"/>
          <p:cNvSpPr txBox="1"/>
          <p:nvPr/>
        </p:nvSpPr>
        <p:spPr>
          <a:xfrm>
            <a:off x="3774338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84E41"/>
                </a:solidFill>
              </a:rPr>
              <a:t>девушек</a:t>
            </a:r>
            <a:endParaRPr lang="en-US" sz="1600" dirty="0"/>
          </a:p>
        </p:txBody>
      </p:sp>
      <p:sp>
        <p:nvSpPr>
          <p:cNvPr id="17" name="Плитка парней"/>
          <p:cNvSpPr/>
          <p:nvPr/>
        </p:nvSpPr>
        <p:spPr>
          <a:xfrm>
            <a:off x="6177077" y="274320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Иконка"/>
          <p:cNvSpPr/>
          <p:nvPr/>
        </p:nvSpPr>
        <p:spPr>
          <a:xfrm>
            <a:off x="6497117" y="306324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7594" y="3223717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497117" y="3886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50+</a:t>
            </a:r>
            <a:endParaRPr lang="en-US" sz="5600" dirty="0"/>
          </a:p>
        </p:txBody>
      </p:sp>
      <p:sp>
        <p:nvSpPr>
          <p:cNvPr id="21" name="Text 15"/>
          <p:cNvSpPr txBox="1"/>
          <p:nvPr/>
        </p:nvSpPr>
        <p:spPr>
          <a:xfrm>
            <a:off x="6497117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84E41"/>
                </a:solidFill>
              </a:rPr>
              <a:t>парней</a:t>
            </a:r>
            <a:endParaRPr lang="en-US" sz="1600" dirty="0"/>
          </a:p>
        </p:txBody>
      </p:sp>
      <p:sp>
        <p:nvSpPr>
          <p:cNvPr id="22" name="Плитка года — средний возраст"/>
          <p:cNvSpPr/>
          <p:nvPr/>
        </p:nvSpPr>
        <p:spPr>
          <a:xfrm>
            <a:off x="8899855" y="274320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3" name="Иконка"/>
          <p:cNvSpPr/>
          <p:nvPr/>
        </p:nvSpPr>
        <p:spPr>
          <a:xfrm>
            <a:off x="9219895" y="306324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0372" y="3223717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219895" y="3886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32</a:t>
            </a:r>
            <a:endParaRPr lang="en-US" sz="5600" dirty="0"/>
          </a:p>
        </p:txBody>
      </p:sp>
      <p:sp>
        <p:nvSpPr>
          <p:cNvPr id="26" name="Text 19"/>
          <p:cNvSpPr txBox="1"/>
          <p:nvPr/>
        </p:nvSpPr>
        <p:spPr>
          <a:xfrm>
            <a:off x="9219895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84E41"/>
                </a:solidFill>
              </a:rPr>
              <a:t>года — средний возраст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оманда i’way"/>
          <p:cNvSpPr/>
          <p:nvPr/>
        </p:nvSpPr>
        <p:spPr>
          <a:xfrm>
            <a:off x="731520" y="685800"/>
            <a:ext cx="211683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659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КОМАНДА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Где нас можно встретить</a:t>
            </a:r>
            <a:endParaRPr lang="en-US" sz="3600" dirty="0"/>
          </a:p>
        </p:txBody>
      </p:sp>
      <p:pic>
        <p:nvPicPr>
          <p:cNvPr id="6" name="Карта" descr="Карта присутствия 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7498080" cy="4114800"/>
          </a:xfrm>
          <a:prstGeom prst="rect">
            <a:avLst/>
          </a:prstGeom>
        </p:spPr>
      </p:pic>
      <p:sp>
        <p:nvSpPr>
          <p:cNvPr id="7" name="Подпись"/>
          <p:cNvSpPr/>
          <p:nvPr/>
        </p:nvSpPr>
        <p:spPr>
          <a:xfrm>
            <a:off x="8503920" y="2103120"/>
            <a:ext cx="2953512" cy="4114800"/>
          </a:xfrm>
          <a:prstGeom prst="roundRect">
            <a:avLst>
              <a:gd name="adj" fmla="val 3715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8823960" y="242316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4437" y="2583637"/>
            <a:ext cx="273406" cy="27340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823960" y="324612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Города России и страны, где работает i’way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823960" y="475488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Мы всё ближе к клиентам и партнёрам по всему миру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1 из 3"/>
          <p:cNvSpPr/>
          <p:nvPr/>
        </p:nvSpPr>
        <p:spPr>
          <a:xfrm>
            <a:off x="731520" y="685800"/>
            <a:ext cx="337870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9215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ВОПРОС 1 ИЗ 3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Какая главная задача отдела HR?</a:t>
            </a:r>
            <a:endParaRPr lang="en-US" sz="3600" dirty="0"/>
          </a:p>
        </p:txBody>
      </p:sp>
      <p:sp>
        <p:nvSpPr>
          <p:cNvPr id="6" name="Вариант A"/>
          <p:cNvSpPr/>
          <p:nvPr/>
        </p:nvSpPr>
        <p:spPr>
          <a:xfrm>
            <a:off x="73152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Буква A"/>
          <p:cNvSpPr/>
          <p:nvPr/>
        </p:nvSpPr>
        <p:spPr>
          <a:xfrm>
            <a:off x="109728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Укомплектованность штата</a:t>
            </a:r>
            <a:endParaRPr lang="en-US" sz="2200" dirty="0"/>
          </a:p>
        </p:txBody>
      </p:sp>
      <p:sp>
        <p:nvSpPr>
          <p:cNvPr id="10" name="Вариант B"/>
          <p:cNvSpPr/>
          <p:nvPr/>
        </p:nvSpPr>
        <p:spPr>
          <a:xfrm>
            <a:off x="626364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Буква B"/>
          <p:cNvSpPr/>
          <p:nvPr/>
        </p:nvSpPr>
        <p:spPr>
          <a:xfrm>
            <a:off x="662940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Создать сильную команду для роста компании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2 из 3"/>
          <p:cNvSpPr/>
          <p:nvPr/>
        </p:nvSpPr>
        <p:spPr>
          <a:xfrm>
            <a:off x="731520" y="685800"/>
            <a:ext cx="337870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9215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ВОПРОС 2 ИЗ 3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Ценность «открытость» — это…</a:t>
            </a:r>
            <a:endParaRPr lang="en-US" sz="3600" dirty="0"/>
          </a:p>
        </p:txBody>
      </p:sp>
      <p:sp>
        <p:nvSpPr>
          <p:cNvPr id="6" name="Вариант A"/>
          <p:cNvSpPr/>
          <p:nvPr/>
        </p:nvSpPr>
        <p:spPr>
          <a:xfrm>
            <a:off x="73152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Буква A"/>
          <p:cNvSpPr/>
          <p:nvPr/>
        </p:nvSpPr>
        <p:spPr>
          <a:xfrm>
            <a:off x="109728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Готовность принимать новое и прислушиваться к потребностям клиентов</a:t>
            </a:r>
            <a:endParaRPr lang="en-US" sz="2200" dirty="0"/>
          </a:p>
        </p:txBody>
      </p:sp>
      <p:sp>
        <p:nvSpPr>
          <p:cNvPr id="10" name="Вариант B"/>
          <p:cNvSpPr/>
          <p:nvPr/>
        </p:nvSpPr>
        <p:spPr>
          <a:xfrm>
            <a:off x="626364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Буква B"/>
          <p:cNvSpPr/>
          <p:nvPr/>
        </p:nvSpPr>
        <p:spPr>
          <a:xfrm>
            <a:off x="662940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Принцип «открытых дверей»: с идеей можно прийти к руководителю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3 из 3"/>
          <p:cNvSpPr/>
          <p:nvPr/>
        </p:nvSpPr>
        <p:spPr>
          <a:xfrm>
            <a:off x="731520" y="685800"/>
            <a:ext cx="337870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9215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ВОПРОС 3 ИЗ 3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Кто в i’way главный?</a:t>
            </a:r>
            <a:endParaRPr lang="en-US" sz="3600" dirty="0"/>
          </a:p>
        </p:txBody>
      </p:sp>
      <p:sp>
        <p:nvSpPr>
          <p:cNvPr id="6" name="Вариант A"/>
          <p:cNvSpPr/>
          <p:nvPr/>
        </p:nvSpPr>
        <p:spPr>
          <a:xfrm>
            <a:off x="73152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Буква A"/>
          <p:cNvSpPr/>
          <p:nvPr/>
        </p:nvSpPr>
        <p:spPr>
          <a:xfrm>
            <a:off x="109728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Клиент</a:t>
            </a:r>
            <a:endParaRPr lang="en-US" sz="2200" dirty="0"/>
          </a:p>
        </p:txBody>
      </p:sp>
      <p:sp>
        <p:nvSpPr>
          <p:cNvPr id="10" name="Вариант B"/>
          <p:cNvSpPr/>
          <p:nvPr/>
        </p:nvSpPr>
        <p:spPr>
          <a:xfrm>
            <a:off x="626364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Буква B"/>
          <p:cNvSpPr/>
          <p:nvPr/>
        </p:nvSpPr>
        <p:spPr>
          <a:xfrm>
            <a:off x="662940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CEO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ответы"/>
          <p:cNvSpPr/>
          <p:nvPr/>
        </p:nvSpPr>
        <p:spPr>
          <a:xfrm>
            <a:off x="731520" y="685800"/>
            <a:ext cx="264261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185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ОТВЕТЫ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Проверяем себя</a:t>
            </a:r>
            <a:endParaRPr lang="en-US" sz="3600" dirty="0"/>
          </a:p>
        </p:txBody>
      </p:sp>
      <p:sp>
        <p:nvSpPr>
          <p:cNvPr id="6" name="Ответ 1"/>
          <p:cNvSpPr/>
          <p:nvPr/>
        </p:nvSpPr>
        <p:spPr>
          <a:xfrm>
            <a:off x="731520" y="2377440"/>
            <a:ext cx="1072865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Номер 1"/>
          <p:cNvSpPr/>
          <p:nvPr/>
        </p:nvSpPr>
        <p:spPr>
          <a:xfrm>
            <a:off x="1005840" y="2578608"/>
            <a:ext cx="603504" cy="603504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2377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Главная задача HR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237744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Создать сильную команду для роста компании</a:t>
            </a:r>
            <a:endParaRPr lang="en-US" sz="2000" dirty="0"/>
          </a:p>
        </p:txBody>
      </p:sp>
      <p:sp>
        <p:nvSpPr>
          <p:cNvPr id="11" name="Ответ 2"/>
          <p:cNvSpPr/>
          <p:nvPr/>
        </p:nvSpPr>
        <p:spPr>
          <a:xfrm>
            <a:off x="731520" y="3566160"/>
            <a:ext cx="1072865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Номер 2"/>
          <p:cNvSpPr/>
          <p:nvPr/>
        </p:nvSpPr>
        <p:spPr>
          <a:xfrm>
            <a:off x="1005840" y="3767328"/>
            <a:ext cx="603504" cy="603504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767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3566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Открытость — это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356616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Готовность принимать новое и слышать клиентов</a:t>
            </a:r>
            <a:endParaRPr lang="en-US" sz="2000" dirty="0"/>
          </a:p>
        </p:txBody>
      </p:sp>
      <p:sp>
        <p:nvSpPr>
          <p:cNvPr id="16" name="Ответ 3"/>
          <p:cNvSpPr/>
          <p:nvPr/>
        </p:nvSpPr>
        <p:spPr>
          <a:xfrm>
            <a:off x="731520" y="4754880"/>
            <a:ext cx="1072865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7" name="Номер 3"/>
          <p:cNvSpPr/>
          <p:nvPr/>
        </p:nvSpPr>
        <p:spPr>
          <a:xfrm>
            <a:off x="1005840" y="4956048"/>
            <a:ext cx="603504" cy="603504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956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2011680" y="4754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Главный в i’way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7548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Клиент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371600" cy="58864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92024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Спасибо!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3832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Мы всегда на связи: пиши, звони или заходи — поможем и подскажем.</a:t>
            </a:r>
            <a:endParaRPr lang="en-US" sz="2200" dirty="0"/>
          </a:p>
        </p:txBody>
      </p:sp>
      <p:sp>
        <p:nvSpPr>
          <p:cNvPr id="5" name="Почта"/>
          <p:cNvSpPr/>
          <p:nvPr/>
        </p:nvSpPr>
        <p:spPr>
          <a:xfrm>
            <a:off x="731520" y="484632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846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84E41"/>
                </a:solidFill>
              </a:rPr>
              <a:t>hr@iway.ru</a:t>
            </a:r>
            <a:endParaRPr lang="en-US" sz="2400" dirty="0"/>
          </a:p>
        </p:txBody>
      </p:sp>
      <p:pic>
        <p:nvPicPr>
          <p:cNvPr id="7" name="Портрет 1" descr="Сотрудник H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822960"/>
            <a:ext cx="2103120" cy="2103120"/>
          </a:xfrm>
          <a:prstGeom prst="rect">
            <a:avLst/>
          </a:prstGeom>
        </p:spPr>
      </p:pic>
      <p:pic>
        <p:nvPicPr>
          <p:cNvPr id="8" name="Портрет 2" descr="Сотрудник H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2103120" cy="2103120"/>
          </a:xfrm>
          <a:prstGeom prst="rect">
            <a:avLst/>
          </a:prstGeom>
        </p:spPr>
      </p:pic>
      <p:pic>
        <p:nvPicPr>
          <p:cNvPr id="9" name="Портрет 3" descr="Сотрудник H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383280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братная связь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ОБРАТНАЯ СВЯЗЬ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2801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84E41"/>
                </a:solidFill>
              </a:rPr>
              <a:t>Поделись обратной связью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A6055"/>
                </a:solidFill>
              </a:rPr>
              <a:t>Нам важно твоё мнение — наведи камеру на QR-код</a:t>
            </a:r>
            <a:endParaRPr lang="en-US" sz="2000" dirty="0"/>
          </a:p>
        </p:txBody>
      </p:sp>
      <p:sp>
        <p:nvSpPr>
          <p:cNvPr id="7" name="Подложка QR"/>
          <p:cNvSpPr/>
          <p:nvPr/>
        </p:nvSpPr>
        <p:spPr>
          <a:xfrm>
            <a:off x="7315200" y="2103120"/>
            <a:ext cx="4142232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8" name="QR-код" descr="QR-к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377440"/>
            <a:ext cx="3593592" cy="3593592"/>
          </a:xfrm>
          <a:prstGeom prst="rect">
            <a:avLst/>
          </a:prstGeom>
        </p:spPr>
      </p:pic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братная связь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ОБРАТНАЯ СВЯЗЬ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2801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84E41"/>
                </a:solidFill>
              </a:rPr>
              <a:t>Оставь оценку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A6055"/>
                </a:solidFill>
              </a:rPr>
              <a:t>Это займёт меньше минуты — спасибо!</a:t>
            </a:r>
            <a:endParaRPr lang="en-US" sz="2000" dirty="0"/>
          </a:p>
        </p:txBody>
      </p:sp>
      <p:sp>
        <p:nvSpPr>
          <p:cNvPr id="7" name="Подложка QR"/>
          <p:cNvSpPr/>
          <p:nvPr/>
        </p:nvSpPr>
        <p:spPr>
          <a:xfrm>
            <a:off x="7315200" y="2103120"/>
            <a:ext cx="4142232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8" name="QR-код" descr="QR-к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377440"/>
            <a:ext cx="3593592" cy="3593592"/>
          </a:xfrm>
          <a:prstGeom prst="rect">
            <a:avLst/>
          </a:prstGeom>
        </p:spPr>
      </p:pic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way HR">
  <a:themeElements>
    <a:clrScheme name="iway HR">
      <a:dk1>
        <a:srgbClr val="484E41"/>
      </a:dk1>
      <a:lt1>
        <a:srgbClr val="FFFFFF"/>
      </a:lt1>
      <a:dk2>
        <a:srgbClr val="5A6055"/>
      </a:dk2>
      <a:lt2>
        <a:srgbClr val="F3F5F1"/>
      </a:lt2>
      <a:accent1>
        <a:srgbClr val="009634"/>
      </a:accent1>
      <a:accent2>
        <a:srgbClr val="484E41"/>
      </a:accent2>
      <a:accent3>
        <a:srgbClr val="007026"/>
      </a:accent3>
      <a:accent4>
        <a:srgbClr val="C9EDDA"/>
      </a:accent4>
      <a:accent5>
        <a:srgbClr val="E4F1E8"/>
      </a:accent5>
      <a:accent6>
        <a:srgbClr val="626D5B"/>
      </a:accent6>
      <a:hlink>
        <a:srgbClr val="007026"/>
      </a:hlink>
      <a:folHlink>
        <a:srgbClr val="626D5B"/>
      </a:folHlink>
    </a:clrScheme>
    <a:fontScheme name="iway HR">
      <a:majorFont>
        <a:latin typeface="Fedra Sans Pro (Основной текст)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edra Sans Pro (Основной текст)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i’way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Отдел HR i’way — знакомство для новых сотрудников</dc:title>
  <dc:subject>PptxGenJS Presentation</dc:subject>
  <dc:creator>HR i’way</dc:creator>
  <cp:lastModifiedBy>HR i’way</cp:lastModifiedBy>
  <cp:revision>1</cp:revision>
  <dcterms:created xsi:type="dcterms:W3CDTF">2026-10-08T03:03:12Z</dcterms:created>
  <dcterms:modified xsi:type="dcterms:W3CDTF">2026-10-08T03:03:12Z</dcterms:modified>
</cp:coreProperties>
</file>