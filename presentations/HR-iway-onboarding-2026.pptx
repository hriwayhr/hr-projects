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embeddedFontLst>
    <p:embeddedFont>
      <p:font typeface="Fedra Sans Pro (Основной текст)"/>
      <p:regular r:id="rIdF0"/>
      <p:bold r:id="rIdF1"/>
      <p:italic r:id="rIdF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F0" Type="http://schemas.openxmlformats.org/officeDocument/2006/relationships/font" Target="fonts/font1.fntdata"/><Relationship Id="rIdF1" Type="http://schemas.openxmlformats.org/officeDocument/2006/relationships/font" Target="fonts/font2.fntdata"/><Relationship Id="rIdF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За 30 минут познакомимся с отделом HR, культурой i’way и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блока: HR, культура, команда. В конце — квиз из трёх вопросов.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Формулировка главной задачи — без изменений.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 каждого: роль и зоны ответственности.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этапов пути сотрудника — как дорожная карта. Дальше подробнее про найм, адаптацию и HR-бренд.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Длина столбцов пропорциональна числам. Данные на 31.12.2025.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Рассказать про welcome-встречу и анкеты. Названия программ оставляем как есть.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Снаружи — как нас видят кандидаты, внутри — как мы живём.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130+ стран, 2 500+ поездок и 600+ аэропортов — из внутренней презентации. Оценка 4,9, офисы в Казахстане, ОАЭ и Индии — по данным Felo-поиска (App Store, блог i’way, Forbes.kz); проверьте актуальность.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внутреннего дашборда. Перед показом широкой аудитории проверьте конфиденциальность цифр.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Даты 2009–2013 — из внутренней презентации; офис в Казахстане (начало 2023, Алматы) — Forbes.kz, по данным Felo-поиска.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Миссия — формулировка без изменений.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Ценности — формулировки из бренд-кода, без изменений.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принципов корпоративной культуры из внутренней презентации, переформулированы дружелюбнее.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Пишем i’way с типографским апострофом (Alt+0146).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Ольги Чикан (операционный директор) был скрыт в исходной презентации, поэтому здесь её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из внутренней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Города России и страны присутствия — по карте.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Правильный ответ: B. Создать сильную команду для роста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Правильный ответ: A. Готовность принимать новое и прислушиваться к потребностям клиентов.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Правильный ответ: A. Клиент.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ошиблись — не страшно: всё это ещё не раз пригодится.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Адрес hr@iway.ru — взят из репозитория HR-портала; проверьте перед показом.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QR-код из исходной презентации.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QR-код из исходной презентации (слайд назывался «Оценка»). Проверьте, куда он ведёт.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2935" y="566928"/>
            <a:ext cx="777240" cy="39211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">
    <p:bg>
      <p:bgPr>
        <a:solidFill>
          <a:srgbClr val="484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069080"/>
            <a:ext cx="6858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инал">
    <p:bg>
      <p:bgPr>
        <a:solidFill>
          <a:srgbClr val="484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" descr="i’w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554480" cy="784233"/>
          </a:xfrm>
          <a:prstGeom prst="rect">
            <a:avLst/>
          </a:prstGeom>
        </p:spPr>
      </p:pic>
      <p:sp>
        <p:nvSpPr>
          <p:cNvPr id="3" name="Тег Знакомство с отделом HR"/>
          <p:cNvSpPr/>
          <p:nvPr/>
        </p:nvSpPr>
        <p:spPr>
          <a:xfrm>
            <a:off x="731520" y="1508760"/>
            <a:ext cx="316839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591056"/>
            <a:ext cx="164592" cy="16459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97280" y="1508760"/>
            <a:ext cx="27111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ЗНАКОМСТВО С ОТДЕЛОМ HR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0116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Привет!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Мы — HR i’way</a:t>
            </a:r>
            <a:endParaRPr lang="en-US" sz="54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251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6055"/>
                </a:solidFill>
              </a:rPr>
              <a:t>Чем занимаемся, как живёт компания и почему здесь классно работать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5577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84E41"/>
                </a:solidFill>
              </a:rPr>
              <a:t>Юлия Немчинова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Руководитель HR-отдела</a:t>
            </a:r>
            <a:endParaRPr lang="en-US" sz="1600" dirty="0"/>
          </a:p>
        </p:txBody>
      </p:sp>
      <p:pic>
        <p:nvPicPr>
          <p:cNvPr id="9" name="Фото" descr="Девушка на фоне город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640080"/>
            <a:ext cx="4846320" cy="557784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План встречи"/>
          <p:cNvSpPr/>
          <p:nvPr/>
        </p:nvSpPr>
        <p:spPr>
          <a:xfrm>
            <a:off x="731520" y="68580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ПЛАН ВСТРЕЧИ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 нас ждёт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Расскажем о трёх вещах — и закончим мини-квизом, чтобы проверить, что запомнилось.</a:t>
            </a:r>
            <a:endParaRPr lang="en-US" sz="1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926080"/>
            <a:ext cx="10728655" cy="2651760"/>
            <a:chOff x="731520" y="2926080"/>
            <a:chExt cx="10728655" cy="2651760"/>
          </a:xfrm>
        </p:grpSpPr>
        <p:sp>
          <p:nvSpPr>
            <p:cNvPr id="7" name="Блок Отдел HR"/>
            <p:cNvSpPr/>
            <p:nvPr/>
          </p:nvSpPr>
          <p:spPr>
            <a:xfrm>
              <a:off x="731520" y="2926080"/>
              <a:ext cx="3429000" cy="2651760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1051560" y="3246120"/>
              <a:ext cx="640080" cy="64008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4382" y="3418942"/>
              <a:ext cx="294437" cy="294437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3063240" y="3246120"/>
              <a:ext cx="7772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2800" b="1" dirty="0">
                  <a:solidFill>
                    <a:srgbClr val="B9BFB1"/>
                  </a:solidFill>
                </a:rPr>
                <a:t>01</a:t>
              </a:r>
              <a:endParaRPr lang="en-US" sz="28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1051560" y="4114800"/>
              <a:ext cx="2788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200" b="1" dirty="0">
                  <a:solidFill>
                    <a:srgbClr val="484E41"/>
                  </a:solidFill>
                </a:rPr>
                <a:t>Отдел HR</a:t>
              </a:r>
              <a:endParaRPr lang="en-US" sz="22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1051560" y="4617720"/>
              <a:ext cx="27889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Кто мы и как заботимся о тебе на каждом этапе пути</a:t>
              </a:r>
              <a:endParaRPr lang="en-US" sz="1500" dirty="0"/>
            </a:p>
          </p:txBody>
        </p:sp>
        <p:sp>
          <p:nvSpPr>
            <p:cNvPr id="13" name="Блок Культура i’way"/>
            <p:cNvSpPr/>
            <p:nvPr/>
          </p:nvSpPr>
          <p:spPr>
            <a:xfrm>
              <a:off x="4381348" y="2926080"/>
              <a:ext cx="3429000" cy="2651760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4" name="Иконка"/>
            <p:cNvSpPr/>
            <p:nvPr/>
          </p:nvSpPr>
          <p:spPr>
            <a:xfrm>
              <a:off x="4701388" y="3246120"/>
              <a:ext cx="640080" cy="64008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5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4209" y="3418942"/>
              <a:ext cx="294437" cy="294437"/>
            </a:xfrm>
            <a:prstGeom prst="rect">
              <a:avLst/>
            </a:prstGeom>
          </p:spPr>
        </p:pic>
        <p:sp>
          <p:nvSpPr>
            <p:cNvPr id="16" name="Text 11"/>
            <p:cNvSpPr txBox="1"/>
            <p:nvPr/>
          </p:nvSpPr>
          <p:spPr>
            <a:xfrm>
              <a:off x="6713068" y="3246120"/>
              <a:ext cx="7772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2800" b="1" dirty="0">
                  <a:solidFill>
                    <a:srgbClr val="B9BFB1"/>
                  </a:solidFill>
                </a:rPr>
                <a:t>02</a:t>
              </a:r>
              <a:endParaRPr lang="en-US" sz="2800" dirty="0"/>
            </a:p>
          </p:txBody>
        </p:sp>
        <p:sp>
          <p:nvSpPr>
            <p:cNvPr id="17" name="Text 12"/>
            <p:cNvSpPr txBox="1"/>
            <p:nvPr/>
          </p:nvSpPr>
          <p:spPr>
            <a:xfrm>
              <a:off x="4701388" y="4114800"/>
              <a:ext cx="2788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200" b="1" dirty="0">
                  <a:solidFill>
                    <a:srgbClr val="484E41"/>
                  </a:solidFill>
                </a:rPr>
                <a:t>Культура i’way</a:t>
              </a:r>
              <a:endParaRPr lang="en-US" sz="2200" dirty="0"/>
            </a:p>
          </p:txBody>
        </p:sp>
        <p:sp>
          <p:nvSpPr>
            <p:cNvPr id="18" name="Text 13"/>
            <p:cNvSpPr txBox="1"/>
            <p:nvPr/>
          </p:nvSpPr>
          <p:spPr>
            <a:xfrm>
              <a:off x="4701388" y="4617720"/>
              <a:ext cx="27889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Миссия, ценности и наши правила игры</a:t>
              </a:r>
              <a:endParaRPr lang="en-US" sz="1500" dirty="0"/>
            </a:p>
          </p:txBody>
        </p:sp>
        <p:sp>
          <p:nvSpPr>
            <p:cNvPr id="19" name="Блок Команда i’way"/>
            <p:cNvSpPr/>
            <p:nvPr/>
          </p:nvSpPr>
          <p:spPr>
            <a:xfrm>
              <a:off x="8031175" y="2926080"/>
              <a:ext cx="3429000" cy="2651760"/>
            </a:xfrm>
            <a:prstGeom prst="roundRect">
              <a:avLst>
                <a:gd name="adj" fmla="val 4138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0" name="Иконка"/>
            <p:cNvSpPr/>
            <p:nvPr/>
          </p:nvSpPr>
          <p:spPr>
            <a:xfrm>
              <a:off x="8351215" y="3246120"/>
              <a:ext cx="640080" cy="64008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1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24037" y="3418942"/>
              <a:ext cx="294437" cy="294437"/>
            </a:xfrm>
            <a:prstGeom prst="rect">
              <a:avLst/>
            </a:prstGeom>
          </p:spPr>
        </p:pic>
        <p:sp>
          <p:nvSpPr>
            <p:cNvPr id="22" name="Text 16"/>
            <p:cNvSpPr txBox="1"/>
            <p:nvPr/>
          </p:nvSpPr>
          <p:spPr>
            <a:xfrm>
              <a:off x="10362895" y="3246120"/>
              <a:ext cx="7772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2800" b="1" dirty="0">
                  <a:solidFill>
                    <a:srgbClr val="B9BFB1"/>
                  </a:solidFill>
                </a:rPr>
                <a:t>03</a:t>
              </a:r>
              <a:endParaRPr lang="en-US" sz="2800" dirty="0"/>
            </a:p>
          </p:txBody>
        </p:sp>
        <p:sp>
          <p:nvSpPr>
            <p:cNvPr id="23" name="Text 17"/>
            <p:cNvSpPr txBox="1"/>
            <p:nvPr/>
          </p:nvSpPr>
          <p:spPr>
            <a:xfrm>
              <a:off x="8351215" y="4114800"/>
              <a:ext cx="27889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200" b="1" dirty="0">
                  <a:solidFill>
                    <a:srgbClr val="484E41"/>
                  </a:solidFill>
                </a:rPr>
                <a:t>Команда i’way</a:t>
              </a:r>
              <a:endParaRPr lang="en-US" sz="2200" dirty="0"/>
            </a:p>
          </p:txBody>
        </p:sp>
        <p:sp>
          <p:nvSpPr>
            <p:cNvPr id="24" name="Text 18"/>
            <p:cNvSpPr txBox="1"/>
            <p:nvPr/>
          </p:nvSpPr>
          <p:spPr>
            <a:xfrm>
              <a:off x="8351215" y="4617720"/>
              <a:ext cx="27889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Руководство, коллеги и цифры, которыми мы гордимся</a:t>
              </a:r>
              <a:endParaRPr lang="en-US" sz="15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C9EDDA"/>
                </a:solidFill>
              </a:rPr>
              <a:t>01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069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Отдел HR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EDDA"/>
                </a:solidFill>
              </a:rPr>
              <a:t>Кто мы и чем занимаемся</a:t>
            </a:r>
            <a:endParaRPr lang="en-US" sz="2200" dirty="0"/>
          </a:p>
        </p:txBody>
      </p:sp>
      <p:sp>
        <p:nvSpPr>
          <p:cNvPr id="5" name="Круг"/>
          <p:cNvSpPr/>
          <p:nvPr/>
        </p:nvSpPr>
        <p:spPr>
          <a:xfrm>
            <a:off x="7863840" y="1554480"/>
            <a:ext cx="3291840" cy="3291840"/>
          </a:xfrm>
          <a:prstGeom prst="ellipse">
            <a:avLst/>
          </a:prstGeom>
          <a:solidFill>
            <a:srgbClr val="484E41"/>
          </a:solidFill>
          <a:ln w="25400">
            <a:solidFill>
              <a:srgbClr val="C9ED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606040"/>
            <a:ext cx="1188720" cy="1188720"/>
          </a:xfrm>
          <a:prstGeom prst="rect">
            <a:avLst/>
          </a:prstGeom>
        </p:spPr>
      </p:pic>
      <p:pic>
        <p:nvPicPr>
          <p:cNvPr id="7" name="Логотип" descr="i’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40080"/>
            <a:ext cx="1097280" cy="47091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Отдел HR"/>
          <p:cNvSpPr/>
          <p:nvPr/>
        </p:nvSpPr>
        <p:spPr>
          <a:xfrm>
            <a:off x="731520" y="685800"/>
            <a:ext cx="159105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ОТДЕЛ HR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Главная задача отдела HR</a:t>
            </a:r>
            <a:endParaRPr lang="en-US" sz="3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286000"/>
            <a:ext cx="10725912" cy="3657600"/>
            <a:chOff x="731520" y="2286000"/>
            <a:chExt cx="10725912" cy="3657600"/>
          </a:xfrm>
        </p:grpSpPr>
        <p:sp>
          <p:nvSpPr>
            <p:cNvPr id="6" name="Text 3"/>
            <p:cNvSpPr txBox="1"/>
            <p:nvPr/>
          </p:nvSpPr>
          <p:spPr>
            <a:xfrm>
              <a:off x="731520" y="2286000"/>
              <a:ext cx="6949440" cy="3657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000" dirty="0">
                  <a:solidFill>
                    <a:srgbClr val="484E41"/>
                  </a:solidFill>
                </a:rPr>
                <a:t>Создать такую экосистему внутри компании, где таланты могут </a:t>
              </a:r>
              <a:pPr indent="0" marL="0">
                <a:buNone/>
              </a:pPr>
              <a:r>
                <a:rPr lang="en-US" sz="3000" b="1" dirty="0">
                  <a:solidFill>
                    <a:srgbClr val="009634"/>
                  </a:solidFill>
                </a:rPr>
                <a:t>раскрываться</a:t>
              </a:r>
              <a:pPr indent="0" marL="0">
                <a:buNone/>
              </a:pPr>
              <a:r>
                <a:rPr lang="en-US" sz="3000" dirty="0">
                  <a:solidFill>
                    <a:srgbClr val="484E41"/>
                  </a:solidFill>
                </a:rPr>
                <a:t>, а бизнес — </a:t>
              </a:r>
              <a:pPr indent="0" marL="0">
                <a:buNone/>
              </a:pPr>
              <a:r>
                <a:rPr lang="en-US" sz="3000" b="1" dirty="0">
                  <a:solidFill>
                    <a:srgbClr val="009634"/>
                  </a:solidFill>
                </a:rPr>
                <a:t>расти</a:t>
              </a:r>
              <a:pPr indent="0" marL="0">
                <a:buNone/>
              </a:pPr>
              <a:r>
                <a:rPr lang="en-US" sz="3000" dirty="0">
                  <a:solidFill>
                    <a:srgbClr val="484E41"/>
                  </a:solidFill>
                </a:rPr>
                <a:t> благодаря слаженной и эффективной работе всей команды.</a:t>
              </a:r>
              <a:endParaRPr lang="en-US" sz="3000" dirty="0"/>
            </a:p>
          </p:txBody>
        </p:sp>
        <p:sp>
          <p:nvSpPr>
            <p:cNvPr id="7" name="Карточка Таланты раскрываются"/>
            <p:cNvSpPr/>
            <p:nvPr/>
          </p:nvSpPr>
          <p:spPr>
            <a:xfrm>
              <a:off x="8183880" y="2286000"/>
              <a:ext cx="3273552" cy="1737360"/>
            </a:xfrm>
            <a:prstGeom prst="roundRect">
              <a:avLst>
                <a:gd name="adj" fmla="val 631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8458200" y="2560320"/>
              <a:ext cx="548640" cy="54864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06333" y="2708453"/>
              <a:ext cx="252374" cy="252374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9189720" y="256032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Таланты раскрываются</a:t>
              </a:r>
              <a:endParaRPr lang="en-US" sz="17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8458200" y="3246120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Помогаем каждому найти своё место и расти</a:t>
              </a:r>
              <a:endParaRPr lang="en-US" sz="1400" dirty="0"/>
            </a:p>
          </p:txBody>
        </p:sp>
        <p:sp>
          <p:nvSpPr>
            <p:cNvPr id="12" name="Карточка Бизнес растёт"/>
            <p:cNvSpPr/>
            <p:nvPr/>
          </p:nvSpPr>
          <p:spPr>
            <a:xfrm>
              <a:off x="8183880" y="4206240"/>
              <a:ext cx="3273552" cy="1737360"/>
            </a:xfrm>
            <a:prstGeom prst="roundRect">
              <a:avLst>
                <a:gd name="adj" fmla="val 631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3" name="Иконка"/>
            <p:cNvSpPr/>
            <p:nvPr/>
          </p:nvSpPr>
          <p:spPr>
            <a:xfrm>
              <a:off x="8458200" y="4480560"/>
              <a:ext cx="548640" cy="54864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4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06333" y="4628693"/>
              <a:ext cx="252374" cy="252374"/>
            </a:xfrm>
            <a:prstGeom prst="rect">
              <a:avLst/>
            </a:prstGeom>
          </p:spPr>
        </p:pic>
        <p:sp>
          <p:nvSpPr>
            <p:cNvPr id="15" name="Text 10"/>
            <p:cNvSpPr txBox="1"/>
            <p:nvPr/>
          </p:nvSpPr>
          <p:spPr>
            <a:xfrm>
              <a:off x="9189720" y="4480560"/>
              <a:ext cx="21031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Бизнес растёт</a:t>
              </a:r>
              <a:endParaRPr lang="en-US" sz="1700" dirty="0"/>
            </a:p>
          </p:txBody>
        </p:sp>
        <p:sp>
          <p:nvSpPr>
            <p:cNvPr id="16" name="Text 11"/>
            <p:cNvSpPr txBox="1"/>
            <p:nvPr/>
          </p:nvSpPr>
          <p:spPr>
            <a:xfrm>
              <a:off x="8458200" y="5166360"/>
              <a:ext cx="2743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Сильная команда — сильная компания</a:t>
              </a:r>
              <a:endParaRPr lang="en-US" sz="14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Отдел HR"/>
          <p:cNvSpPr/>
          <p:nvPr/>
        </p:nvSpPr>
        <p:spPr>
          <a:xfrm>
            <a:off x="731520" y="685800"/>
            <a:ext cx="159105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ОТДЕЛ HR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Знакомьтесь: команда HR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Мы всегда рядом: пишите и заходите в любое время — будем рады поговорить.</a:t>
            </a:r>
            <a:endParaRPr lang="en-US" sz="1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606040"/>
            <a:ext cx="10728655" cy="3611880"/>
            <a:chOff x="731520" y="2606040"/>
            <a:chExt cx="10728655" cy="3611880"/>
          </a:xfrm>
        </p:grpSpPr>
        <p:sp>
          <p:nvSpPr>
            <p:cNvPr id="7" name="Карточка Юлия Немчинова"/>
            <p:cNvSpPr/>
            <p:nvPr/>
          </p:nvSpPr>
          <p:spPr>
            <a:xfrm>
              <a:off x="731520" y="2606040"/>
              <a:ext cx="3429000" cy="361188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8" name="Юлия Немчинова" descr="Юлия Немчинова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788920"/>
              <a:ext cx="3063240" cy="2286000"/>
            </a:xfrm>
            <a:prstGeom prst="rect">
              <a:avLst/>
            </a:prstGeom>
          </p:spPr>
        </p:pic>
        <p:sp>
          <p:nvSpPr>
            <p:cNvPr id="9" name="Text 5"/>
            <p:cNvSpPr txBox="1"/>
            <p:nvPr/>
          </p:nvSpPr>
          <p:spPr>
            <a:xfrm>
              <a:off x="1005840" y="5303520"/>
              <a:ext cx="2880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Юлия Немчинова</a:t>
              </a:r>
              <a:endParaRPr lang="en-US" sz="2000" dirty="0"/>
            </a:p>
          </p:txBody>
        </p:sp>
        <p:sp>
          <p:nvSpPr>
            <p:cNvPr id="10" name="Text 6"/>
            <p:cNvSpPr txBox="1"/>
            <p:nvPr/>
          </p:nvSpPr>
          <p:spPr>
            <a:xfrm>
              <a:off x="1005840" y="5715000"/>
              <a:ext cx="2880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Руководитель отдела HR</a:t>
              </a:r>
              <a:endParaRPr lang="en-US" sz="1500" dirty="0"/>
            </a:p>
          </p:txBody>
        </p:sp>
        <p:sp>
          <p:nvSpPr>
            <p:cNvPr id="11" name="Карточка Анна Шулятицкая"/>
            <p:cNvSpPr/>
            <p:nvPr/>
          </p:nvSpPr>
          <p:spPr>
            <a:xfrm>
              <a:off x="4381348" y="2606040"/>
              <a:ext cx="3429000" cy="361188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2" name="Анна Шулятицкая" descr="Анна Шулятицкая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4228" y="2788920"/>
              <a:ext cx="3063240" cy="2286000"/>
            </a:xfrm>
            <a:prstGeom prst="rect">
              <a:avLst/>
            </a:prstGeom>
          </p:spPr>
        </p:pic>
        <p:sp>
          <p:nvSpPr>
            <p:cNvPr id="13" name="Text 8"/>
            <p:cNvSpPr txBox="1"/>
            <p:nvPr/>
          </p:nvSpPr>
          <p:spPr>
            <a:xfrm>
              <a:off x="4655668" y="5303520"/>
              <a:ext cx="2880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Анна Шулятицкая</a:t>
              </a:r>
              <a:endParaRPr lang="en-US" sz="2000" dirty="0"/>
            </a:p>
          </p:txBody>
        </p:sp>
        <p:sp>
          <p:nvSpPr>
            <p:cNvPr id="14" name="Text 9"/>
            <p:cNvSpPr txBox="1"/>
            <p:nvPr/>
          </p:nvSpPr>
          <p:spPr>
            <a:xfrm>
              <a:off x="4655668" y="5715000"/>
              <a:ext cx="2880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Ведущий HR-специалист</a:t>
              </a:r>
              <a:endParaRPr lang="en-US" sz="1500" dirty="0"/>
            </a:p>
          </p:txBody>
        </p:sp>
        <p:sp>
          <p:nvSpPr>
            <p:cNvPr id="15" name="Карточка Елена Таратынова"/>
            <p:cNvSpPr/>
            <p:nvPr/>
          </p:nvSpPr>
          <p:spPr>
            <a:xfrm>
              <a:off x="8031175" y="2606040"/>
              <a:ext cx="3429000" cy="361188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6" name="Елена Таратынова" descr="Елена Таратынова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14055" y="2788920"/>
              <a:ext cx="3063240" cy="2286000"/>
            </a:xfrm>
            <a:prstGeom prst="rect">
              <a:avLst/>
            </a:prstGeom>
          </p:spPr>
        </p:pic>
        <p:sp>
          <p:nvSpPr>
            <p:cNvPr id="17" name="Text 11"/>
            <p:cNvSpPr txBox="1"/>
            <p:nvPr/>
          </p:nvSpPr>
          <p:spPr>
            <a:xfrm>
              <a:off x="8305495" y="5303520"/>
              <a:ext cx="2880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Елена Таратынова</a:t>
              </a:r>
              <a:endParaRPr lang="en-US" sz="2000" dirty="0"/>
            </a:p>
          </p:txBody>
        </p:sp>
        <p:sp>
          <p:nvSpPr>
            <p:cNvPr id="18" name="Text 12"/>
            <p:cNvSpPr txBox="1"/>
            <p:nvPr/>
          </p:nvSpPr>
          <p:spPr>
            <a:xfrm>
              <a:off x="8305495" y="5715000"/>
              <a:ext cx="2880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Офис-менеджер</a:t>
              </a:r>
              <a:endParaRPr lang="en-US" sz="15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Employee Journey Map"/>
          <p:cNvSpPr/>
          <p:nvPr/>
        </p:nvSpPr>
        <p:spPr>
          <a:xfrm>
            <a:off x="731520" y="685800"/>
            <a:ext cx="2852928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EMPLOYEE JOURNEY MAP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Мы рядом на всём твоём пути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Дорожная карта сотрудника: на каждом этапе у нас есть, чем помочь.</a:t>
            </a:r>
            <a:endParaRPr lang="en-US" sz="1600" dirty="0"/>
          </a:p>
        </p:txBody>
      </p:sp>
      <p:grpSp>
        <p:nvGrpSpPr>
          <p:cNvPr id="51" name="Основной блок"/>
          <p:cNvGrpSpPr/>
          <p:nvPr/>
        </p:nvGrpSpPr>
        <p:grpSpPr>
          <a:xfrm>
            <a:off x="731520" y="2514600"/>
            <a:ext cx="10728655" cy="3474720"/>
            <a:chOff x="731520" y="2514600"/>
            <a:chExt cx="10728655" cy="3474720"/>
          </a:xfrm>
        </p:grpSpPr>
        <p:sp>
          <p:nvSpPr>
            <p:cNvPr id="7" name="Дорога"/>
            <p:cNvSpPr/>
            <p:nvPr/>
          </p:nvSpPr>
          <p:spPr>
            <a:xfrm>
              <a:off x="731520" y="4114800"/>
              <a:ext cx="10728655" cy="201168"/>
            </a:xfrm>
            <a:prstGeom prst="roundRect">
              <a:avLst>
                <a:gd name="adj" fmla="val 50000"/>
              </a:avLst>
            </a:prstGeom>
            <a:solidFill>
              <a:srgbClr val="E3E6DD"/>
            </a:solidFill>
            <a:ln w="12700">
              <a:solidFill>
                <a:srgbClr val="E3E6DD"/>
              </a:solidFill>
              <a:prstDash val="solid"/>
            </a:ln>
          </p:spPr>
        </p:sp>
        <p:sp>
          <p:nvSpPr>
            <p:cNvPr id="8" name="Разметка"/>
            <p:cNvSpPr/>
            <p:nvPr/>
          </p:nvSpPr>
          <p:spPr>
            <a:xfrm>
              <a:off x="914400" y="4215384"/>
              <a:ext cx="10362895" cy="0"/>
            </a:xfrm>
            <a:prstGeom prst="line">
              <a:avLst/>
            </a:prstGeom>
            <a:noFill/>
            <a:ln w="15875">
              <a:solidFill>
                <a:srgbClr val="9AA392"/>
              </a:solidFill>
              <a:prstDash val="dash"/>
            </a:ln>
          </p:spPr>
        </p:sp>
        <p:sp>
          <p:nvSpPr>
            <p:cNvPr id="9" name="Этап Найм"/>
            <p:cNvSpPr/>
            <p:nvPr/>
          </p:nvSpPr>
          <p:spPr>
            <a:xfrm>
              <a:off x="731520" y="2514600"/>
              <a:ext cx="283464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0" name="Text 7"/>
            <p:cNvSpPr txBox="1"/>
            <p:nvPr/>
          </p:nvSpPr>
          <p:spPr>
            <a:xfrm>
              <a:off x="960120" y="2697480"/>
              <a:ext cx="457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9634"/>
                  </a:solidFill>
                </a:rPr>
                <a:t>01</a:t>
              </a:r>
              <a:endParaRPr lang="en-US" sz="1400" dirty="0"/>
            </a:p>
          </p:txBody>
        </p:sp>
        <p:sp>
          <p:nvSpPr>
            <p:cNvPr id="11" name="Text 8"/>
            <p:cNvSpPr txBox="1"/>
            <p:nvPr/>
          </p:nvSpPr>
          <p:spPr>
            <a:xfrm>
              <a:off x="1417320" y="269748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Найм</a:t>
              </a:r>
              <a:endParaRPr lang="en-US" sz="1700" dirty="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960120" y="3136392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Знакомимся и зовём в команду</a:t>
              </a:r>
              <a:endParaRPr lang="en-US" sz="1400" dirty="0"/>
            </a:p>
          </p:txBody>
        </p:sp>
        <p:sp>
          <p:nvSpPr>
            <p:cNvPr id="13" name="Выноска 1"/>
            <p:cNvSpPr/>
            <p:nvPr/>
          </p:nvSpPr>
          <p:spPr>
            <a:xfrm>
              <a:off x="2148840" y="3703320"/>
              <a:ext cx="0" cy="182880"/>
            </a:xfrm>
            <a:prstGeom prst="line">
              <a:avLst/>
            </a:prstGeom>
            <a:noFill/>
            <a:ln w="15875">
              <a:solidFill>
                <a:srgbClr val="484E41"/>
              </a:solidFill>
              <a:prstDash val="solid"/>
            </a:ln>
          </p:spPr>
        </p:sp>
        <p:sp>
          <p:nvSpPr>
            <p:cNvPr id="14" name="Веха Найм"/>
            <p:cNvSpPr/>
            <p:nvPr/>
          </p:nvSpPr>
          <p:spPr>
            <a:xfrm>
              <a:off x="1819656" y="3886200"/>
              <a:ext cx="658368" cy="658368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5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7415" y="4063959"/>
              <a:ext cx="302849" cy="302849"/>
            </a:xfrm>
            <a:prstGeom prst="rect">
              <a:avLst/>
            </a:prstGeom>
          </p:spPr>
        </p:pic>
        <p:sp>
          <p:nvSpPr>
            <p:cNvPr id="16" name="Этап Адаптация"/>
            <p:cNvSpPr/>
            <p:nvPr/>
          </p:nvSpPr>
          <p:spPr>
            <a:xfrm>
              <a:off x="2310323" y="4800600"/>
              <a:ext cx="283464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7" name="Text 13"/>
            <p:cNvSpPr txBox="1"/>
            <p:nvPr/>
          </p:nvSpPr>
          <p:spPr>
            <a:xfrm>
              <a:off x="2538923" y="4983480"/>
              <a:ext cx="457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9634"/>
                  </a:solidFill>
                </a:rPr>
                <a:t>02</a:t>
              </a:r>
              <a:endParaRPr lang="en-US" sz="1400" dirty="0"/>
            </a:p>
          </p:txBody>
        </p:sp>
        <p:sp>
          <p:nvSpPr>
            <p:cNvPr id="18" name="Text 14"/>
            <p:cNvSpPr txBox="1"/>
            <p:nvPr/>
          </p:nvSpPr>
          <p:spPr>
            <a:xfrm>
              <a:off x="2996123" y="498348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Адаптация</a:t>
              </a:r>
              <a:endParaRPr lang="en-US" sz="1700" dirty="0"/>
            </a:p>
          </p:txBody>
        </p:sp>
        <p:sp>
          <p:nvSpPr>
            <p:cNvPr id="19" name="Text 15"/>
            <p:cNvSpPr txBox="1"/>
            <p:nvPr/>
          </p:nvSpPr>
          <p:spPr>
            <a:xfrm>
              <a:off x="2538923" y="5422392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Помогаем влиться и освоиться</a:t>
              </a:r>
              <a:endParaRPr lang="en-US" sz="1400" dirty="0"/>
            </a:p>
          </p:txBody>
        </p:sp>
        <p:sp>
          <p:nvSpPr>
            <p:cNvPr id="20" name="Выноска 2"/>
            <p:cNvSpPr/>
            <p:nvPr/>
          </p:nvSpPr>
          <p:spPr>
            <a:xfrm>
              <a:off x="3727643" y="4544568"/>
              <a:ext cx="0" cy="256032"/>
            </a:xfrm>
            <a:prstGeom prst="line">
              <a:avLst/>
            </a:prstGeom>
            <a:noFill/>
            <a:ln w="15875">
              <a:solidFill>
                <a:srgbClr val="484E41"/>
              </a:solidFill>
              <a:prstDash val="solid"/>
            </a:ln>
          </p:spPr>
        </p:sp>
        <p:sp>
          <p:nvSpPr>
            <p:cNvPr id="21" name="Веха Адаптация"/>
            <p:cNvSpPr/>
            <p:nvPr/>
          </p:nvSpPr>
          <p:spPr>
            <a:xfrm>
              <a:off x="3398459" y="3886200"/>
              <a:ext cx="658368" cy="658368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2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6218" y="4063959"/>
              <a:ext cx="302849" cy="302849"/>
            </a:xfrm>
            <a:prstGeom prst="rect">
              <a:avLst/>
            </a:prstGeom>
          </p:spPr>
        </p:pic>
        <p:sp>
          <p:nvSpPr>
            <p:cNvPr id="23" name="Этап Вовлечённость"/>
            <p:cNvSpPr/>
            <p:nvPr/>
          </p:nvSpPr>
          <p:spPr>
            <a:xfrm>
              <a:off x="3889126" y="2514600"/>
              <a:ext cx="283464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4" name="Text 19"/>
            <p:cNvSpPr txBox="1"/>
            <p:nvPr/>
          </p:nvSpPr>
          <p:spPr>
            <a:xfrm>
              <a:off x="4117726" y="2697480"/>
              <a:ext cx="457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9634"/>
                  </a:solidFill>
                </a:rPr>
                <a:t>03</a:t>
              </a:r>
              <a:endParaRPr lang="en-US" sz="14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4574926" y="269748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Вовлечённость</a:t>
              </a:r>
              <a:endParaRPr lang="en-US" sz="1700" dirty="0"/>
            </a:p>
          </p:txBody>
        </p:sp>
        <p:sp>
          <p:nvSpPr>
            <p:cNvPr id="26" name="Text 21"/>
            <p:cNvSpPr txBox="1"/>
            <p:nvPr/>
          </p:nvSpPr>
          <p:spPr>
            <a:xfrm>
              <a:off x="4117726" y="3136392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Чтобы было интересно и тепло</a:t>
              </a:r>
              <a:endParaRPr lang="en-US" sz="1400" dirty="0"/>
            </a:p>
          </p:txBody>
        </p:sp>
        <p:sp>
          <p:nvSpPr>
            <p:cNvPr id="27" name="Выноска 3"/>
            <p:cNvSpPr/>
            <p:nvPr/>
          </p:nvSpPr>
          <p:spPr>
            <a:xfrm>
              <a:off x="5306446" y="3703320"/>
              <a:ext cx="0" cy="182880"/>
            </a:xfrm>
            <a:prstGeom prst="line">
              <a:avLst/>
            </a:prstGeom>
            <a:noFill/>
            <a:ln w="15875">
              <a:solidFill>
                <a:srgbClr val="484E41"/>
              </a:solidFill>
              <a:prstDash val="solid"/>
            </a:ln>
          </p:spPr>
        </p:sp>
        <p:sp>
          <p:nvSpPr>
            <p:cNvPr id="28" name="Веха Вовлечённость"/>
            <p:cNvSpPr/>
            <p:nvPr/>
          </p:nvSpPr>
          <p:spPr>
            <a:xfrm>
              <a:off x="4977262" y="3886200"/>
              <a:ext cx="658368" cy="658368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9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55021" y="4063959"/>
              <a:ext cx="302849" cy="302849"/>
            </a:xfrm>
            <a:prstGeom prst="rect">
              <a:avLst/>
            </a:prstGeom>
          </p:spPr>
        </p:pic>
        <p:sp>
          <p:nvSpPr>
            <p:cNvPr id="30" name="Этап Обучение"/>
            <p:cNvSpPr/>
            <p:nvPr/>
          </p:nvSpPr>
          <p:spPr>
            <a:xfrm>
              <a:off x="5467929" y="4800600"/>
              <a:ext cx="283464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31" name="Text 25"/>
            <p:cNvSpPr txBox="1"/>
            <p:nvPr/>
          </p:nvSpPr>
          <p:spPr>
            <a:xfrm>
              <a:off x="5696529" y="4983480"/>
              <a:ext cx="457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9634"/>
                  </a:solidFill>
                </a:rPr>
                <a:t>04</a:t>
              </a:r>
              <a:endParaRPr lang="en-US" sz="1400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6153729" y="498348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Обучение</a:t>
              </a:r>
              <a:endParaRPr lang="en-US" sz="17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5696529" y="5422392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Делимся знаниями и навыками</a:t>
              </a:r>
              <a:endParaRPr lang="en-US" sz="1400" dirty="0"/>
            </a:p>
          </p:txBody>
        </p:sp>
        <p:sp>
          <p:nvSpPr>
            <p:cNvPr id="34" name="Выноска 4"/>
            <p:cNvSpPr/>
            <p:nvPr/>
          </p:nvSpPr>
          <p:spPr>
            <a:xfrm>
              <a:off x="6885249" y="4544568"/>
              <a:ext cx="0" cy="256032"/>
            </a:xfrm>
            <a:prstGeom prst="line">
              <a:avLst/>
            </a:prstGeom>
            <a:noFill/>
            <a:ln w="15875">
              <a:solidFill>
                <a:srgbClr val="484E41"/>
              </a:solidFill>
              <a:prstDash val="solid"/>
            </a:ln>
          </p:spPr>
        </p:sp>
        <p:sp>
          <p:nvSpPr>
            <p:cNvPr id="35" name="Веха Обучение"/>
            <p:cNvSpPr/>
            <p:nvPr/>
          </p:nvSpPr>
          <p:spPr>
            <a:xfrm>
              <a:off x="6556065" y="3886200"/>
              <a:ext cx="658368" cy="658368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36" name="Image 4" descr="preencoded.png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3824" y="4063959"/>
              <a:ext cx="302849" cy="302849"/>
            </a:xfrm>
            <a:prstGeom prst="rect">
              <a:avLst/>
            </a:prstGeom>
          </p:spPr>
        </p:pic>
        <p:sp>
          <p:nvSpPr>
            <p:cNvPr id="37" name="Этап Рост и развитие"/>
            <p:cNvSpPr/>
            <p:nvPr/>
          </p:nvSpPr>
          <p:spPr>
            <a:xfrm>
              <a:off x="7046732" y="2514600"/>
              <a:ext cx="283464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38" name="Text 31"/>
            <p:cNvSpPr txBox="1"/>
            <p:nvPr/>
          </p:nvSpPr>
          <p:spPr>
            <a:xfrm>
              <a:off x="7275332" y="2697480"/>
              <a:ext cx="457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9634"/>
                  </a:solidFill>
                </a:rPr>
                <a:t>05</a:t>
              </a:r>
              <a:endParaRPr lang="en-US" sz="1400" dirty="0"/>
            </a:p>
          </p:txBody>
        </p:sp>
        <p:sp>
          <p:nvSpPr>
            <p:cNvPr id="39" name="Text 32"/>
            <p:cNvSpPr txBox="1"/>
            <p:nvPr/>
          </p:nvSpPr>
          <p:spPr>
            <a:xfrm>
              <a:off x="7732532" y="269748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Рост и развитие</a:t>
              </a:r>
              <a:endParaRPr lang="en-US" sz="1700" dirty="0"/>
            </a:p>
          </p:txBody>
        </p:sp>
        <p:sp>
          <p:nvSpPr>
            <p:cNvPr id="40" name="Text 33"/>
            <p:cNvSpPr txBox="1"/>
            <p:nvPr/>
          </p:nvSpPr>
          <p:spPr>
            <a:xfrm>
              <a:off x="7275332" y="3136392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Двигаемся вперёд вместе</a:t>
              </a:r>
              <a:endParaRPr lang="en-US" sz="1400" dirty="0"/>
            </a:p>
          </p:txBody>
        </p:sp>
        <p:sp>
          <p:nvSpPr>
            <p:cNvPr id="41" name="Выноска 5"/>
            <p:cNvSpPr/>
            <p:nvPr/>
          </p:nvSpPr>
          <p:spPr>
            <a:xfrm>
              <a:off x="8464052" y="3703320"/>
              <a:ext cx="0" cy="182880"/>
            </a:xfrm>
            <a:prstGeom prst="line">
              <a:avLst/>
            </a:prstGeom>
            <a:noFill/>
            <a:ln w="15875">
              <a:solidFill>
                <a:srgbClr val="484E41"/>
              </a:solidFill>
              <a:prstDash val="solid"/>
            </a:ln>
          </p:spPr>
        </p:sp>
        <p:sp>
          <p:nvSpPr>
            <p:cNvPr id="42" name="Веха Рост и развитие"/>
            <p:cNvSpPr/>
            <p:nvPr/>
          </p:nvSpPr>
          <p:spPr>
            <a:xfrm>
              <a:off x="8134868" y="3886200"/>
              <a:ext cx="658368" cy="658368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43" name="Image 5" descr="preencoded.png">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12628" y="4063959"/>
              <a:ext cx="302849" cy="302849"/>
            </a:xfrm>
            <a:prstGeom prst="rect">
              <a:avLst/>
            </a:prstGeom>
          </p:spPr>
        </p:pic>
        <p:sp>
          <p:nvSpPr>
            <p:cNvPr id="44" name="Этап HR-бренд"/>
            <p:cNvSpPr/>
            <p:nvPr/>
          </p:nvSpPr>
          <p:spPr>
            <a:xfrm>
              <a:off x="8625535" y="4800600"/>
              <a:ext cx="283464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45" name="Text 37"/>
            <p:cNvSpPr txBox="1"/>
            <p:nvPr/>
          </p:nvSpPr>
          <p:spPr>
            <a:xfrm>
              <a:off x="8854135" y="4983480"/>
              <a:ext cx="457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b="1" dirty="0">
                  <a:solidFill>
                    <a:srgbClr val="009634"/>
                  </a:solidFill>
                </a:rPr>
                <a:t>06</a:t>
              </a:r>
              <a:endParaRPr lang="en-US" sz="1400" dirty="0"/>
            </a:p>
          </p:txBody>
        </p:sp>
        <p:sp>
          <p:nvSpPr>
            <p:cNvPr id="46" name="Text 38"/>
            <p:cNvSpPr txBox="1"/>
            <p:nvPr/>
          </p:nvSpPr>
          <p:spPr>
            <a:xfrm>
              <a:off x="9311335" y="498348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HR-бренд</a:t>
              </a:r>
              <a:endParaRPr lang="en-US" sz="1700" dirty="0"/>
            </a:p>
          </p:txBody>
        </p:sp>
        <p:sp>
          <p:nvSpPr>
            <p:cNvPr id="47" name="Text 39"/>
            <p:cNvSpPr txBox="1"/>
            <p:nvPr/>
          </p:nvSpPr>
          <p:spPr>
            <a:xfrm>
              <a:off x="8854135" y="5422392"/>
              <a:ext cx="23774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Рассказываем, какие мы</a:t>
              </a:r>
              <a:endParaRPr lang="en-US" sz="1400" dirty="0"/>
            </a:p>
          </p:txBody>
        </p:sp>
        <p:sp>
          <p:nvSpPr>
            <p:cNvPr id="48" name="Выноска 6"/>
            <p:cNvSpPr/>
            <p:nvPr/>
          </p:nvSpPr>
          <p:spPr>
            <a:xfrm>
              <a:off x="10042855" y="4544568"/>
              <a:ext cx="0" cy="256032"/>
            </a:xfrm>
            <a:prstGeom prst="line">
              <a:avLst/>
            </a:prstGeom>
            <a:noFill/>
            <a:ln w="15875">
              <a:solidFill>
                <a:srgbClr val="484E41"/>
              </a:solidFill>
              <a:prstDash val="solid"/>
            </a:ln>
          </p:spPr>
        </p:sp>
        <p:sp>
          <p:nvSpPr>
            <p:cNvPr id="49" name="Веха HR-бренд"/>
            <p:cNvSpPr/>
            <p:nvPr/>
          </p:nvSpPr>
          <p:spPr>
            <a:xfrm>
              <a:off x="9713671" y="3886200"/>
              <a:ext cx="658368" cy="658368"/>
            </a:xfrm>
            <a:prstGeom prst="ellipse">
              <a:avLst/>
            </a:prstGeom>
            <a:solidFill>
              <a:srgbClr val="009634"/>
            </a:solidFill>
            <a:ln w="12700">
              <a:solidFill>
                <a:srgbClr val="009634"/>
              </a:solidFill>
              <a:prstDash val="solid"/>
            </a:ln>
          </p:spPr>
        </p:sp>
        <p:pic>
          <p:nvPicPr>
            <p:cNvPr id="50" name="Image 6" descr="preencoded.png">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1431" y="4063959"/>
              <a:ext cx="302849" cy="302849"/>
            </a:xfrm>
            <a:prstGeom prst="rect">
              <a:avLst/>
            </a:prstGeom>
          </p:spPr>
        </p:pic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EJM · Найм"/>
          <p:cNvSpPr/>
          <p:nvPr/>
        </p:nvSpPr>
        <p:spPr>
          <a:xfrm>
            <a:off x="731520" y="685800"/>
            <a:ext cx="1801368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EJM · НАЙМ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Найм: как мы собираем команду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От отклика до первого рабочего дня — так выглядела наша воронка.</a:t>
            </a:r>
            <a:endParaRPr lang="en-US" sz="1600" dirty="0"/>
          </a:p>
        </p:txBody>
      </p:sp>
      <p:grpSp>
        <p:nvGrpSpPr>
          <p:cNvPr id="37" name="Основной блок"/>
          <p:cNvGrpSpPr/>
          <p:nvPr/>
        </p:nvGrpSpPr>
        <p:grpSpPr>
          <a:xfrm>
            <a:off x="731520" y="2743200"/>
            <a:ext cx="10725912" cy="3794760"/>
            <a:chOff x="731520" y="2743200"/>
            <a:chExt cx="10725912" cy="3794760"/>
          </a:xfrm>
        </p:grpSpPr>
        <p:sp>
          <p:nvSpPr>
            <p:cNvPr id="7" name="Линия"/>
            <p:cNvSpPr/>
            <p:nvPr/>
          </p:nvSpPr>
          <p:spPr>
            <a:xfrm>
              <a:off x="731520" y="2752344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8" name="Text 5"/>
            <p:cNvSpPr txBox="1"/>
            <p:nvPr/>
          </p:nvSpPr>
          <p:spPr>
            <a:xfrm>
              <a:off x="731520" y="278892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Отклики</a:t>
              </a:r>
              <a:endParaRPr lang="en-US" sz="1500" dirty="0"/>
            </a:p>
          </p:txBody>
        </p:sp>
        <p:sp>
          <p:nvSpPr>
            <p:cNvPr id="9" name="Столбец Отклики"/>
            <p:cNvSpPr/>
            <p:nvPr/>
          </p:nvSpPr>
          <p:spPr>
            <a:xfrm>
              <a:off x="4023360" y="2926080"/>
              <a:ext cx="2926080" cy="182880"/>
            </a:xfrm>
            <a:prstGeom prst="roundRect">
              <a:avLst>
                <a:gd name="adj" fmla="val 25000"/>
              </a:avLst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0" name="Text 7"/>
            <p:cNvSpPr txBox="1"/>
            <p:nvPr/>
          </p:nvSpPr>
          <p:spPr>
            <a:xfrm>
              <a:off x="7132320" y="2788920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5 866</a:t>
              </a:r>
              <a:endParaRPr lang="en-US" sz="1800" dirty="0"/>
            </a:p>
          </p:txBody>
        </p:sp>
        <p:sp>
          <p:nvSpPr>
            <p:cNvPr id="11" name="Линия"/>
            <p:cNvSpPr/>
            <p:nvPr/>
          </p:nvSpPr>
          <p:spPr>
            <a:xfrm>
              <a:off x="731520" y="3319272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2" name="Text 9"/>
            <p:cNvSpPr txBox="1"/>
            <p:nvPr/>
          </p:nvSpPr>
          <p:spPr>
            <a:xfrm>
              <a:off x="731520" y="3355848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Первый контакт</a:t>
              </a:r>
              <a:endParaRPr lang="en-US" sz="1500" dirty="0"/>
            </a:p>
          </p:txBody>
        </p:sp>
        <p:sp>
          <p:nvSpPr>
            <p:cNvPr id="13" name="Столбец Первый контакт"/>
            <p:cNvSpPr/>
            <p:nvPr/>
          </p:nvSpPr>
          <p:spPr>
            <a:xfrm>
              <a:off x="4023360" y="3493008"/>
              <a:ext cx="517775" cy="182880"/>
            </a:xfrm>
            <a:prstGeom prst="roundRect">
              <a:avLst>
                <a:gd name="adj" fmla="val 25000"/>
              </a:avLst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4" name="Text 11"/>
            <p:cNvSpPr txBox="1"/>
            <p:nvPr/>
          </p:nvSpPr>
          <p:spPr>
            <a:xfrm>
              <a:off x="7132320" y="3355848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1 038</a:t>
              </a:r>
              <a:endParaRPr lang="en-US" sz="1800" dirty="0"/>
            </a:p>
          </p:txBody>
        </p:sp>
        <p:sp>
          <p:nvSpPr>
            <p:cNvPr id="15" name="Линия"/>
            <p:cNvSpPr/>
            <p:nvPr/>
          </p:nvSpPr>
          <p:spPr>
            <a:xfrm>
              <a:off x="731520" y="3886200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6" name="Text 13"/>
            <p:cNvSpPr txBox="1"/>
            <p:nvPr/>
          </p:nvSpPr>
          <p:spPr>
            <a:xfrm>
              <a:off x="731520" y="3922776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Приглашение на собеседование</a:t>
              </a:r>
              <a:endParaRPr lang="en-US" sz="1500" dirty="0"/>
            </a:p>
          </p:txBody>
        </p:sp>
        <p:sp>
          <p:nvSpPr>
            <p:cNvPr id="17" name="Столбец Приглашение на собеседование"/>
            <p:cNvSpPr/>
            <p:nvPr/>
          </p:nvSpPr>
          <p:spPr>
            <a:xfrm>
              <a:off x="4023360" y="4059936"/>
              <a:ext cx="370623" cy="182880"/>
            </a:xfrm>
            <a:prstGeom prst="roundRect">
              <a:avLst>
                <a:gd name="adj" fmla="val 25000"/>
              </a:avLst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8" name="Text 15"/>
            <p:cNvSpPr txBox="1"/>
            <p:nvPr/>
          </p:nvSpPr>
          <p:spPr>
            <a:xfrm>
              <a:off x="7132320" y="3922776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743</a:t>
              </a:r>
              <a:endParaRPr lang="en-US" sz="1800" dirty="0"/>
            </a:p>
          </p:txBody>
        </p:sp>
        <p:sp>
          <p:nvSpPr>
            <p:cNvPr id="19" name="Линия"/>
            <p:cNvSpPr/>
            <p:nvPr/>
          </p:nvSpPr>
          <p:spPr>
            <a:xfrm>
              <a:off x="731520" y="4453128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0" name="Text 17"/>
            <p:cNvSpPr txBox="1"/>
            <p:nvPr/>
          </p:nvSpPr>
          <p:spPr>
            <a:xfrm>
              <a:off x="731520" y="4489704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Собеседование</a:t>
              </a:r>
              <a:endParaRPr lang="en-US" sz="1500" dirty="0"/>
            </a:p>
          </p:txBody>
        </p:sp>
        <p:sp>
          <p:nvSpPr>
            <p:cNvPr id="21" name="Столбец Собеседование"/>
            <p:cNvSpPr/>
            <p:nvPr/>
          </p:nvSpPr>
          <p:spPr>
            <a:xfrm>
              <a:off x="4023360" y="4626864"/>
              <a:ext cx="287321" cy="182880"/>
            </a:xfrm>
            <a:prstGeom prst="roundRect">
              <a:avLst>
                <a:gd name="adj" fmla="val 25000"/>
              </a:avLst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2" name="Text 19"/>
            <p:cNvSpPr txBox="1"/>
            <p:nvPr/>
          </p:nvSpPr>
          <p:spPr>
            <a:xfrm>
              <a:off x="7132320" y="4489704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576</a:t>
              </a:r>
              <a:endParaRPr lang="en-US" sz="1800" dirty="0"/>
            </a:p>
          </p:txBody>
        </p:sp>
        <p:sp>
          <p:nvSpPr>
            <p:cNvPr id="23" name="Линия"/>
            <p:cNvSpPr/>
            <p:nvPr/>
          </p:nvSpPr>
          <p:spPr>
            <a:xfrm>
              <a:off x="731520" y="5020056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4" name="Text 21"/>
            <p:cNvSpPr txBox="1"/>
            <p:nvPr/>
          </p:nvSpPr>
          <p:spPr>
            <a:xfrm>
              <a:off x="731520" y="5056632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Оффер</a:t>
              </a:r>
              <a:endParaRPr lang="en-US" sz="1500" dirty="0"/>
            </a:p>
          </p:txBody>
        </p:sp>
        <p:sp>
          <p:nvSpPr>
            <p:cNvPr id="25" name="Столбец Оффер"/>
            <p:cNvSpPr/>
            <p:nvPr/>
          </p:nvSpPr>
          <p:spPr>
            <a:xfrm>
              <a:off x="4023360" y="5193792"/>
              <a:ext cx="54864" cy="182880"/>
            </a:xfrm>
            <a:prstGeom prst="roundRect">
              <a:avLst>
                <a:gd name="adj" fmla="val 83333"/>
              </a:avLst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6" name="Text 23"/>
            <p:cNvSpPr txBox="1"/>
            <p:nvPr/>
          </p:nvSpPr>
          <p:spPr>
            <a:xfrm>
              <a:off x="7132320" y="5056632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100</a:t>
              </a:r>
              <a:endParaRPr lang="en-US" sz="1800" dirty="0"/>
            </a:p>
          </p:txBody>
        </p:sp>
        <p:sp>
          <p:nvSpPr>
            <p:cNvPr id="27" name="Линия"/>
            <p:cNvSpPr/>
            <p:nvPr/>
          </p:nvSpPr>
          <p:spPr>
            <a:xfrm>
              <a:off x="731520" y="5586984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8" name="Text 25"/>
            <p:cNvSpPr txBox="1"/>
            <p:nvPr/>
          </p:nvSpPr>
          <p:spPr>
            <a:xfrm>
              <a:off x="731520" y="5623560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Выход на работу</a:t>
              </a:r>
              <a:endParaRPr lang="en-US" sz="1500" dirty="0"/>
            </a:p>
          </p:txBody>
        </p:sp>
        <p:sp>
          <p:nvSpPr>
            <p:cNvPr id="29" name="Столбец Выход на работу"/>
            <p:cNvSpPr/>
            <p:nvPr/>
          </p:nvSpPr>
          <p:spPr>
            <a:xfrm>
              <a:off x="4023360" y="5760720"/>
              <a:ext cx="54864" cy="182880"/>
            </a:xfrm>
            <a:prstGeom prst="roundRect">
              <a:avLst>
                <a:gd name="adj" fmla="val 83333"/>
              </a:avLst>
            </a:prstGeom>
            <a:solidFill>
              <a:srgbClr val="009634"/>
            </a:solidFill>
            <a:ln w="12700">
              <a:solidFill>
                <a:srgbClr val="009634"/>
              </a:solidFill>
              <a:prstDash val="solid"/>
            </a:ln>
          </p:spPr>
        </p:sp>
        <p:sp>
          <p:nvSpPr>
            <p:cNvPr id="30" name="Text 27"/>
            <p:cNvSpPr txBox="1"/>
            <p:nvPr/>
          </p:nvSpPr>
          <p:spPr>
            <a:xfrm>
              <a:off x="7132320" y="5623560"/>
              <a:ext cx="1188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indent="0" marL="0">
                <a:buNone/>
              </a:pPr>
              <a:r>
                <a:rPr lang="en-US" sz="1800" b="1" dirty="0">
                  <a:solidFill>
                    <a:srgbClr val="009634"/>
                  </a:solidFill>
                </a:rPr>
                <a:t>95</a:t>
              </a:r>
              <a:endParaRPr lang="en-US" sz="1800" dirty="0"/>
            </a:p>
          </p:txBody>
        </p:sp>
        <p:sp>
          <p:nvSpPr>
            <p:cNvPr id="31" name="Линия"/>
            <p:cNvSpPr/>
            <p:nvPr/>
          </p:nvSpPr>
          <p:spPr>
            <a:xfrm>
              <a:off x="731520" y="6153912"/>
              <a:ext cx="777240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32" name="Text 29"/>
            <p:cNvSpPr txBox="1"/>
            <p:nvPr/>
          </p:nvSpPr>
          <p:spPr>
            <a:xfrm>
              <a:off x="731520" y="62636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100" dirty="0">
                  <a:solidFill>
                    <a:srgbClr val="5A6055"/>
                  </a:solidFill>
                </a:rPr>
                <a:t>*данные на 31.12.2025</a:t>
              </a:r>
              <a:endParaRPr lang="en-US" sz="1100" dirty="0"/>
            </a:p>
          </p:txBody>
        </p:sp>
        <p:sp>
          <p:nvSpPr>
            <p:cNvPr id="33" name="Итог"/>
            <p:cNvSpPr/>
            <p:nvPr/>
          </p:nvSpPr>
          <p:spPr>
            <a:xfrm>
              <a:off x="8869680" y="2743200"/>
              <a:ext cx="2587752" cy="3383280"/>
            </a:xfrm>
            <a:prstGeom prst="roundRect">
              <a:avLst>
                <a:gd name="adj" fmla="val 424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34" name="Text 31"/>
            <p:cNvSpPr txBox="1"/>
            <p:nvPr/>
          </p:nvSpPr>
          <p:spPr>
            <a:xfrm>
              <a:off x="9098280" y="2926080"/>
              <a:ext cx="219456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7200" b="1" dirty="0">
                  <a:solidFill>
                    <a:srgbClr val="009634"/>
                  </a:solidFill>
                </a:rPr>
                <a:t>95</a:t>
              </a:r>
              <a:endParaRPr lang="en-US" sz="7200" dirty="0"/>
            </a:p>
          </p:txBody>
        </p:sp>
        <p:sp>
          <p:nvSpPr>
            <p:cNvPr id="35" name="Text 32"/>
            <p:cNvSpPr txBox="1"/>
            <p:nvPr/>
          </p:nvSpPr>
          <p:spPr>
            <a:xfrm>
              <a:off x="9098280" y="4160520"/>
              <a:ext cx="219456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новых коллег вышли на работу</a:t>
              </a:r>
              <a:endParaRPr lang="en-US" sz="1600" dirty="0"/>
            </a:p>
          </p:txBody>
        </p:sp>
        <p:sp>
          <p:nvSpPr>
            <p:cNvPr id="36" name="Text 33"/>
            <p:cNvSpPr txBox="1"/>
            <p:nvPr/>
          </p:nvSpPr>
          <p:spPr>
            <a:xfrm>
              <a:off x="9098280" y="5212080"/>
              <a:ext cx="21945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≈ 1 из 60 откликов</a:t>
              </a:r>
              <a:endParaRPr lang="en-US" sz="14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EJM · Адаптация и развитие"/>
          <p:cNvSpPr/>
          <p:nvPr/>
        </p:nvSpPr>
        <p:spPr>
          <a:xfrm>
            <a:off x="731520" y="685800"/>
            <a:ext cx="3483864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EJM · АДАПТАЦИЯ И РАЗВИТИЕ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Чтобы с первого дня было комфортно</a:t>
            </a:r>
            <a:endParaRPr lang="en-US" sz="3600" dirty="0"/>
          </a:p>
        </p:txBody>
      </p:sp>
      <p:grpSp>
        <p:nvGrpSpPr>
          <p:cNvPr id="27" name="Основной блок"/>
          <p:cNvGrpSpPr/>
          <p:nvPr/>
        </p:nvGrpSpPr>
        <p:grpSpPr>
          <a:xfrm>
            <a:off x="731520" y="2194560"/>
            <a:ext cx="10835640" cy="3840480"/>
            <a:chOff x="731520" y="2194560"/>
            <a:chExt cx="10835640" cy="3840480"/>
          </a:xfrm>
        </p:grpSpPr>
        <p:pic>
          <p:nvPicPr>
            <p:cNvPr id="6" name="Фото команды" descr="Команда за рабочим столом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" y="2194560"/>
              <a:ext cx="4206240" cy="3840480"/>
            </a:xfrm>
            <a:prstGeom prst="rect">
              <a:avLst/>
            </a:prstGeom>
          </p:spPr>
        </p:pic>
        <p:sp>
          <p:nvSpPr>
            <p:cNvPr id="7" name="Шаг Welcome-встреча"/>
            <p:cNvSpPr/>
            <p:nvPr/>
          </p:nvSpPr>
          <p:spPr>
            <a:xfrm>
              <a:off x="5212080" y="2194560"/>
              <a:ext cx="3108960" cy="18288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Номер 1"/>
            <p:cNvSpPr/>
            <p:nvPr/>
          </p:nvSpPr>
          <p:spPr>
            <a:xfrm>
              <a:off x="5440680" y="2423160"/>
              <a:ext cx="457200" cy="45720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9" name="Text 5"/>
            <p:cNvSpPr txBox="1"/>
            <p:nvPr/>
          </p:nvSpPr>
          <p:spPr>
            <a:xfrm>
              <a:off x="5440680" y="242316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1</a:t>
              </a:r>
              <a:endParaRPr lang="en-US" sz="1600" dirty="0"/>
            </a:p>
          </p:txBody>
        </p:sp>
        <p:sp>
          <p:nvSpPr>
            <p:cNvPr id="10" name="Text 6"/>
            <p:cNvSpPr txBox="1"/>
            <p:nvPr/>
          </p:nvSpPr>
          <p:spPr>
            <a:xfrm>
              <a:off x="6080760" y="2423160"/>
              <a:ext cx="2103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Welcome-встреча</a:t>
              </a:r>
              <a:endParaRPr lang="en-US" sz="16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5440680" y="3063240"/>
              <a:ext cx="26974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Знакомимся и рассказываем, как у нас всё устроено</a:t>
              </a:r>
              <a:endParaRPr lang="en-US" sz="1300" dirty="0"/>
            </a:p>
          </p:txBody>
        </p:sp>
        <p:sp>
          <p:nvSpPr>
            <p:cNvPr id="12" name="Шаг Неделя адаптации"/>
            <p:cNvSpPr/>
            <p:nvPr/>
          </p:nvSpPr>
          <p:spPr>
            <a:xfrm>
              <a:off x="8458200" y="2194560"/>
              <a:ext cx="3108960" cy="18288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3" name="Номер 2"/>
            <p:cNvSpPr/>
            <p:nvPr/>
          </p:nvSpPr>
          <p:spPr>
            <a:xfrm>
              <a:off x="8686800" y="2423160"/>
              <a:ext cx="457200" cy="45720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4" name="Text 10"/>
            <p:cNvSpPr txBox="1"/>
            <p:nvPr/>
          </p:nvSpPr>
          <p:spPr>
            <a:xfrm>
              <a:off x="8686800" y="242316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2</a:t>
              </a:r>
              <a:endParaRPr lang="en-US" sz="1600" dirty="0"/>
            </a:p>
          </p:txBody>
        </p:sp>
        <p:sp>
          <p:nvSpPr>
            <p:cNvPr id="15" name="Text 11"/>
            <p:cNvSpPr txBox="1"/>
            <p:nvPr/>
          </p:nvSpPr>
          <p:spPr>
            <a:xfrm>
              <a:off x="9326880" y="2423160"/>
              <a:ext cx="2103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Неделя адаптации</a:t>
              </a:r>
              <a:endParaRPr lang="en-US" sz="1600" dirty="0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8686800" y="3063240"/>
              <a:ext cx="26974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Просим короткую анкету: нам важно твоё мнение</a:t>
              </a:r>
              <a:endParaRPr lang="en-US" sz="1300" dirty="0"/>
            </a:p>
          </p:txBody>
        </p:sp>
        <p:sp>
          <p:nvSpPr>
            <p:cNvPr id="17" name="Шаг Обучение"/>
            <p:cNvSpPr/>
            <p:nvPr/>
          </p:nvSpPr>
          <p:spPr>
            <a:xfrm>
              <a:off x="5212080" y="4206240"/>
              <a:ext cx="3108960" cy="18288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8" name="Номер 3"/>
            <p:cNvSpPr/>
            <p:nvPr/>
          </p:nvSpPr>
          <p:spPr>
            <a:xfrm>
              <a:off x="5440680" y="4434840"/>
              <a:ext cx="457200" cy="45720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9" name="Text 15"/>
            <p:cNvSpPr txBox="1"/>
            <p:nvPr/>
          </p:nvSpPr>
          <p:spPr>
            <a:xfrm>
              <a:off x="5440680" y="44348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3</a:t>
              </a:r>
              <a:endParaRPr lang="en-US" sz="1600" dirty="0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6080760" y="4434840"/>
              <a:ext cx="2103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Обучение</a:t>
              </a:r>
              <a:endParaRPr lang="en-US" sz="1600" dirty="0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5440680" y="5074920"/>
              <a:ext cx="26974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«Игра по неподачам», «Системный руководитель», «Академия i’way»</a:t>
              </a:r>
              <a:endParaRPr lang="en-US" sz="1300" dirty="0"/>
            </a:p>
          </p:txBody>
        </p:sp>
        <p:sp>
          <p:nvSpPr>
            <p:cNvPr id="22" name="Шаг Переводы"/>
            <p:cNvSpPr/>
            <p:nvPr/>
          </p:nvSpPr>
          <p:spPr>
            <a:xfrm>
              <a:off x="8458200" y="4206240"/>
              <a:ext cx="3108960" cy="18288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3" name="Номер 4"/>
            <p:cNvSpPr/>
            <p:nvPr/>
          </p:nvSpPr>
          <p:spPr>
            <a:xfrm>
              <a:off x="8686800" y="4434840"/>
              <a:ext cx="457200" cy="45720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4" name="Text 20"/>
            <p:cNvSpPr txBox="1"/>
            <p:nvPr/>
          </p:nvSpPr>
          <p:spPr>
            <a:xfrm>
              <a:off x="8686800" y="44348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4</a:t>
              </a:r>
              <a:endParaRPr lang="en-US" sz="1600" dirty="0"/>
            </a:p>
          </p:txBody>
        </p:sp>
        <p:sp>
          <p:nvSpPr>
            <p:cNvPr id="25" name="Text 21"/>
            <p:cNvSpPr txBox="1"/>
            <p:nvPr/>
          </p:nvSpPr>
          <p:spPr>
            <a:xfrm>
              <a:off x="9326880" y="4434840"/>
              <a:ext cx="2103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Переводы</a:t>
              </a:r>
              <a:endParaRPr lang="en-US" sz="1600" dirty="0"/>
            </a:p>
          </p:txBody>
        </p:sp>
        <p:sp>
          <p:nvSpPr>
            <p:cNvPr id="26" name="Text 22"/>
            <p:cNvSpPr txBox="1"/>
            <p:nvPr/>
          </p:nvSpPr>
          <p:spPr>
            <a:xfrm>
              <a:off x="8686800" y="5074920"/>
              <a:ext cx="269748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Поддерживаем, если решишь сменить роль или команду</a:t>
              </a:r>
              <a:endParaRPr lang="en-US" sz="13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EJM · HR-бренд"/>
          <p:cNvSpPr/>
          <p:nvPr/>
        </p:nvSpPr>
        <p:spPr>
          <a:xfrm>
            <a:off x="731520" y="685800"/>
            <a:ext cx="222199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EJM · HR-БРЕНД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HR-бренд: как мы о себе рассказываем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Снаружи нас видят кандидаты, внутри — мы сами. Работаем с обеими сторонами.</a:t>
            </a:r>
            <a:endParaRPr lang="en-US" sz="1600" dirty="0"/>
          </a:p>
        </p:txBody>
      </p:sp>
      <p:grpSp>
        <p:nvGrpSpPr>
          <p:cNvPr id="31" name="Основной блок"/>
          <p:cNvGrpSpPr/>
          <p:nvPr/>
        </p:nvGrpSpPr>
        <p:grpSpPr>
          <a:xfrm>
            <a:off x="731520" y="2743200"/>
            <a:ext cx="10881360" cy="3474720"/>
            <a:chOff x="731520" y="2743200"/>
            <a:chExt cx="10881360" cy="3474720"/>
          </a:xfrm>
        </p:grpSpPr>
        <p:sp>
          <p:nvSpPr>
            <p:cNvPr id="7" name="Колонка Снаружи"/>
            <p:cNvSpPr/>
            <p:nvPr/>
          </p:nvSpPr>
          <p:spPr>
            <a:xfrm>
              <a:off x="731520" y="2743200"/>
              <a:ext cx="5349240" cy="347472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1051560" y="301752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037" y="3177997"/>
              <a:ext cx="273406" cy="273406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828800" y="3017520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400" b="1" dirty="0">
                  <a:solidFill>
                    <a:srgbClr val="484E41"/>
                  </a:solidFill>
                </a:rPr>
                <a:t>Снаружи</a:t>
              </a:r>
              <a:endParaRPr lang="en-US" sz="2400" dirty="0"/>
            </a:p>
          </p:txBody>
        </p:sp>
        <p:sp>
          <p:nvSpPr>
            <p:cNvPr id="11" name="Линия"/>
            <p:cNvSpPr/>
            <p:nvPr/>
          </p:nvSpPr>
          <p:spPr>
            <a:xfrm>
              <a:off x="1051560" y="379476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2" name="Text 8"/>
            <p:cNvSpPr txBox="1"/>
            <p:nvPr/>
          </p:nvSpPr>
          <p:spPr>
            <a:xfrm>
              <a:off x="1051560" y="384048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Карьерные сайты: hh.ru и LinkedIn</a:t>
              </a:r>
              <a:endParaRPr lang="en-US" sz="1500" dirty="0"/>
            </a:p>
          </p:txBody>
        </p:sp>
        <p:sp>
          <p:nvSpPr>
            <p:cNvPr id="13" name="Линия"/>
            <p:cNvSpPr/>
            <p:nvPr/>
          </p:nvSpPr>
          <p:spPr>
            <a:xfrm>
              <a:off x="1051560" y="434340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4" name="Text 10"/>
            <p:cNvSpPr txBox="1"/>
            <p:nvPr/>
          </p:nvSpPr>
          <p:spPr>
            <a:xfrm>
              <a:off x="1051560" y="438912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Наружная реклама: метро и экраны</a:t>
              </a:r>
              <a:endParaRPr lang="en-US" sz="1500" dirty="0"/>
            </a:p>
          </p:txBody>
        </p:sp>
        <p:sp>
          <p:nvSpPr>
            <p:cNvPr id="15" name="Линия"/>
            <p:cNvSpPr/>
            <p:nvPr/>
          </p:nvSpPr>
          <p:spPr>
            <a:xfrm>
              <a:off x="1051560" y="489204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6" name="Text 12"/>
            <p:cNvSpPr txBox="1"/>
            <p:nvPr/>
          </p:nvSpPr>
          <p:spPr>
            <a:xfrm>
              <a:off x="1051560" y="493776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Работа с университетами</a:t>
              </a:r>
              <a:endParaRPr lang="en-US" sz="1500" dirty="0"/>
            </a:p>
          </p:txBody>
        </p:sp>
        <p:sp>
          <p:nvSpPr>
            <p:cNvPr id="17" name="Линия"/>
            <p:cNvSpPr/>
            <p:nvPr/>
          </p:nvSpPr>
          <p:spPr>
            <a:xfrm>
              <a:off x="1051560" y="544068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8" name="Text 14"/>
            <p:cNvSpPr txBox="1"/>
            <p:nvPr/>
          </p:nvSpPr>
          <p:spPr>
            <a:xfrm>
              <a:off x="1051560" y="548640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Ответы на отзывы на площадках</a:t>
              </a:r>
              <a:endParaRPr lang="en-US" sz="1500" dirty="0"/>
            </a:p>
          </p:txBody>
        </p:sp>
        <p:sp>
          <p:nvSpPr>
            <p:cNvPr id="19" name="Колонка Внутри"/>
            <p:cNvSpPr/>
            <p:nvPr/>
          </p:nvSpPr>
          <p:spPr>
            <a:xfrm>
              <a:off x="6263640" y="2743200"/>
              <a:ext cx="5349240" cy="3474720"/>
            </a:xfrm>
            <a:prstGeom prst="roundRect">
              <a:avLst>
                <a:gd name="adj" fmla="val 3158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0" name="Иконка"/>
            <p:cNvSpPr/>
            <p:nvPr/>
          </p:nvSpPr>
          <p:spPr>
            <a:xfrm>
              <a:off x="6583680" y="301752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1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4157" y="3177997"/>
              <a:ext cx="273406" cy="273406"/>
            </a:xfrm>
            <a:prstGeom prst="rect">
              <a:avLst/>
            </a:prstGeom>
          </p:spPr>
        </p:pic>
        <p:sp>
          <p:nvSpPr>
            <p:cNvPr id="22" name="Text 17"/>
            <p:cNvSpPr txBox="1"/>
            <p:nvPr/>
          </p:nvSpPr>
          <p:spPr>
            <a:xfrm>
              <a:off x="7360920" y="3017520"/>
              <a:ext cx="27432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400" b="1" dirty="0">
                  <a:solidFill>
                    <a:srgbClr val="484E41"/>
                  </a:solidFill>
                </a:rPr>
                <a:t>Внутри</a:t>
              </a:r>
              <a:endParaRPr lang="en-US" sz="2400" dirty="0"/>
            </a:p>
          </p:txBody>
        </p:sp>
        <p:sp>
          <p:nvSpPr>
            <p:cNvPr id="23" name="Линия"/>
            <p:cNvSpPr/>
            <p:nvPr/>
          </p:nvSpPr>
          <p:spPr>
            <a:xfrm>
              <a:off x="6583680" y="379476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4" name="Text 19"/>
            <p:cNvSpPr txBox="1"/>
            <p:nvPr/>
          </p:nvSpPr>
          <p:spPr>
            <a:xfrm>
              <a:off x="6583680" y="384048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Миссия и ценности</a:t>
              </a:r>
              <a:endParaRPr lang="en-US" sz="1500" dirty="0"/>
            </a:p>
          </p:txBody>
        </p:sp>
        <p:sp>
          <p:nvSpPr>
            <p:cNvPr id="25" name="Линия"/>
            <p:cNvSpPr/>
            <p:nvPr/>
          </p:nvSpPr>
          <p:spPr>
            <a:xfrm>
              <a:off x="6583680" y="434340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6" name="Text 21"/>
            <p:cNvSpPr txBox="1"/>
            <p:nvPr/>
          </p:nvSpPr>
          <p:spPr>
            <a:xfrm>
              <a:off x="6583680" y="438912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Внутренние коммуникации</a:t>
              </a:r>
              <a:endParaRPr lang="en-US" sz="1500" dirty="0"/>
            </a:p>
          </p:txBody>
        </p:sp>
        <p:sp>
          <p:nvSpPr>
            <p:cNvPr id="27" name="Линия"/>
            <p:cNvSpPr/>
            <p:nvPr/>
          </p:nvSpPr>
          <p:spPr>
            <a:xfrm>
              <a:off x="6583680" y="489204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8" name="Text 23"/>
            <p:cNvSpPr txBox="1"/>
            <p:nvPr/>
          </p:nvSpPr>
          <p:spPr>
            <a:xfrm>
              <a:off x="6583680" y="493776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Мотивация и бенефиты</a:t>
              </a:r>
              <a:endParaRPr lang="en-US" sz="1500" dirty="0"/>
            </a:p>
          </p:txBody>
        </p:sp>
        <p:sp>
          <p:nvSpPr>
            <p:cNvPr id="29" name="Линия"/>
            <p:cNvSpPr/>
            <p:nvPr/>
          </p:nvSpPr>
          <p:spPr>
            <a:xfrm>
              <a:off x="6583680" y="5440680"/>
              <a:ext cx="4709160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30" name="Text 25"/>
            <p:cNvSpPr txBox="1"/>
            <p:nvPr/>
          </p:nvSpPr>
          <p:spPr>
            <a:xfrm>
              <a:off x="6583680" y="5486400"/>
              <a:ext cx="4709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EVP — уникальное ценностное предложение</a:t>
              </a:r>
              <a:endParaRPr lang="en-US" sz="15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C9EDDA"/>
                </a:solidFill>
              </a:rPr>
              <a:t>02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069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Культура i’way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EDDA"/>
                </a:solidFill>
              </a:rPr>
              <a:t>Во что мы верим и как работаем вместе</a:t>
            </a:r>
            <a:endParaRPr lang="en-US" sz="2200" dirty="0"/>
          </a:p>
        </p:txBody>
      </p:sp>
      <p:sp>
        <p:nvSpPr>
          <p:cNvPr id="5" name="Круг"/>
          <p:cNvSpPr/>
          <p:nvPr/>
        </p:nvSpPr>
        <p:spPr>
          <a:xfrm>
            <a:off x="7863840" y="1554480"/>
            <a:ext cx="3291840" cy="3291840"/>
          </a:xfrm>
          <a:prstGeom prst="ellipse">
            <a:avLst/>
          </a:prstGeom>
          <a:solidFill>
            <a:srgbClr val="484E41"/>
          </a:solidFill>
          <a:ln w="25400">
            <a:solidFill>
              <a:srgbClr val="C9ED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606040"/>
            <a:ext cx="1188720" cy="1188720"/>
          </a:xfrm>
          <a:prstGeom prst="rect">
            <a:avLst/>
          </a:prstGeom>
        </p:spPr>
      </p:pic>
      <p:pic>
        <p:nvPicPr>
          <p:cNvPr id="7" name="Логотип" descr="i’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40080"/>
            <a:ext cx="1097280" cy="47091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ультура i’way"/>
          <p:cNvSpPr/>
          <p:nvPr/>
        </p:nvSpPr>
        <p:spPr>
          <a:xfrm>
            <a:off x="731520" y="685800"/>
            <a:ext cx="222199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КУЛЬТУРА I’WAY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i’way — трансферы по всему миру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Сервис заказа трансферов, который объединяет страны, аэропорты и людей.</a:t>
            </a:r>
            <a:endParaRPr lang="en-US" sz="1600" dirty="0"/>
          </a:p>
        </p:txBody>
      </p:sp>
      <p:grpSp>
        <p:nvGrpSpPr>
          <p:cNvPr id="31" name="Основной блок"/>
          <p:cNvGrpSpPr/>
          <p:nvPr/>
        </p:nvGrpSpPr>
        <p:grpSpPr>
          <a:xfrm>
            <a:off x="731520" y="2788920"/>
            <a:ext cx="10728655" cy="3383280"/>
            <a:chOff x="731520" y="2788920"/>
            <a:chExt cx="10728655" cy="3383280"/>
          </a:xfrm>
        </p:grpSpPr>
        <p:sp>
          <p:nvSpPr>
            <p:cNvPr id="7" name="Линия"/>
            <p:cNvSpPr/>
            <p:nvPr/>
          </p:nvSpPr>
          <p:spPr>
            <a:xfrm>
              <a:off x="731520" y="2788920"/>
              <a:ext cx="3429000" cy="0"/>
            </a:xfrm>
            <a:prstGeom prst="line">
              <a:avLst/>
            </a:prstGeom>
            <a:noFill/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Text 5"/>
            <p:cNvSpPr txBox="1"/>
            <p:nvPr/>
          </p:nvSpPr>
          <p:spPr>
            <a:xfrm>
              <a:off x="731520" y="2926080"/>
              <a:ext cx="34290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6600" b="1" dirty="0">
                  <a:solidFill>
                    <a:srgbClr val="009634"/>
                  </a:solidFill>
                </a:rPr>
                <a:t>130+</a:t>
              </a:r>
              <a:endParaRPr lang="en-US" sz="6600" dirty="0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731520" y="416052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dirty="0">
                  <a:solidFill>
                    <a:srgbClr val="484E41"/>
                  </a:solidFill>
                </a:rPr>
                <a:t>стран, где мы возим людей</a:t>
              </a:r>
              <a:endParaRPr lang="en-US" sz="1800" dirty="0"/>
            </a:p>
          </p:txBody>
        </p:sp>
        <p:sp>
          <p:nvSpPr>
            <p:cNvPr id="10" name="Линия"/>
            <p:cNvSpPr/>
            <p:nvPr/>
          </p:nvSpPr>
          <p:spPr>
            <a:xfrm>
              <a:off x="4381348" y="2788920"/>
              <a:ext cx="3429000" cy="0"/>
            </a:xfrm>
            <a:prstGeom prst="line">
              <a:avLst/>
            </a:prstGeom>
            <a:noFill/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1" name="Text 8"/>
            <p:cNvSpPr txBox="1"/>
            <p:nvPr/>
          </p:nvSpPr>
          <p:spPr>
            <a:xfrm>
              <a:off x="4381348" y="2926080"/>
              <a:ext cx="34290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6600" b="1" dirty="0">
                  <a:solidFill>
                    <a:srgbClr val="009634"/>
                  </a:solidFill>
                </a:rPr>
                <a:t>2 500+</a:t>
              </a:r>
              <a:endParaRPr lang="en-US" sz="6600" dirty="0"/>
            </a:p>
          </p:txBody>
        </p:sp>
        <p:sp>
          <p:nvSpPr>
            <p:cNvPr id="12" name="Text 9"/>
            <p:cNvSpPr txBox="1"/>
            <p:nvPr/>
          </p:nvSpPr>
          <p:spPr>
            <a:xfrm>
              <a:off x="4381348" y="416052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dirty="0">
                  <a:solidFill>
                    <a:srgbClr val="484E41"/>
                  </a:solidFill>
                </a:rPr>
                <a:t>поездок ежедневно</a:t>
              </a:r>
              <a:endParaRPr lang="en-US" sz="1800" dirty="0"/>
            </a:p>
          </p:txBody>
        </p:sp>
        <p:sp>
          <p:nvSpPr>
            <p:cNvPr id="13" name="Линия"/>
            <p:cNvSpPr/>
            <p:nvPr/>
          </p:nvSpPr>
          <p:spPr>
            <a:xfrm>
              <a:off x="8031175" y="2788920"/>
              <a:ext cx="3429000" cy="0"/>
            </a:xfrm>
            <a:prstGeom prst="line">
              <a:avLst/>
            </a:prstGeom>
            <a:noFill/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4" name="Text 11"/>
            <p:cNvSpPr txBox="1"/>
            <p:nvPr/>
          </p:nvSpPr>
          <p:spPr>
            <a:xfrm>
              <a:off x="8031175" y="2926080"/>
              <a:ext cx="342900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6600" b="1" dirty="0">
                  <a:solidFill>
                    <a:srgbClr val="009634"/>
                  </a:solidFill>
                </a:rPr>
                <a:t>600+</a:t>
              </a:r>
              <a:endParaRPr lang="en-US" sz="66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8031175" y="4160520"/>
              <a:ext cx="3429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dirty="0">
                  <a:solidFill>
                    <a:srgbClr val="484E41"/>
                  </a:solidFill>
                </a:rPr>
                <a:t>аэропортов мира</a:t>
              </a:r>
              <a:endParaRPr lang="en-US" sz="1800" dirty="0"/>
            </a:p>
          </p:txBody>
        </p:sp>
        <p:sp>
          <p:nvSpPr>
            <p:cNvPr id="16" name="Факт с 2009"/>
            <p:cNvSpPr/>
            <p:nvPr/>
          </p:nvSpPr>
          <p:spPr>
            <a:xfrm>
              <a:off x="731520" y="4983480"/>
              <a:ext cx="342900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7" name="Иконка"/>
            <p:cNvSpPr/>
            <p:nvPr/>
          </p:nvSpPr>
          <p:spPr>
            <a:xfrm>
              <a:off x="1005840" y="5303520"/>
              <a:ext cx="548640" cy="54864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8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3973" y="5451653"/>
              <a:ext cx="252374" cy="252374"/>
            </a:xfrm>
            <a:prstGeom prst="rect">
              <a:avLst/>
            </a:prstGeom>
          </p:spPr>
        </p:pic>
        <p:sp>
          <p:nvSpPr>
            <p:cNvPr id="19" name="Text 15"/>
            <p:cNvSpPr txBox="1"/>
            <p:nvPr/>
          </p:nvSpPr>
          <p:spPr>
            <a:xfrm>
              <a:off x="1783080" y="5239512"/>
              <a:ext cx="2148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с 2009</a:t>
              </a:r>
              <a:endParaRPr lang="en-US" sz="1800" dirty="0"/>
            </a:p>
          </p:txBody>
        </p:sp>
        <p:sp>
          <p:nvSpPr>
            <p:cNvPr id="20" name="Text 16"/>
            <p:cNvSpPr txBox="1"/>
            <p:nvPr/>
          </p:nvSpPr>
          <p:spPr>
            <a:xfrm>
              <a:off x="1783080" y="5623560"/>
              <a:ext cx="2148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года на рынке</a:t>
              </a:r>
              <a:endParaRPr lang="en-US" sz="1300" dirty="0"/>
            </a:p>
          </p:txBody>
        </p:sp>
        <p:sp>
          <p:nvSpPr>
            <p:cNvPr id="21" name="Факт 4,9 из 5"/>
            <p:cNvSpPr/>
            <p:nvPr/>
          </p:nvSpPr>
          <p:spPr>
            <a:xfrm>
              <a:off x="4381348" y="4983480"/>
              <a:ext cx="342900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2" name="Иконка"/>
            <p:cNvSpPr/>
            <p:nvPr/>
          </p:nvSpPr>
          <p:spPr>
            <a:xfrm>
              <a:off x="4655668" y="5303520"/>
              <a:ext cx="548640" cy="54864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3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3800" y="5451653"/>
              <a:ext cx="252374" cy="252374"/>
            </a:xfrm>
            <a:prstGeom prst="rect">
              <a:avLst/>
            </a:prstGeom>
          </p:spPr>
        </p:pic>
        <p:sp>
          <p:nvSpPr>
            <p:cNvPr id="24" name="Text 19"/>
            <p:cNvSpPr txBox="1"/>
            <p:nvPr/>
          </p:nvSpPr>
          <p:spPr>
            <a:xfrm>
              <a:off x="5432908" y="5239512"/>
              <a:ext cx="2148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4,9 из 5</a:t>
              </a:r>
              <a:endParaRPr lang="en-US" sz="1800" dirty="0"/>
            </a:p>
          </p:txBody>
        </p:sp>
        <p:sp>
          <p:nvSpPr>
            <p:cNvPr id="25" name="Text 20"/>
            <p:cNvSpPr txBox="1"/>
            <p:nvPr/>
          </p:nvSpPr>
          <p:spPr>
            <a:xfrm>
              <a:off x="5432908" y="5623560"/>
              <a:ext cx="2148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оценка поездок</a:t>
              </a:r>
              <a:endParaRPr lang="en-US" sz="1300" dirty="0"/>
            </a:p>
          </p:txBody>
        </p:sp>
        <p:sp>
          <p:nvSpPr>
            <p:cNvPr id="26" name="Факт Офисы"/>
            <p:cNvSpPr/>
            <p:nvPr/>
          </p:nvSpPr>
          <p:spPr>
            <a:xfrm>
              <a:off x="8031175" y="4983480"/>
              <a:ext cx="3429000" cy="1188720"/>
            </a:xfrm>
            <a:prstGeom prst="roundRect">
              <a:avLst>
                <a:gd name="adj" fmla="val 923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7" name="Иконка"/>
            <p:cNvSpPr/>
            <p:nvPr/>
          </p:nvSpPr>
          <p:spPr>
            <a:xfrm>
              <a:off x="8305495" y="5303520"/>
              <a:ext cx="548640" cy="54864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8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53628" y="5451653"/>
              <a:ext cx="252374" cy="252374"/>
            </a:xfrm>
            <a:prstGeom prst="rect">
              <a:avLst/>
            </a:prstGeom>
          </p:spPr>
        </p:pic>
        <p:sp>
          <p:nvSpPr>
            <p:cNvPr id="29" name="Text 23"/>
            <p:cNvSpPr txBox="1"/>
            <p:nvPr/>
          </p:nvSpPr>
          <p:spPr>
            <a:xfrm>
              <a:off x="9082735" y="5239512"/>
              <a:ext cx="2148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Офисы</a:t>
              </a:r>
              <a:endParaRPr lang="en-US" sz="1800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9082735" y="5623560"/>
              <a:ext cx="21488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в Казахстане, ОАЭ, Индии</a:t>
              </a:r>
              <a:endParaRPr lang="en-US" sz="13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ультура i’way"/>
          <p:cNvSpPr/>
          <p:nvPr/>
        </p:nvSpPr>
        <p:spPr>
          <a:xfrm>
            <a:off x="731520" y="685800"/>
            <a:ext cx="222199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КУЛЬТУРА I’WAY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Наш день в цифрах</a:t>
            </a:r>
            <a:endParaRPr lang="en-US" sz="3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194560"/>
            <a:ext cx="10744200" cy="3840480"/>
            <a:chOff x="731520" y="2194560"/>
            <a:chExt cx="10744200" cy="3840480"/>
          </a:xfrm>
        </p:grpSpPr>
        <p:sp>
          <p:nvSpPr>
            <p:cNvPr id="6" name="Text 3"/>
            <p:cNvSpPr txBox="1"/>
            <p:nvPr/>
          </p:nvSpPr>
          <p:spPr>
            <a:xfrm>
              <a:off x="731520" y="2286000"/>
              <a:ext cx="384048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2000" dirty="0">
                  <a:solidFill>
                    <a:srgbClr val="484E41"/>
                  </a:solidFill>
                </a:rPr>
                <a:t>Бронирования, выручка и оценки клиентов — всё на одном экране, в реальном времени.</a:t>
              </a:r>
              <a:endParaRPr lang="en-US" sz="2000" dirty="0"/>
            </a:p>
          </p:txBody>
        </p:sp>
        <p:sp>
          <p:nvSpPr>
            <p:cNvPr id="7" name="Оценка"/>
            <p:cNvSpPr/>
            <p:nvPr/>
          </p:nvSpPr>
          <p:spPr>
            <a:xfrm>
              <a:off x="731520" y="4297680"/>
              <a:ext cx="3840480" cy="1737360"/>
            </a:xfrm>
            <a:prstGeom prst="roundRect">
              <a:avLst>
                <a:gd name="adj" fmla="val 631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1005840" y="4572000"/>
              <a:ext cx="548640" cy="54864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3973" y="4720133"/>
              <a:ext cx="252374" cy="252374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783080" y="4526280"/>
              <a:ext cx="25603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800" b="1" dirty="0">
                  <a:solidFill>
                    <a:srgbClr val="009634"/>
                  </a:solidFill>
                </a:rPr>
                <a:t>4,9 из 5</a:t>
              </a:r>
              <a:endParaRPr lang="en-US" sz="28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1005840" y="5303520"/>
              <a:ext cx="33832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средняя оценка поездок — каждый из нас влияет на эту цифру</a:t>
              </a:r>
              <a:endParaRPr lang="en-US" sz="1300" dirty="0"/>
            </a:p>
          </p:txBody>
        </p:sp>
        <p:pic>
          <p:nvPicPr>
            <p:cNvPr id="12" name="Дашборд" descr="Панель с онлайн-метриками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3480" y="2194560"/>
              <a:ext cx="6492240" cy="3657600"/>
            </a:xfrm>
            <a:prstGeom prst="rect">
              <a:avLst/>
            </a:prstGeom>
          </p:spPr>
        </p:pic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ультура i’way · История"/>
          <p:cNvSpPr/>
          <p:nvPr/>
        </p:nvSpPr>
        <p:spPr>
          <a:xfrm>
            <a:off x="731520" y="685800"/>
            <a:ext cx="327355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КУЛЬТУРА I’WAY · ИСТОРИЯ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всё начиналось</a:t>
            </a:r>
            <a:endParaRPr lang="en-US" sz="3600" dirty="0"/>
          </a:p>
        </p:txBody>
      </p:sp>
      <p:grpSp>
        <p:nvGrpSpPr>
          <p:cNvPr id="28" name="Основной блок"/>
          <p:cNvGrpSpPr/>
          <p:nvPr/>
        </p:nvGrpSpPr>
        <p:grpSpPr>
          <a:xfrm>
            <a:off x="731520" y="2194560"/>
            <a:ext cx="10789920" cy="4114800"/>
            <a:chOff x="731520" y="2194560"/>
            <a:chExt cx="10789920" cy="4114800"/>
          </a:xfrm>
        </p:grpSpPr>
        <p:pic>
          <p:nvPicPr>
            <p:cNvPr id="6" name="Основатели" descr="Основатели i’way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" y="2194560"/>
              <a:ext cx="3017520" cy="3840480"/>
            </a:xfrm>
            <a:prstGeom prst="rect">
              <a:avLst/>
            </a:prstGeom>
          </p:spPr>
        </p:pic>
        <p:sp>
          <p:nvSpPr>
            <p:cNvPr id="7" name="Линия времени"/>
            <p:cNvSpPr/>
            <p:nvPr/>
          </p:nvSpPr>
          <p:spPr>
            <a:xfrm>
              <a:off x="4572000" y="2468880"/>
              <a:ext cx="0" cy="3154680"/>
            </a:xfrm>
            <a:prstGeom prst="line">
              <a:avLst/>
            </a:prstGeom>
            <a:noFill/>
            <a:ln w="31750">
              <a:solidFill>
                <a:srgbClr val="8E9684"/>
              </a:solidFill>
              <a:prstDash val="solid"/>
            </a:ln>
          </p:spPr>
        </p:sp>
        <p:sp>
          <p:nvSpPr>
            <p:cNvPr id="8" name="Точка фон"/>
            <p:cNvSpPr/>
            <p:nvPr/>
          </p:nvSpPr>
          <p:spPr>
            <a:xfrm>
              <a:off x="4416552" y="23134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Веха 2009"/>
            <p:cNvSpPr/>
            <p:nvPr/>
          </p:nvSpPr>
          <p:spPr>
            <a:xfrm>
              <a:off x="4416552" y="2313432"/>
              <a:ext cx="310896" cy="31089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484E41"/>
              </a:solidFill>
              <a:prstDash val="solid"/>
            </a:ln>
          </p:spPr>
        </p:sp>
        <p:sp>
          <p:nvSpPr>
            <p:cNvPr id="10" name="Text 6"/>
            <p:cNvSpPr txBox="1"/>
            <p:nvPr/>
          </p:nvSpPr>
          <p:spPr>
            <a:xfrm>
              <a:off x="5029200" y="2240280"/>
              <a:ext cx="1463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200" b="1" dirty="0">
                  <a:solidFill>
                    <a:srgbClr val="484E41"/>
                  </a:solidFill>
                </a:rPr>
                <a:t>2009</a:t>
              </a:r>
              <a:endParaRPr lang="en-US" sz="3200" dirty="0"/>
            </a:p>
          </p:txBody>
        </p:sp>
        <p:sp>
          <p:nvSpPr>
            <p:cNvPr id="12" name="Text 8"/>
            <p:cNvSpPr txBox="1"/>
            <p:nvPr/>
          </p:nvSpPr>
          <p:spPr>
            <a:xfrm>
              <a:off x="6583680" y="2514600"/>
              <a:ext cx="4937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ООО «Сибирская трансферная компания»</a:t>
              </a:r>
              <a:endParaRPr lang="en-US" sz="1600" dirty="0"/>
            </a:p>
          </p:txBody>
        </p:sp>
        <p:sp>
          <p:nvSpPr>
            <p:cNvPr id="13" name="Точка фон"/>
            <p:cNvSpPr/>
            <p:nvPr/>
          </p:nvSpPr>
          <p:spPr>
            <a:xfrm>
              <a:off x="4416552" y="336499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4" name="Веха 2011"/>
            <p:cNvSpPr/>
            <p:nvPr/>
          </p:nvSpPr>
          <p:spPr>
            <a:xfrm>
              <a:off x="4416552" y="3364992"/>
              <a:ext cx="310896" cy="31089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484E41"/>
              </a:solidFill>
              <a:prstDash val="solid"/>
            </a:ln>
          </p:spPr>
        </p:sp>
        <p:sp>
          <p:nvSpPr>
            <p:cNvPr id="15" name="Text 11"/>
            <p:cNvSpPr txBox="1"/>
            <p:nvPr/>
          </p:nvSpPr>
          <p:spPr>
            <a:xfrm>
              <a:off x="5029200" y="3291840"/>
              <a:ext cx="1463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200" b="1" dirty="0">
                  <a:solidFill>
                    <a:srgbClr val="484E41"/>
                  </a:solidFill>
                </a:rPr>
                <a:t>2011</a:t>
              </a:r>
              <a:endParaRPr lang="en-US" sz="3200" dirty="0"/>
            </a:p>
          </p:txBody>
        </p:sp>
        <p:sp>
          <p:nvSpPr>
            <p:cNvPr id="16" name="Text 12"/>
            <p:cNvSpPr txBox="1"/>
            <p:nvPr/>
          </p:nvSpPr>
          <p:spPr>
            <a:xfrm>
              <a:off x="6583680" y="3291840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00" b="1" spc="150" kern="0" dirty="0">
                  <a:solidFill>
                    <a:srgbClr val="009634"/>
                  </a:solidFill>
                </a:rPr>
                <a:t>Выход в онлайн</a:t>
              </a:r>
              <a:endParaRPr lang="en-US" sz="1200" dirty="0"/>
            </a:p>
          </p:txBody>
        </p:sp>
        <p:sp>
          <p:nvSpPr>
            <p:cNvPr id="17" name="Text 13"/>
            <p:cNvSpPr txBox="1"/>
            <p:nvPr/>
          </p:nvSpPr>
          <p:spPr>
            <a:xfrm>
              <a:off x="6583680" y="3566160"/>
              <a:ext cx="4937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iWay Express: запустили двуязычный сайт с онлайн-бронированием</a:t>
              </a:r>
              <a:endParaRPr lang="en-US" sz="1600" dirty="0"/>
            </a:p>
          </p:txBody>
        </p:sp>
        <p:sp>
          <p:nvSpPr>
            <p:cNvPr id="18" name="Точка фон"/>
            <p:cNvSpPr/>
            <p:nvPr/>
          </p:nvSpPr>
          <p:spPr>
            <a:xfrm>
              <a:off x="4416552" y="441655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19" name="Веха 2013"/>
            <p:cNvSpPr/>
            <p:nvPr/>
          </p:nvSpPr>
          <p:spPr>
            <a:xfrm>
              <a:off x="4416552" y="4416552"/>
              <a:ext cx="310896" cy="31089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484E41"/>
              </a:solidFill>
              <a:prstDash val="solid"/>
            </a:ln>
          </p:spPr>
        </p:sp>
        <p:sp>
          <p:nvSpPr>
            <p:cNvPr id="20" name="Text 16"/>
            <p:cNvSpPr txBox="1"/>
            <p:nvPr/>
          </p:nvSpPr>
          <p:spPr>
            <a:xfrm>
              <a:off x="5029200" y="4343400"/>
              <a:ext cx="1463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200" b="1" dirty="0">
                  <a:solidFill>
                    <a:srgbClr val="484E41"/>
                  </a:solidFill>
                </a:rPr>
                <a:t>2013</a:t>
              </a:r>
              <a:endParaRPr lang="en-US" sz="3200" dirty="0"/>
            </a:p>
          </p:txBody>
        </p:sp>
        <p:sp>
          <p:nvSpPr>
            <p:cNvPr id="21" name="Text 17"/>
            <p:cNvSpPr txBox="1"/>
            <p:nvPr/>
          </p:nvSpPr>
          <p:spPr>
            <a:xfrm>
              <a:off x="6583680" y="4343400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00" b="1" spc="150" kern="0" dirty="0">
                  <a:solidFill>
                    <a:srgbClr val="009634"/>
                  </a:solidFill>
                </a:rPr>
                <a:t>Новый бренд</a:t>
              </a:r>
              <a:endParaRPr lang="en-US" sz="1200" dirty="0"/>
            </a:p>
          </p:txBody>
        </p:sp>
        <p:sp>
          <p:nvSpPr>
            <p:cNvPr id="22" name="Text 18"/>
            <p:cNvSpPr txBox="1"/>
            <p:nvPr/>
          </p:nvSpPr>
          <p:spPr>
            <a:xfrm>
              <a:off x="6583680" y="4617720"/>
              <a:ext cx="4937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Родился бренд i’way</a:t>
              </a:r>
              <a:endParaRPr lang="en-US" sz="1600" dirty="0"/>
            </a:p>
          </p:txBody>
        </p:sp>
        <p:sp>
          <p:nvSpPr>
            <p:cNvPr id="23" name="Точка фон"/>
            <p:cNvSpPr/>
            <p:nvPr/>
          </p:nvSpPr>
          <p:spPr>
            <a:xfrm>
              <a:off x="4416552" y="5468112"/>
              <a:ext cx="310896" cy="3108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24" name="Веха 2023"/>
            <p:cNvSpPr/>
            <p:nvPr/>
          </p:nvSpPr>
          <p:spPr>
            <a:xfrm>
              <a:off x="4416552" y="5468112"/>
              <a:ext cx="310896" cy="31089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9634"/>
              </a:solidFill>
              <a:prstDash val="solid"/>
            </a:ln>
          </p:spPr>
        </p:sp>
        <p:sp>
          <p:nvSpPr>
            <p:cNvPr id="25" name="Text 21"/>
            <p:cNvSpPr txBox="1"/>
            <p:nvPr/>
          </p:nvSpPr>
          <p:spPr>
            <a:xfrm>
              <a:off x="5029200" y="5394960"/>
              <a:ext cx="1463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200" b="1" dirty="0">
                  <a:solidFill>
                    <a:srgbClr val="009634"/>
                  </a:solidFill>
                </a:rPr>
                <a:t>2023</a:t>
              </a:r>
              <a:endParaRPr lang="en-US" sz="3200" dirty="0"/>
            </a:p>
          </p:txBody>
        </p:sp>
        <p:sp>
          <p:nvSpPr>
            <p:cNvPr id="26" name="Text 22"/>
            <p:cNvSpPr txBox="1"/>
            <p:nvPr/>
          </p:nvSpPr>
          <p:spPr>
            <a:xfrm>
              <a:off x="6583680" y="5394960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200" b="1" spc="150" kern="0" dirty="0">
                  <a:solidFill>
                    <a:srgbClr val="009634"/>
                  </a:solidFill>
                </a:rPr>
                <a:t>Выход за границу</a:t>
              </a:r>
              <a:endParaRPr lang="en-US" sz="1200" dirty="0"/>
            </a:p>
          </p:txBody>
        </p:sp>
        <p:sp>
          <p:nvSpPr>
            <p:cNvPr id="27" name="Text 23"/>
            <p:cNvSpPr txBox="1"/>
            <p:nvPr/>
          </p:nvSpPr>
          <p:spPr>
            <a:xfrm>
              <a:off x="6583680" y="5669280"/>
              <a:ext cx="4937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Открыли офис в Казахстане</a:t>
              </a:r>
              <a:endParaRPr lang="en-US" sz="1600" dirty="0"/>
            </a:p>
          </p:txBody>
        </p:sp>
      </p:grpSp>
      <p:sp>
        <p:nvSpPr>
          <p:cNvPr id="11" name="Text 7"/>
          <p:cNvSpPr txBox="1"/>
          <p:nvPr/>
        </p:nvSpPr>
        <p:spPr>
          <a:xfrm>
            <a:off x="6583680" y="2240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9634"/>
                </a:solidFill>
              </a:rPr>
              <a:t>Основание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Фундамент"/>
          <p:cNvSpPr/>
          <p:nvPr/>
        </p:nvSpPr>
        <p:spPr>
          <a:xfrm>
            <a:off x="731520" y="685800"/>
            <a:ext cx="169621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239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ФУНДАМЕНТ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Наша миссия</a:t>
            </a:r>
            <a:endParaRPr lang="en-US" sz="3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103120"/>
            <a:ext cx="10728655" cy="4023360"/>
            <a:chOff x="731520" y="2103120"/>
            <a:chExt cx="10728655" cy="4023360"/>
          </a:xfrm>
        </p:grpSpPr>
        <p:sp>
          <p:nvSpPr>
            <p:cNvPr id="6" name="Миссия"/>
            <p:cNvSpPr/>
            <p:nvPr/>
          </p:nvSpPr>
          <p:spPr>
            <a:xfrm>
              <a:off x="731520" y="2103120"/>
              <a:ext cx="10728655" cy="4023360"/>
            </a:xfrm>
            <a:prstGeom prst="roundRect">
              <a:avLst>
                <a:gd name="adj" fmla="val 3409"/>
              </a:avLst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7" name="Text 4"/>
            <p:cNvSpPr txBox="1"/>
            <p:nvPr/>
          </p:nvSpPr>
          <p:spPr>
            <a:xfrm>
              <a:off x="1371600" y="2468880"/>
              <a:ext cx="9326880" cy="2743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000" dirty="0">
                  <a:solidFill>
                    <a:srgbClr val="FFFFFF"/>
                  </a:solidFill>
                </a:rPr>
                <a:t>i’way меняет представление о транспортном сервисе в России и мире и, ориентируясь на потребности клиентов, выступает законодателем стандартов обслуживания.</a:t>
              </a:r>
              <a:endParaRPr lang="en-US" sz="3000" dirty="0"/>
            </a:p>
          </p:txBody>
        </p:sp>
        <p:pic>
          <p:nvPicPr>
            <p:cNvPr id="8" name="Логотип" descr="i’way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5349240"/>
              <a:ext cx="868680" cy="372808"/>
            </a:xfrm>
            <a:prstGeom prst="rect">
              <a:avLst/>
            </a:prstGeom>
          </p:spPr>
        </p:pic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Бренд-код"/>
          <p:cNvSpPr/>
          <p:nvPr/>
        </p:nvSpPr>
        <p:spPr>
          <a:xfrm>
            <a:off x="731520" y="685800"/>
            <a:ext cx="169621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2390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БРЕНД-КОД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Наши ценности</a:t>
            </a:r>
            <a:endParaRPr lang="en-US" sz="3600" dirty="0"/>
          </a:p>
        </p:txBody>
      </p:sp>
      <p:grpSp>
        <p:nvGrpSpPr>
          <p:cNvPr id="33" name="Основной блок"/>
          <p:cNvGrpSpPr/>
          <p:nvPr/>
        </p:nvGrpSpPr>
        <p:grpSpPr>
          <a:xfrm>
            <a:off x="731520" y="2103120"/>
            <a:ext cx="10728655" cy="4160520"/>
            <a:chOff x="731520" y="2103120"/>
            <a:chExt cx="10728655" cy="4160520"/>
          </a:xfrm>
        </p:grpSpPr>
        <p:sp>
          <p:nvSpPr>
            <p:cNvPr id="6" name="Ценность Открытость"/>
            <p:cNvSpPr/>
            <p:nvPr/>
          </p:nvSpPr>
          <p:spPr>
            <a:xfrm>
              <a:off x="731520" y="2103120"/>
              <a:ext cx="3429000" cy="1965960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7" name="Иконка"/>
            <p:cNvSpPr/>
            <p:nvPr/>
          </p:nvSpPr>
          <p:spPr>
            <a:xfrm>
              <a:off x="1005840" y="2359152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8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1628" y="2494940"/>
              <a:ext cx="231343" cy="231343"/>
            </a:xfrm>
            <a:prstGeom prst="rect">
              <a:avLst/>
            </a:prstGeom>
          </p:spPr>
        </p:pic>
        <p:sp>
          <p:nvSpPr>
            <p:cNvPr id="9" name="Text 5"/>
            <p:cNvSpPr txBox="1"/>
            <p:nvPr/>
          </p:nvSpPr>
          <p:spPr>
            <a:xfrm>
              <a:off x="1691640" y="2359152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Открытость</a:t>
              </a:r>
              <a:endParaRPr lang="en-US" sz="1800" dirty="0"/>
            </a:p>
          </p:txBody>
        </p:sp>
        <p:sp>
          <p:nvSpPr>
            <p:cNvPr id="10" name="Text 6"/>
            <p:cNvSpPr txBox="1"/>
            <p:nvPr/>
          </p:nvSpPr>
          <p:spPr>
            <a:xfrm>
              <a:off x="1005840" y="3017520"/>
              <a:ext cx="2880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Готовность принимать новое, прислушиваться к просьбам и проблемам клиентов; старание быть нужным.</a:t>
              </a:r>
              <a:endParaRPr lang="en-US" sz="1300" dirty="0"/>
            </a:p>
          </p:txBody>
        </p:sp>
        <p:sp>
          <p:nvSpPr>
            <p:cNvPr id="11" name="Ценность Честность"/>
            <p:cNvSpPr/>
            <p:nvPr/>
          </p:nvSpPr>
          <p:spPr>
            <a:xfrm>
              <a:off x="4381348" y="2103120"/>
              <a:ext cx="3429000" cy="1965960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2" name="Иконка"/>
            <p:cNvSpPr/>
            <p:nvPr/>
          </p:nvSpPr>
          <p:spPr>
            <a:xfrm>
              <a:off x="4655668" y="2359152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3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456" y="2494940"/>
              <a:ext cx="231343" cy="231343"/>
            </a:xfrm>
            <a:prstGeom prst="rect">
              <a:avLst/>
            </a:prstGeom>
          </p:spPr>
        </p:pic>
        <p:sp>
          <p:nvSpPr>
            <p:cNvPr id="14" name="Text 9"/>
            <p:cNvSpPr txBox="1"/>
            <p:nvPr/>
          </p:nvSpPr>
          <p:spPr>
            <a:xfrm>
              <a:off x="5341468" y="2359152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Честность</a:t>
              </a:r>
              <a:endParaRPr lang="en-US" sz="1800" dirty="0"/>
            </a:p>
          </p:txBody>
        </p:sp>
        <p:sp>
          <p:nvSpPr>
            <p:cNvPr id="15" name="Text 10"/>
            <p:cNvSpPr txBox="1"/>
            <p:nvPr/>
          </p:nvSpPr>
          <p:spPr>
            <a:xfrm>
              <a:off x="4655668" y="3017520"/>
              <a:ext cx="2880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Соблюдение делового этикета и корпоративной политики; неприятие обмана и хитростей в корыстных целях.</a:t>
              </a:r>
              <a:endParaRPr lang="en-US" sz="1300" dirty="0"/>
            </a:p>
          </p:txBody>
        </p:sp>
        <p:sp>
          <p:nvSpPr>
            <p:cNvPr id="16" name="Ценность Лидерство"/>
            <p:cNvSpPr/>
            <p:nvPr/>
          </p:nvSpPr>
          <p:spPr>
            <a:xfrm>
              <a:off x="8031175" y="2103120"/>
              <a:ext cx="3429000" cy="1965960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7" name="Иконка"/>
            <p:cNvSpPr/>
            <p:nvPr/>
          </p:nvSpPr>
          <p:spPr>
            <a:xfrm>
              <a:off x="8305495" y="2359152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8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1284" y="2494940"/>
              <a:ext cx="231343" cy="231343"/>
            </a:xfrm>
            <a:prstGeom prst="rect">
              <a:avLst/>
            </a:prstGeom>
          </p:spPr>
        </p:pic>
        <p:sp>
          <p:nvSpPr>
            <p:cNvPr id="19" name="Text 13"/>
            <p:cNvSpPr txBox="1"/>
            <p:nvPr/>
          </p:nvSpPr>
          <p:spPr>
            <a:xfrm>
              <a:off x="8991295" y="2359152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Лидерство</a:t>
              </a:r>
              <a:endParaRPr lang="en-US" sz="18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305495" y="3017520"/>
              <a:ext cx="2880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Предоставление клиентам лучшего; ввод новых стандартов обслуживания.</a:t>
              </a:r>
              <a:endParaRPr lang="en-US" sz="1300" dirty="0"/>
            </a:p>
          </p:txBody>
        </p:sp>
        <p:sp>
          <p:nvSpPr>
            <p:cNvPr id="21" name="Ценность Технологичность"/>
            <p:cNvSpPr/>
            <p:nvPr/>
          </p:nvSpPr>
          <p:spPr>
            <a:xfrm>
              <a:off x="731520" y="4297680"/>
              <a:ext cx="3429000" cy="1965960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2" name="Иконка"/>
            <p:cNvSpPr/>
            <p:nvPr/>
          </p:nvSpPr>
          <p:spPr>
            <a:xfrm>
              <a:off x="1005840" y="4553712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3" name="Image 4" descr="preencoded.png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41628" y="4689500"/>
              <a:ext cx="231343" cy="231343"/>
            </a:xfrm>
            <a:prstGeom prst="rect">
              <a:avLst/>
            </a:prstGeom>
          </p:spPr>
        </p:pic>
        <p:sp>
          <p:nvSpPr>
            <p:cNvPr id="24" name="Text 17"/>
            <p:cNvSpPr txBox="1"/>
            <p:nvPr/>
          </p:nvSpPr>
          <p:spPr>
            <a:xfrm>
              <a:off x="1691640" y="4553712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Технологичность</a:t>
              </a:r>
              <a:endParaRPr lang="en-US" sz="1800" dirty="0"/>
            </a:p>
          </p:txBody>
        </p:sp>
        <p:sp>
          <p:nvSpPr>
            <p:cNvPr id="25" name="Text 18"/>
            <p:cNvSpPr txBox="1"/>
            <p:nvPr/>
          </p:nvSpPr>
          <p:spPr>
            <a:xfrm>
              <a:off x="1005840" y="5212080"/>
              <a:ext cx="2880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Внедрение современных решений.</a:t>
              </a:r>
              <a:endParaRPr lang="en-US" sz="1300" dirty="0"/>
            </a:p>
          </p:txBody>
        </p:sp>
        <p:sp>
          <p:nvSpPr>
            <p:cNvPr id="26" name="Ценность Человечность"/>
            <p:cNvSpPr/>
            <p:nvPr/>
          </p:nvSpPr>
          <p:spPr>
            <a:xfrm>
              <a:off x="4381348" y="4297680"/>
              <a:ext cx="3429000" cy="1965960"/>
            </a:xfrm>
            <a:prstGeom prst="roundRect">
              <a:avLst>
                <a:gd name="adj" fmla="val 5581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7" name="Иконка"/>
            <p:cNvSpPr/>
            <p:nvPr/>
          </p:nvSpPr>
          <p:spPr>
            <a:xfrm>
              <a:off x="4655668" y="4553712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8" name="Image 5" descr="preencoded.png">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1456" y="4689500"/>
              <a:ext cx="231343" cy="231343"/>
            </a:xfrm>
            <a:prstGeom prst="rect">
              <a:avLst/>
            </a:prstGeom>
          </p:spPr>
        </p:pic>
        <p:sp>
          <p:nvSpPr>
            <p:cNvPr id="29" name="Text 21"/>
            <p:cNvSpPr txBox="1"/>
            <p:nvPr/>
          </p:nvSpPr>
          <p:spPr>
            <a:xfrm>
              <a:off x="5341468" y="4553712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Человечность</a:t>
              </a:r>
              <a:endParaRPr lang="en-US" sz="1800" dirty="0"/>
            </a:p>
          </p:txBody>
        </p:sp>
        <p:sp>
          <p:nvSpPr>
            <p:cNvPr id="30" name="Text 22"/>
            <p:cNvSpPr txBox="1"/>
            <p:nvPr/>
          </p:nvSpPr>
          <p:spPr>
            <a:xfrm>
              <a:off x="4655668" y="5212080"/>
              <a:ext cx="288036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300" dirty="0">
                  <a:solidFill>
                    <a:srgbClr val="5A6055"/>
                  </a:solidFill>
                </a:rPr>
                <a:t>Уважительное отношение; дружелюбие в общении.</a:t>
              </a:r>
              <a:endParaRPr lang="en-US" sz="1300" dirty="0"/>
            </a:p>
          </p:txBody>
        </p:sp>
        <p:sp>
          <p:nvSpPr>
            <p:cNvPr id="31" name="Логотип"/>
            <p:cNvSpPr/>
            <p:nvPr/>
          </p:nvSpPr>
          <p:spPr>
            <a:xfrm>
              <a:off x="8031175" y="4297680"/>
              <a:ext cx="3429000" cy="1965960"/>
            </a:xfrm>
            <a:prstGeom prst="roundRect">
              <a:avLst>
                <a:gd name="adj" fmla="val 5581"/>
              </a:avLst>
            </a:prstGeom>
            <a:solidFill>
              <a:srgbClr val="F3F5F1"/>
            </a:solidFill>
            <a:ln w="12700">
              <a:solidFill>
                <a:srgbClr val="D5D9CF"/>
              </a:solidFill>
              <a:prstDash val="solid"/>
            </a:ln>
          </p:spPr>
        </p:sp>
        <p:pic>
          <p:nvPicPr>
            <p:cNvPr id="32" name="Логотип" descr="i’way">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6995" y="4842412"/>
              <a:ext cx="1737360" cy="876496"/>
            </a:xfrm>
            <a:prstGeom prst="rect">
              <a:avLst/>
            </a:prstGeom>
          </p:spPr>
        </p:pic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ультура i’way"/>
          <p:cNvSpPr/>
          <p:nvPr/>
        </p:nvSpPr>
        <p:spPr>
          <a:xfrm>
            <a:off x="731520" y="685800"/>
            <a:ext cx="222199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КУЛЬТУРА I’WAY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у нас принято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Пять правил, по которым мы живём и работаем каждый день.</a:t>
            </a:r>
            <a:endParaRPr lang="en-US" sz="1600" dirty="0"/>
          </a:p>
        </p:txBody>
      </p:sp>
      <p:grpSp>
        <p:nvGrpSpPr>
          <p:cNvPr id="33" name="Основной блок"/>
          <p:cNvGrpSpPr/>
          <p:nvPr/>
        </p:nvGrpSpPr>
        <p:grpSpPr>
          <a:xfrm>
            <a:off x="731520" y="2642616"/>
            <a:ext cx="10728655" cy="3566160"/>
            <a:chOff x="731520" y="2642616"/>
            <a:chExt cx="10728655" cy="3566160"/>
          </a:xfrm>
        </p:grpSpPr>
        <p:sp>
          <p:nvSpPr>
            <p:cNvPr id="7" name="Линия"/>
            <p:cNvSpPr/>
            <p:nvPr/>
          </p:nvSpPr>
          <p:spPr>
            <a:xfrm>
              <a:off x="731520" y="2642616"/>
              <a:ext cx="10728655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731520" y="2734056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308" y="2869844"/>
              <a:ext cx="231343" cy="231343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554480" y="2697480"/>
              <a:ext cx="32918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900" b="1" dirty="0">
                  <a:solidFill>
                    <a:srgbClr val="484E41"/>
                  </a:solidFill>
                </a:rPr>
                <a:t>Дресс-код</a:t>
              </a:r>
              <a:endParaRPr lang="en-US" sz="19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5120640" y="2697480"/>
              <a:ext cx="633679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5A6055"/>
                  </a:solidFill>
                </a:rPr>
                <a:t>Smart Casual: выглядим опрятно и остаёмся собой</a:t>
              </a:r>
              <a:endParaRPr lang="en-US" sz="1600" dirty="0"/>
            </a:p>
          </p:txBody>
        </p:sp>
        <p:sp>
          <p:nvSpPr>
            <p:cNvPr id="12" name="Линия"/>
            <p:cNvSpPr/>
            <p:nvPr/>
          </p:nvSpPr>
          <p:spPr>
            <a:xfrm>
              <a:off x="731520" y="3355848"/>
              <a:ext cx="10728655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3" name="Иконка"/>
            <p:cNvSpPr/>
            <p:nvPr/>
          </p:nvSpPr>
          <p:spPr>
            <a:xfrm>
              <a:off x="731520" y="3447288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4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308" y="3583076"/>
              <a:ext cx="231343" cy="231343"/>
            </a:xfrm>
            <a:prstGeom prst="rect">
              <a:avLst/>
            </a:prstGeom>
          </p:spPr>
        </p:pic>
        <p:sp>
          <p:nvSpPr>
            <p:cNvPr id="15" name="Text 10"/>
            <p:cNvSpPr txBox="1"/>
            <p:nvPr/>
          </p:nvSpPr>
          <p:spPr>
            <a:xfrm>
              <a:off x="1554480" y="3410712"/>
              <a:ext cx="32918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900" b="1" dirty="0">
                  <a:solidFill>
                    <a:srgbClr val="484E41"/>
                  </a:solidFill>
                </a:rPr>
                <a:t>Руководитель рядом</a:t>
              </a:r>
              <a:endParaRPr lang="en-US" sz="1900" dirty="0"/>
            </a:p>
          </p:txBody>
        </p:sp>
        <p:sp>
          <p:nvSpPr>
            <p:cNvPr id="16" name="Text 11"/>
            <p:cNvSpPr txBox="1"/>
            <p:nvPr/>
          </p:nvSpPr>
          <p:spPr>
            <a:xfrm>
              <a:off x="5120640" y="3410712"/>
              <a:ext cx="633679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5A6055"/>
                  </a:solidFill>
                </a:rPr>
                <a:t>Он — первая точка входа для любого вопроса</a:t>
              </a:r>
              <a:endParaRPr lang="en-US" sz="1600" dirty="0"/>
            </a:p>
          </p:txBody>
        </p:sp>
        <p:sp>
          <p:nvSpPr>
            <p:cNvPr id="17" name="Линия"/>
            <p:cNvSpPr/>
            <p:nvPr/>
          </p:nvSpPr>
          <p:spPr>
            <a:xfrm>
              <a:off x="731520" y="4069080"/>
              <a:ext cx="10728655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18" name="Иконка"/>
            <p:cNvSpPr/>
            <p:nvPr/>
          </p:nvSpPr>
          <p:spPr>
            <a:xfrm>
              <a:off x="731520" y="4160520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9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7308" y="4296308"/>
              <a:ext cx="231343" cy="231343"/>
            </a:xfrm>
            <a:prstGeom prst="rect">
              <a:avLst/>
            </a:prstGeom>
          </p:spPr>
        </p:pic>
        <p:sp>
          <p:nvSpPr>
            <p:cNvPr id="20" name="Text 14"/>
            <p:cNvSpPr txBox="1"/>
            <p:nvPr/>
          </p:nvSpPr>
          <p:spPr>
            <a:xfrm>
              <a:off x="1554480" y="4123944"/>
              <a:ext cx="32918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900" b="1" dirty="0">
                  <a:solidFill>
                    <a:srgbClr val="484E41"/>
                  </a:solidFill>
                </a:rPr>
                <a:t>Ответственность</a:t>
              </a:r>
              <a:endParaRPr lang="en-US" sz="1900" dirty="0"/>
            </a:p>
          </p:txBody>
        </p:sp>
        <p:sp>
          <p:nvSpPr>
            <p:cNvPr id="21" name="Text 15"/>
            <p:cNvSpPr txBox="1"/>
            <p:nvPr/>
          </p:nvSpPr>
          <p:spPr>
            <a:xfrm>
              <a:off x="5120640" y="4123944"/>
              <a:ext cx="633679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5A6055"/>
                  </a:solidFill>
                </a:rPr>
                <a:t>Отвечаем за результат и держим слово</a:t>
              </a:r>
              <a:endParaRPr lang="en-US" sz="1600" dirty="0"/>
            </a:p>
          </p:txBody>
        </p:sp>
        <p:sp>
          <p:nvSpPr>
            <p:cNvPr id="22" name="Линия"/>
            <p:cNvSpPr/>
            <p:nvPr/>
          </p:nvSpPr>
          <p:spPr>
            <a:xfrm>
              <a:off x="731520" y="4782312"/>
              <a:ext cx="10728655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3" name="Иконка"/>
            <p:cNvSpPr/>
            <p:nvPr/>
          </p:nvSpPr>
          <p:spPr>
            <a:xfrm>
              <a:off x="731520" y="4873752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4" name="Image 4" descr="preencoded.png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308" y="5009540"/>
              <a:ext cx="231343" cy="231343"/>
            </a:xfrm>
            <a:prstGeom prst="rect">
              <a:avLst/>
            </a:prstGeom>
          </p:spPr>
        </p:pic>
        <p:sp>
          <p:nvSpPr>
            <p:cNvPr id="25" name="Text 18"/>
            <p:cNvSpPr txBox="1"/>
            <p:nvPr/>
          </p:nvSpPr>
          <p:spPr>
            <a:xfrm>
              <a:off x="1554480" y="4837176"/>
              <a:ext cx="32918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900" b="1" dirty="0">
                  <a:solidFill>
                    <a:srgbClr val="484E41"/>
                  </a:solidFill>
                </a:rPr>
                <a:t>Идеи приветствуются</a:t>
              </a:r>
              <a:endParaRPr lang="en-US" sz="1900" dirty="0"/>
            </a:p>
          </p:txBody>
        </p:sp>
        <p:sp>
          <p:nvSpPr>
            <p:cNvPr id="26" name="Text 19"/>
            <p:cNvSpPr txBox="1"/>
            <p:nvPr/>
          </p:nvSpPr>
          <p:spPr>
            <a:xfrm>
              <a:off x="5120640" y="4837176"/>
              <a:ext cx="633679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5A6055"/>
                  </a:solidFill>
                </a:rPr>
                <a:t>Предложил полезное — поможем воплотить</a:t>
              </a:r>
              <a:endParaRPr lang="en-US" sz="1600" dirty="0"/>
            </a:p>
          </p:txBody>
        </p:sp>
        <p:sp>
          <p:nvSpPr>
            <p:cNvPr id="27" name="Линия"/>
            <p:cNvSpPr/>
            <p:nvPr/>
          </p:nvSpPr>
          <p:spPr>
            <a:xfrm>
              <a:off x="731520" y="5495544"/>
              <a:ext cx="10728655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  <p:sp>
          <p:nvSpPr>
            <p:cNvPr id="28" name="Иконка"/>
            <p:cNvSpPr/>
            <p:nvPr/>
          </p:nvSpPr>
          <p:spPr>
            <a:xfrm>
              <a:off x="731520" y="5586984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9" name="Image 5" descr="preencoded.png">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308" y="5722772"/>
              <a:ext cx="231343" cy="231343"/>
            </a:xfrm>
            <a:prstGeom prst="rect">
              <a:avLst/>
            </a:prstGeom>
          </p:spPr>
        </p:pic>
        <p:sp>
          <p:nvSpPr>
            <p:cNvPr id="30" name="Text 22"/>
            <p:cNvSpPr txBox="1"/>
            <p:nvPr/>
          </p:nvSpPr>
          <p:spPr>
            <a:xfrm>
              <a:off x="1554480" y="5550408"/>
              <a:ext cx="3291840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900" b="1" dirty="0">
                  <a:solidFill>
                    <a:srgbClr val="484E41"/>
                  </a:solidFill>
                </a:rPr>
                <a:t>Неравнодушие</a:t>
              </a:r>
              <a:endParaRPr lang="en-US" sz="1900" dirty="0"/>
            </a:p>
          </p:txBody>
        </p:sp>
        <p:sp>
          <p:nvSpPr>
            <p:cNvPr id="31" name="Text 23"/>
            <p:cNvSpPr txBox="1"/>
            <p:nvPr/>
          </p:nvSpPr>
          <p:spPr>
            <a:xfrm>
              <a:off x="5120640" y="5550408"/>
              <a:ext cx="6336792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5A6055"/>
                  </a:solidFill>
                </a:rPr>
                <a:t>Нам не всё равно — к клиентам и друг к другу</a:t>
              </a:r>
              <a:endParaRPr lang="en-US" sz="1600" dirty="0"/>
            </a:p>
          </p:txBody>
        </p:sp>
        <p:sp>
          <p:nvSpPr>
            <p:cNvPr id="32" name="Линия"/>
            <p:cNvSpPr/>
            <p:nvPr/>
          </p:nvSpPr>
          <p:spPr>
            <a:xfrm>
              <a:off x="731520" y="6208776"/>
              <a:ext cx="10728655" cy="0"/>
            </a:xfrm>
            <a:prstGeom prst="line">
              <a:avLst/>
            </a:prstGeom>
            <a:noFill/>
            <a:ln w="12700">
              <a:solidFill>
                <a:srgbClr val="D5D9CF"/>
              </a:solidFill>
              <a:prstDash val="solid"/>
            </a:ln>
          </p:spPr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Маленькая деталь"/>
          <p:cNvSpPr/>
          <p:nvPr/>
        </p:nvSpPr>
        <p:spPr>
          <a:xfrm>
            <a:off x="731520" y="685800"/>
            <a:ext cx="2432304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МАЛЕНЬКАЯ ДЕТАЛЬ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Наш апостроф — особенный</a:t>
            </a:r>
            <a:endParaRPr lang="en-US" sz="3600" dirty="0"/>
          </a:p>
        </p:txBody>
      </p:sp>
      <p:grpSp>
        <p:nvGrpSpPr>
          <p:cNvPr id="29" name="Основной блок"/>
          <p:cNvGrpSpPr/>
          <p:nvPr/>
        </p:nvGrpSpPr>
        <p:grpSpPr>
          <a:xfrm>
            <a:off x="731520" y="2194560"/>
            <a:ext cx="10725912" cy="3931920"/>
            <a:chOff x="731520" y="2194560"/>
            <a:chExt cx="10725912" cy="3931920"/>
          </a:xfrm>
        </p:grpSpPr>
        <p:sp>
          <p:nvSpPr>
            <p:cNvPr id="6" name="Плитка логотипа"/>
            <p:cNvSpPr/>
            <p:nvPr/>
          </p:nvSpPr>
          <p:spPr>
            <a:xfrm>
              <a:off x="731520" y="2194560"/>
              <a:ext cx="4754880" cy="3931920"/>
            </a:xfrm>
            <a:prstGeom prst="roundRect">
              <a:avLst>
                <a:gd name="adj" fmla="val 2791"/>
              </a:avLst>
            </a:prstGeom>
            <a:solidFill>
              <a:srgbClr val="F3F5F1"/>
            </a:solidFill>
            <a:ln w="12700">
              <a:solidFill>
                <a:srgbClr val="D5D9CF"/>
              </a:solidFill>
              <a:prstDash val="solid"/>
            </a:ln>
          </p:spPr>
        </p:sp>
        <p:pic>
          <p:nvPicPr>
            <p:cNvPr id="7" name="Логотип" descr="i’way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600" y="3108960"/>
              <a:ext cx="3474720" cy="1752992"/>
            </a:xfrm>
            <a:prstGeom prst="rect">
              <a:avLst/>
            </a:prstGeom>
          </p:spPr>
        </p:pic>
        <p:sp>
          <p:nvSpPr>
            <p:cNvPr id="8" name="Вариант i’way"/>
            <p:cNvSpPr/>
            <p:nvPr/>
          </p:nvSpPr>
          <p:spPr>
            <a:xfrm>
              <a:off x="5760720" y="2194560"/>
              <a:ext cx="5696712" cy="96012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2700">
              <a:solidFill>
                <a:srgbClr val="009634"/>
              </a:solidFill>
              <a:prstDash val="solid"/>
            </a:ln>
          </p:spPr>
        </p:sp>
        <p:sp>
          <p:nvSpPr>
            <p:cNvPr id="9" name="Text 5"/>
            <p:cNvSpPr txBox="1"/>
            <p:nvPr/>
          </p:nvSpPr>
          <p:spPr>
            <a:xfrm>
              <a:off x="6035040" y="2194560"/>
              <a:ext cx="210312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000" b="1" dirty="0">
                  <a:solidFill>
                    <a:srgbClr val="009634"/>
                  </a:solidFill>
                </a:rPr>
                <a:t>i’way</a:t>
              </a:r>
              <a:endParaRPr lang="en-US" sz="3000" dirty="0"/>
            </a:p>
          </p:txBody>
        </p:sp>
        <p:sp>
          <p:nvSpPr>
            <p:cNvPr id="10" name="Text 6"/>
            <p:cNvSpPr txBox="1"/>
            <p:nvPr/>
          </p:nvSpPr>
          <p:spPr>
            <a:xfrm>
              <a:off x="8046720" y="2194560"/>
              <a:ext cx="246888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Правильно — с красивым апострофом</a:t>
              </a:r>
              <a:endParaRPr lang="en-US" sz="1400" dirty="0"/>
            </a:p>
          </p:txBody>
        </p:sp>
        <p:sp>
          <p:nvSpPr>
            <p:cNvPr id="11" name="Верно"/>
            <p:cNvSpPr/>
            <p:nvPr/>
          </p:nvSpPr>
          <p:spPr>
            <a:xfrm>
              <a:off x="10698480" y="2423160"/>
              <a:ext cx="502920" cy="502920"/>
            </a:xfrm>
            <a:prstGeom prst="ellipse">
              <a:avLst/>
            </a:prstGeom>
            <a:solidFill>
              <a:srgbClr val="009634"/>
            </a:solidFill>
            <a:ln w="12700">
              <a:solidFill>
                <a:srgbClr val="009634"/>
              </a:solidFill>
              <a:prstDash val="solid"/>
            </a:ln>
          </p:spPr>
        </p:sp>
        <p:pic>
          <p:nvPicPr>
            <p:cNvPr id="12" name="Image 2" descr="верно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5640" y="2560320"/>
              <a:ext cx="228600" cy="228600"/>
            </a:xfrm>
            <a:prstGeom prst="rect">
              <a:avLst/>
            </a:prstGeom>
          </p:spPr>
        </p:pic>
        <p:sp>
          <p:nvSpPr>
            <p:cNvPr id="13" name="Вариант i'way"/>
            <p:cNvSpPr/>
            <p:nvPr/>
          </p:nvSpPr>
          <p:spPr>
            <a:xfrm>
              <a:off x="5760720" y="3291840"/>
              <a:ext cx="5696712" cy="96012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4" name="Text 9"/>
            <p:cNvSpPr txBox="1"/>
            <p:nvPr/>
          </p:nvSpPr>
          <p:spPr>
            <a:xfrm>
              <a:off x="6035040" y="3291840"/>
              <a:ext cx="210312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000" b="1" dirty="0">
                  <a:solidFill>
                    <a:srgbClr val="5A6055"/>
                  </a:solidFill>
                </a:rPr>
                <a:t>i'way</a:t>
              </a:r>
              <a:endParaRPr lang="en-US" sz="3000" dirty="0"/>
            </a:p>
          </p:txBody>
        </p:sp>
        <p:sp>
          <p:nvSpPr>
            <p:cNvPr id="15" name="Text 10"/>
            <p:cNvSpPr txBox="1"/>
            <p:nvPr/>
          </p:nvSpPr>
          <p:spPr>
            <a:xfrm>
              <a:off x="8046720" y="3291840"/>
              <a:ext cx="246888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Не так — прямой апостроф</a:t>
              </a:r>
              <a:endParaRPr lang="en-US" sz="1400" dirty="0"/>
            </a:p>
          </p:txBody>
        </p:sp>
        <p:sp>
          <p:nvSpPr>
            <p:cNvPr id="16" name="Неверно"/>
            <p:cNvSpPr/>
            <p:nvPr/>
          </p:nvSpPr>
          <p:spPr>
            <a:xfrm>
              <a:off x="10698480" y="3520440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7" name="Image 3" descr="неверно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35640" y="3657600"/>
              <a:ext cx="228600" cy="228600"/>
            </a:xfrm>
            <a:prstGeom prst="rect">
              <a:avLst/>
            </a:prstGeom>
          </p:spPr>
        </p:pic>
        <p:sp>
          <p:nvSpPr>
            <p:cNvPr id="18" name="Вариант i`way"/>
            <p:cNvSpPr/>
            <p:nvPr/>
          </p:nvSpPr>
          <p:spPr>
            <a:xfrm>
              <a:off x="5760720" y="4389120"/>
              <a:ext cx="5696712" cy="96012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9" name="Text 13"/>
            <p:cNvSpPr txBox="1"/>
            <p:nvPr/>
          </p:nvSpPr>
          <p:spPr>
            <a:xfrm>
              <a:off x="6035040" y="4389120"/>
              <a:ext cx="210312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3000" b="1" dirty="0">
                  <a:solidFill>
                    <a:srgbClr val="5A6055"/>
                  </a:solidFill>
                </a:rPr>
                <a:t>i`way</a:t>
              </a:r>
              <a:endParaRPr lang="en-US" sz="3000" dirty="0"/>
            </a:p>
          </p:txBody>
        </p:sp>
        <p:sp>
          <p:nvSpPr>
            <p:cNvPr id="20" name="Text 14"/>
            <p:cNvSpPr txBox="1"/>
            <p:nvPr/>
          </p:nvSpPr>
          <p:spPr>
            <a:xfrm>
              <a:off x="8046720" y="4389120"/>
              <a:ext cx="246888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И не так — обратный апостроф</a:t>
              </a:r>
              <a:endParaRPr lang="en-US" sz="1400" dirty="0"/>
            </a:p>
          </p:txBody>
        </p:sp>
        <p:sp>
          <p:nvSpPr>
            <p:cNvPr id="21" name="Неверно"/>
            <p:cNvSpPr/>
            <p:nvPr/>
          </p:nvSpPr>
          <p:spPr>
            <a:xfrm>
              <a:off x="10698480" y="4617720"/>
              <a:ext cx="502920" cy="50292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2" name="Image 4" descr="неверно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35640" y="4754880"/>
              <a:ext cx="228600" cy="228600"/>
            </a:xfrm>
            <a:prstGeom prst="rect">
              <a:avLst/>
            </a:prstGeom>
          </p:spPr>
        </p:pic>
        <p:sp>
          <p:nvSpPr>
            <p:cNvPr id="23" name="Text 16"/>
            <p:cNvSpPr txBox="1"/>
            <p:nvPr/>
          </p:nvSpPr>
          <p:spPr>
            <a:xfrm>
              <a:off x="5760720" y="5623560"/>
              <a:ext cx="28346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484E41"/>
                  </a:solidFill>
                </a:rPr>
                <a:t>Как напечатать на Windows:</a:t>
              </a:r>
              <a:endParaRPr lang="en-US" sz="1500" dirty="0"/>
            </a:p>
          </p:txBody>
        </p:sp>
        <p:sp>
          <p:nvSpPr>
            <p:cNvPr id="24" name="Клавиша Alt"/>
            <p:cNvSpPr/>
            <p:nvPr/>
          </p:nvSpPr>
          <p:spPr>
            <a:xfrm>
              <a:off x="8686800" y="5623560"/>
              <a:ext cx="777240" cy="50292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5" name="Text 18"/>
            <p:cNvSpPr txBox="1"/>
            <p:nvPr/>
          </p:nvSpPr>
          <p:spPr>
            <a:xfrm>
              <a:off x="8686800" y="5623560"/>
              <a:ext cx="7772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Alt</a:t>
              </a:r>
              <a:endParaRPr lang="en-US" sz="1700" dirty="0"/>
            </a:p>
          </p:txBody>
        </p:sp>
        <p:sp>
          <p:nvSpPr>
            <p:cNvPr id="26" name="Text 19"/>
            <p:cNvSpPr txBox="1"/>
            <p:nvPr/>
          </p:nvSpPr>
          <p:spPr>
            <a:xfrm>
              <a:off x="9509760" y="5623560"/>
              <a:ext cx="320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+</a:t>
              </a:r>
              <a:endParaRPr lang="en-US" sz="2000" dirty="0"/>
            </a:p>
          </p:txBody>
        </p:sp>
        <p:sp>
          <p:nvSpPr>
            <p:cNvPr id="27" name="Клавиша 0146"/>
            <p:cNvSpPr/>
            <p:nvPr/>
          </p:nvSpPr>
          <p:spPr>
            <a:xfrm>
              <a:off x="9875520" y="5623560"/>
              <a:ext cx="1097280" cy="50292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8" name="Text 21"/>
            <p:cNvSpPr txBox="1"/>
            <p:nvPr/>
          </p:nvSpPr>
          <p:spPr>
            <a:xfrm>
              <a:off x="9875520" y="5623560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700" b="1" dirty="0">
                  <a:solidFill>
                    <a:srgbClr val="484E41"/>
                  </a:solidFill>
                </a:rPr>
                <a:t>0146</a:t>
              </a:r>
              <a:endParaRPr lang="en-US" sz="17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b="1" dirty="0">
                <a:solidFill>
                  <a:srgbClr val="C9EDDA"/>
                </a:solidFill>
              </a:rPr>
              <a:t>03</a:t>
            </a:r>
            <a:endParaRPr lang="en-US" sz="20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4069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Команда i’way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EDDA"/>
                </a:solidFill>
              </a:rPr>
              <a:t>Люди, благодаря которым всё работает</a:t>
            </a:r>
            <a:endParaRPr lang="en-US" sz="2200" dirty="0"/>
          </a:p>
        </p:txBody>
      </p:sp>
      <p:sp>
        <p:nvSpPr>
          <p:cNvPr id="5" name="Круг"/>
          <p:cNvSpPr/>
          <p:nvPr/>
        </p:nvSpPr>
        <p:spPr>
          <a:xfrm>
            <a:off x="7863840" y="1554480"/>
            <a:ext cx="3291840" cy="3291840"/>
          </a:xfrm>
          <a:prstGeom prst="ellipse">
            <a:avLst/>
          </a:prstGeom>
          <a:solidFill>
            <a:srgbClr val="484E41"/>
          </a:solidFill>
          <a:ln w="25400">
            <a:solidFill>
              <a:srgbClr val="C9EDD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606040"/>
            <a:ext cx="1188720" cy="1188720"/>
          </a:xfrm>
          <a:prstGeom prst="rect">
            <a:avLst/>
          </a:prstGeom>
        </p:spPr>
      </p:pic>
      <p:pic>
        <p:nvPicPr>
          <p:cNvPr id="7" name="Логотип" descr="i’w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40080"/>
            <a:ext cx="1097280" cy="470916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оманда i’way"/>
          <p:cNvSpPr/>
          <p:nvPr/>
        </p:nvSpPr>
        <p:spPr>
          <a:xfrm>
            <a:off x="731520" y="685800"/>
            <a:ext cx="211683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6596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КОМАНДА I’WAY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Дирекция i’way</a:t>
            </a:r>
            <a:endParaRPr lang="en-US" sz="3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011680"/>
            <a:ext cx="10728655" cy="4206240"/>
            <a:chOff x="731520" y="2011680"/>
            <a:chExt cx="10728655" cy="4206240"/>
          </a:xfrm>
        </p:grpSpPr>
        <p:sp>
          <p:nvSpPr>
            <p:cNvPr id="6" name="Карточка Дмитрий Салихов"/>
            <p:cNvSpPr/>
            <p:nvPr/>
          </p:nvSpPr>
          <p:spPr>
            <a:xfrm>
              <a:off x="731520" y="2011680"/>
              <a:ext cx="2560320" cy="420624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7" name="Дмитрий Салихов" descr="Дмитрий Салихов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8680" y="2148840"/>
              <a:ext cx="2286000" cy="2651760"/>
            </a:xfrm>
            <a:prstGeom prst="rect">
              <a:avLst/>
            </a:prstGeom>
          </p:spPr>
        </p:pic>
        <p:sp>
          <p:nvSpPr>
            <p:cNvPr id="8" name="Text 4"/>
            <p:cNvSpPr txBox="1"/>
            <p:nvPr/>
          </p:nvSpPr>
          <p:spPr>
            <a:xfrm>
              <a:off x="914400" y="49834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Дмитрий Салихов</a:t>
              </a:r>
              <a:endParaRPr lang="en-US" sz="1600" dirty="0"/>
            </a:p>
          </p:txBody>
        </p:sp>
        <p:sp>
          <p:nvSpPr>
            <p:cNvPr id="9" name="Text 5"/>
            <p:cNvSpPr txBox="1"/>
            <p:nvPr/>
          </p:nvSpPr>
          <p:spPr>
            <a:xfrm>
              <a:off x="914400" y="5394960"/>
              <a:ext cx="21945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CEO, основатель i’way</a:t>
              </a:r>
              <a:endParaRPr lang="en-US" sz="1400" dirty="0"/>
            </a:p>
          </p:txBody>
        </p:sp>
        <p:sp>
          <p:nvSpPr>
            <p:cNvPr id="10" name="Карточка Дмитрий Сарайкин"/>
            <p:cNvSpPr/>
            <p:nvPr/>
          </p:nvSpPr>
          <p:spPr>
            <a:xfrm>
              <a:off x="3454298" y="2011680"/>
              <a:ext cx="2560320" cy="420624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1" name="Дмитрий Сарайкин" descr="Дмитрий Сарайкин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1458" y="2148840"/>
              <a:ext cx="2286000" cy="2651760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3637178" y="49834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Дмитрий Сарайкин</a:t>
              </a:r>
              <a:endParaRPr lang="en-US" sz="16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3637178" y="5394960"/>
              <a:ext cx="21945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Сооснователь i’way</a:t>
              </a:r>
              <a:endParaRPr lang="en-US" sz="1400" dirty="0"/>
            </a:p>
          </p:txBody>
        </p:sp>
        <p:sp>
          <p:nvSpPr>
            <p:cNvPr id="14" name="Карточка Александр Шведов"/>
            <p:cNvSpPr/>
            <p:nvPr/>
          </p:nvSpPr>
          <p:spPr>
            <a:xfrm>
              <a:off x="6177077" y="2011680"/>
              <a:ext cx="2560320" cy="420624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5" name="Александр Шведов" descr="Александр Шведов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4237" y="2148840"/>
              <a:ext cx="2286000" cy="2651760"/>
            </a:xfrm>
            <a:prstGeom prst="rect">
              <a:avLst/>
            </a:prstGeom>
          </p:spPr>
        </p:pic>
        <p:sp>
          <p:nvSpPr>
            <p:cNvPr id="16" name="Text 10"/>
            <p:cNvSpPr txBox="1"/>
            <p:nvPr/>
          </p:nvSpPr>
          <p:spPr>
            <a:xfrm>
              <a:off x="6359957" y="49834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Александр Шведов</a:t>
              </a:r>
              <a:endParaRPr lang="en-US" sz="1600" dirty="0"/>
            </a:p>
          </p:txBody>
        </p:sp>
        <p:sp>
          <p:nvSpPr>
            <p:cNvPr id="17" name="Text 11"/>
            <p:cNvSpPr txBox="1"/>
            <p:nvPr/>
          </p:nvSpPr>
          <p:spPr>
            <a:xfrm>
              <a:off x="6359957" y="5394960"/>
              <a:ext cx="21945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CTO, исполнительный директор</a:t>
              </a:r>
              <a:endParaRPr lang="en-US" sz="1400" dirty="0"/>
            </a:p>
          </p:txBody>
        </p:sp>
        <p:sp>
          <p:nvSpPr>
            <p:cNvPr id="18" name="Карточка Джехад Абугсиса"/>
            <p:cNvSpPr/>
            <p:nvPr/>
          </p:nvSpPr>
          <p:spPr>
            <a:xfrm>
              <a:off x="8899855" y="2011680"/>
              <a:ext cx="2560320" cy="420624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9" name="Джехад Абугсиса" descr="Джехад Абугсиса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37015" y="2148840"/>
              <a:ext cx="2286000" cy="2651760"/>
            </a:xfrm>
            <a:prstGeom prst="rect">
              <a:avLst/>
            </a:prstGeom>
          </p:spPr>
        </p:pic>
        <p:sp>
          <p:nvSpPr>
            <p:cNvPr id="20" name="Text 13"/>
            <p:cNvSpPr txBox="1"/>
            <p:nvPr/>
          </p:nvSpPr>
          <p:spPr>
            <a:xfrm>
              <a:off x="9082735" y="49834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b="1" dirty="0">
                  <a:solidFill>
                    <a:srgbClr val="484E41"/>
                  </a:solidFill>
                </a:rPr>
                <a:t>Джехад Абугсиса</a:t>
              </a:r>
              <a:endParaRPr lang="en-US" sz="1600" dirty="0"/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9082735" y="5394960"/>
              <a:ext cx="21945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Директор по международному развитию</a:t>
              </a:r>
              <a:endParaRPr lang="en-US" sz="14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оманда i’way"/>
          <p:cNvSpPr/>
          <p:nvPr/>
        </p:nvSpPr>
        <p:spPr>
          <a:xfrm>
            <a:off x="731520" y="685800"/>
            <a:ext cx="211683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6596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КОМАНДА I’WAY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Мы — большая команда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55"/>
                </a:solidFill>
              </a:rPr>
              <a:t>Разные люди и города — одна команда i’way.</a:t>
            </a:r>
            <a:endParaRPr lang="en-US" sz="1600" dirty="0"/>
          </a:p>
        </p:txBody>
      </p:sp>
      <p:grpSp>
        <p:nvGrpSpPr>
          <p:cNvPr id="27" name="Основной блок"/>
          <p:cNvGrpSpPr/>
          <p:nvPr/>
        </p:nvGrpSpPr>
        <p:grpSpPr>
          <a:xfrm>
            <a:off x="731520" y="2743200"/>
            <a:ext cx="10728655" cy="3108960"/>
            <a:chOff x="731520" y="2743200"/>
            <a:chExt cx="10728655" cy="3108960"/>
          </a:xfrm>
        </p:grpSpPr>
        <p:sp>
          <p:nvSpPr>
            <p:cNvPr id="7" name="Плитка коллег в команде"/>
            <p:cNvSpPr/>
            <p:nvPr/>
          </p:nvSpPr>
          <p:spPr>
            <a:xfrm>
              <a:off x="731520" y="2743200"/>
              <a:ext cx="2560320" cy="310896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1051560" y="306324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1" descr="preencoded.png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2037" y="3223717"/>
              <a:ext cx="273406" cy="273406"/>
            </a:xfrm>
            <a:prstGeom prst="rect">
              <a:avLst/>
            </a:prstGeom>
          </p:spPr>
        </p:pic>
        <p:sp>
          <p:nvSpPr>
            <p:cNvPr id="10" name="Text 6"/>
            <p:cNvSpPr txBox="1"/>
            <p:nvPr/>
          </p:nvSpPr>
          <p:spPr>
            <a:xfrm>
              <a:off x="1051560" y="3886200"/>
              <a:ext cx="2103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5600" b="1" dirty="0">
                  <a:solidFill>
                    <a:srgbClr val="009634"/>
                  </a:solidFill>
                </a:rPr>
                <a:t>160+</a:t>
              </a:r>
              <a:endParaRPr lang="en-US" sz="5600" dirty="0"/>
            </a:p>
          </p:txBody>
        </p:sp>
        <p:sp>
          <p:nvSpPr>
            <p:cNvPr id="11" name="Text 7"/>
            <p:cNvSpPr txBox="1"/>
            <p:nvPr/>
          </p:nvSpPr>
          <p:spPr>
            <a:xfrm>
              <a:off x="1051560" y="502920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коллег в команде</a:t>
              </a:r>
              <a:endParaRPr lang="en-US" sz="1600" dirty="0"/>
            </a:p>
          </p:txBody>
        </p:sp>
        <p:sp>
          <p:nvSpPr>
            <p:cNvPr id="12" name="Плитка девушек"/>
            <p:cNvSpPr/>
            <p:nvPr/>
          </p:nvSpPr>
          <p:spPr>
            <a:xfrm>
              <a:off x="3454298" y="2743200"/>
              <a:ext cx="2560320" cy="310896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3" name="Иконка"/>
            <p:cNvSpPr/>
            <p:nvPr/>
          </p:nvSpPr>
          <p:spPr>
            <a:xfrm>
              <a:off x="3774338" y="306324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4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34816" y="3223717"/>
              <a:ext cx="273406" cy="273406"/>
            </a:xfrm>
            <a:prstGeom prst="rect">
              <a:avLst/>
            </a:prstGeom>
          </p:spPr>
        </p:pic>
        <p:sp>
          <p:nvSpPr>
            <p:cNvPr id="15" name="Text 10"/>
            <p:cNvSpPr txBox="1"/>
            <p:nvPr/>
          </p:nvSpPr>
          <p:spPr>
            <a:xfrm>
              <a:off x="3774338" y="3886200"/>
              <a:ext cx="2103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5600" b="1" dirty="0">
                  <a:solidFill>
                    <a:srgbClr val="009634"/>
                  </a:solidFill>
                </a:rPr>
                <a:t>100+</a:t>
              </a:r>
              <a:endParaRPr lang="en-US" sz="5600" dirty="0"/>
            </a:p>
          </p:txBody>
        </p:sp>
        <p:sp>
          <p:nvSpPr>
            <p:cNvPr id="16" name="Text 11"/>
            <p:cNvSpPr txBox="1"/>
            <p:nvPr/>
          </p:nvSpPr>
          <p:spPr>
            <a:xfrm>
              <a:off x="3774338" y="502920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девушек</a:t>
              </a:r>
              <a:endParaRPr lang="en-US" sz="1600" dirty="0"/>
            </a:p>
          </p:txBody>
        </p:sp>
        <p:sp>
          <p:nvSpPr>
            <p:cNvPr id="17" name="Плитка парней"/>
            <p:cNvSpPr/>
            <p:nvPr/>
          </p:nvSpPr>
          <p:spPr>
            <a:xfrm>
              <a:off x="6177077" y="2743200"/>
              <a:ext cx="2560320" cy="310896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8" name="Иконка"/>
            <p:cNvSpPr/>
            <p:nvPr/>
          </p:nvSpPr>
          <p:spPr>
            <a:xfrm>
              <a:off x="6497117" y="306324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19" name="Image 3" descr="preencoded.png">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7594" y="3223717"/>
              <a:ext cx="273406" cy="273406"/>
            </a:xfrm>
            <a:prstGeom prst="rect">
              <a:avLst/>
            </a:prstGeom>
          </p:spPr>
        </p:pic>
        <p:sp>
          <p:nvSpPr>
            <p:cNvPr id="20" name="Text 14"/>
            <p:cNvSpPr txBox="1"/>
            <p:nvPr/>
          </p:nvSpPr>
          <p:spPr>
            <a:xfrm>
              <a:off x="6497117" y="3886200"/>
              <a:ext cx="2103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5600" b="1" dirty="0">
                  <a:solidFill>
                    <a:srgbClr val="009634"/>
                  </a:solidFill>
                </a:rPr>
                <a:t>50+</a:t>
              </a:r>
              <a:endParaRPr lang="en-US" sz="5600" dirty="0"/>
            </a:p>
          </p:txBody>
        </p:sp>
        <p:sp>
          <p:nvSpPr>
            <p:cNvPr id="21" name="Text 15"/>
            <p:cNvSpPr txBox="1"/>
            <p:nvPr/>
          </p:nvSpPr>
          <p:spPr>
            <a:xfrm>
              <a:off x="6497117" y="502920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парней</a:t>
              </a:r>
              <a:endParaRPr lang="en-US" sz="1600" dirty="0"/>
            </a:p>
          </p:txBody>
        </p:sp>
        <p:sp>
          <p:nvSpPr>
            <p:cNvPr id="22" name="Плитка года — средний возраст"/>
            <p:cNvSpPr/>
            <p:nvPr/>
          </p:nvSpPr>
          <p:spPr>
            <a:xfrm>
              <a:off x="8899855" y="2743200"/>
              <a:ext cx="2560320" cy="310896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23" name="Иконка"/>
            <p:cNvSpPr/>
            <p:nvPr/>
          </p:nvSpPr>
          <p:spPr>
            <a:xfrm>
              <a:off x="9219895" y="306324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24" name="Image 4" descr="preencoded.png">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80372" y="3223717"/>
              <a:ext cx="273406" cy="273406"/>
            </a:xfrm>
            <a:prstGeom prst="rect">
              <a:avLst/>
            </a:prstGeom>
          </p:spPr>
        </p:pic>
        <p:sp>
          <p:nvSpPr>
            <p:cNvPr id="25" name="Text 18"/>
            <p:cNvSpPr txBox="1"/>
            <p:nvPr/>
          </p:nvSpPr>
          <p:spPr>
            <a:xfrm>
              <a:off x="9219895" y="3886200"/>
              <a:ext cx="2103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5600" b="1" dirty="0">
                  <a:solidFill>
                    <a:srgbClr val="009634"/>
                  </a:solidFill>
                </a:rPr>
                <a:t>32</a:t>
              </a:r>
              <a:endParaRPr lang="en-US" sz="5600" dirty="0"/>
            </a:p>
          </p:txBody>
        </p:sp>
        <p:sp>
          <p:nvSpPr>
            <p:cNvPr id="26" name="Text 19"/>
            <p:cNvSpPr txBox="1"/>
            <p:nvPr/>
          </p:nvSpPr>
          <p:spPr>
            <a:xfrm>
              <a:off x="9219895" y="5029200"/>
              <a:ext cx="2011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600" dirty="0">
                  <a:solidFill>
                    <a:srgbClr val="484E41"/>
                  </a:solidFill>
                </a:rPr>
                <a:t>года — средний возраст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Команда i’way"/>
          <p:cNvSpPr/>
          <p:nvPr/>
        </p:nvSpPr>
        <p:spPr>
          <a:xfrm>
            <a:off x="731520" y="685800"/>
            <a:ext cx="211683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6596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КОМАНДА I’WAY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Где нас можно встретить</a:t>
            </a:r>
            <a:endParaRPr lang="en-US" sz="3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103120"/>
            <a:ext cx="10725912" cy="4114800"/>
            <a:chOff x="731520" y="2103120"/>
            <a:chExt cx="10725912" cy="4114800"/>
          </a:xfrm>
        </p:grpSpPr>
        <p:pic>
          <p:nvPicPr>
            <p:cNvPr id="6" name="Карта" descr="Карта присутствия i’way">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" y="2103120"/>
              <a:ext cx="7498080" cy="4114800"/>
            </a:xfrm>
            <a:prstGeom prst="rect">
              <a:avLst/>
            </a:prstGeom>
          </p:spPr>
        </p:pic>
        <p:sp>
          <p:nvSpPr>
            <p:cNvPr id="7" name="Подпись"/>
            <p:cNvSpPr/>
            <p:nvPr/>
          </p:nvSpPr>
          <p:spPr>
            <a:xfrm>
              <a:off x="8503920" y="2103120"/>
              <a:ext cx="2953512" cy="4114800"/>
            </a:xfrm>
            <a:prstGeom prst="roundRect">
              <a:avLst>
                <a:gd name="adj" fmla="val 3715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Иконка"/>
            <p:cNvSpPr/>
            <p:nvPr/>
          </p:nvSpPr>
          <p:spPr>
            <a:xfrm>
              <a:off x="8823960" y="2423160"/>
              <a:ext cx="594360" cy="594360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pic>
          <p:nvPicPr>
            <p:cNvPr id="9" name="Image 2" descr="preencoded.png">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84437" y="2583637"/>
              <a:ext cx="273406" cy="273406"/>
            </a:xfrm>
            <a:prstGeom prst="rect">
              <a:avLst/>
            </a:prstGeom>
          </p:spPr>
        </p:pic>
        <p:sp>
          <p:nvSpPr>
            <p:cNvPr id="10" name="Text 5"/>
            <p:cNvSpPr txBox="1"/>
            <p:nvPr/>
          </p:nvSpPr>
          <p:spPr>
            <a:xfrm>
              <a:off x="8823960" y="3246120"/>
              <a:ext cx="233172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800" b="1" dirty="0">
                  <a:solidFill>
                    <a:srgbClr val="484E41"/>
                  </a:solidFill>
                </a:rPr>
                <a:t>Города России и страны, где работает i’way</a:t>
              </a:r>
              <a:endParaRPr lang="en-US" sz="1800" dirty="0"/>
            </a:p>
          </p:txBody>
        </p:sp>
        <p:sp>
          <p:nvSpPr>
            <p:cNvPr id="11" name="Text 6"/>
            <p:cNvSpPr txBox="1"/>
            <p:nvPr/>
          </p:nvSpPr>
          <p:spPr>
            <a:xfrm>
              <a:off x="8823960" y="4754880"/>
              <a:ext cx="233172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indent="0" marL="0">
                <a:buNone/>
              </a:pPr>
              <a:r>
                <a:rPr lang="en-US" sz="1400" dirty="0">
                  <a:solidFill>
                    <a:srgbClr val="5A6055"/>
                  </a:solidFill>
                </a:rPr>
                <a:t>Мы всё ближе к клиентам и партнёрам по всему миру</a:t>
              </a:r>
              <a:endParaRPr lang="en-US" sz="14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Мини-квиз · вопрос 1 из 3"/>
          <p:cNvSpPr/>
          <p:nvPr/>
        </p:nvSpPr>
        <p:spPr>
          <a:xfrm>
            <a:off x="731520" y="685800"/>
            <a:ext cx="3378708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2921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МИНИ-КВИЗ · ВОПРОС 1 ИЗ 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Какая главная задача отдела HR?</a:t>
            </a:r>
            <a:endParaRPr lang="en-US" sz="3600" dirty="0"/>
          </a:p>
        </p:txBody>
      </p:sp>
      <p:sp>
        <p:nvSpPr>
          <p:cNvPr id="6" name="Вариант A"/>
          <p:cNvSpPr/>
          <p:nvPr/>
        </p:nvSpPr>
        <p:spPr>
          <a:xfrm>
            <a:off x="731520" y="2560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7" name="Буква A"/>
          <p:cNvSpPr/>
          <p:nvPr/>
        </p:nvSpPr>
        <p:spPr>
          <a:xfrm>
            <a:off x="1097280" y="2880360"/>
            <a:ext cx="685800" cy="685800"/>
          </a:xfrm>
          <a:prstGeom prst="ellipse">
            <a:avLst/>
          </a:prstGeom>
          <a:solidFill>
            <a:srgbClr val="484E41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84E41"/>
                </a:solidFill>
              </a:rPr>
              <a:t>Укомплектованность штата</a:t>
            </a:r>
            <a:endParaRPr lang="en-US" sz="2200" dirty="0"/>
          </a:p>
        </p:txBody>
      </p:sp>
      <p:sp>
        <p:nvSpPr>
          <p:cNvPr id="10" name="Вариант B"/>
          <p:cNvSpPr/>
          <p:nvPr/>
        </p:nvSpPr>
        <p:spPr>
          <a:xfrm>
            <a:off x="6263640" y="2560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11" name="Буква B"/>
          <p:cNvSpPr/>
          <p:nvPr/>
        </p:nvSpPr>
        <p:spPr>
          <a:xfrm>
            <a:off x="6629400" y="2880360"/>
            <a:ext cx="685800" cy="685800"/>
          </a:xfrm>
          <a:prstGeom prst="ellipse">
            <a:avLst/>
          </a:prstGeom>
          <a:solidFill>
            <a:srgbClr val="484E41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84E41"/>
                </a:solidFill>
              </a:rPr>
              <a:t>Создать сильную команду для роста компании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Мини-квиз · вопрос 2 из 3"/>
          <p:cNvSpPr/>
          <p:nvPr/>
        </p:nvSpPr>
        <p:spPr>
          <a:xfrm>
            <a:off x="731520" y="685800"/>
            <a:ext cx="3378708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2921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МИНИ-КВИЗ · ВОПРОС 2 ИЗ 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Ценность «открытость» — это…</a:t>
            </a:r>
            <a:endParaRPr lang="en-US" sz="3600" dirty="0"/>
          </a:p>
        </p:txBody>
      </p:sp>
      <p:sp>
        <p:nvSpPr>
          <p:cNvPr id="6" name="Вариант A"/>
          <p:cNvSpPr/>
          <p:nvPr/>
        </p:nvSpPr>
        <p:spPr>
          <a:xfrm>
            <a:off x="731520" y="2560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7" name="Буква A"/>
          <p:cNvSpPr/>
          <p:nvPr/>
        </p:nvSpPr>
        <p:spPr>
          <a:xfrm>
            <a:off x="1097280" y="2880360"/>
            <a:ext cx="685800" cy="685800"/>
          </a:xfrm>
          <a:prstGeom prst="ellipse">
            <a:avLst/>
          </a:prstGeom>
          <a:solidFill>
            <a:srgbClr val="484E41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84E41"/>
                </a:solidFill>
              </a:rPr>
              <a:t>Готовность принимать новое и прислушиваться к потребностям клиентов</a:t>
            </a:r>
            <a:endParaRPr lang="en-US" sz="2200" dirty="0"/>
          </a:p>
        </p:txBody>
      </p:sp>
      <p:sp>
        <p:nvSpPr>
          <p:cNvPr id="10" name="Вариант B"/>
          <p:cNvSpPr/>
          <p:nvPr/>
        </p:nvSpPr>
        <p:spPr>
          <a:xfrm>
            <a:off x="6263640" y="2560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11" name="Буква B"/>
          <p:cNvSpPr/>
          <p:nvPr/>
        </p:nvSpPr>
        <p:spPr>
          <a:xfrm>
            <a:off x="6629400" y="2880360"/>
            <a:ext cx="685800" cy="685800"/>
          </a:xfrm>
          <a:prstGeom prst="ellipse">
            <a:avLst/>
          </a:prstGeom>
          <a:solidFill>
            <a:srgbClr val="484E41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84E41"/>
                </a:solidFill>
              </a:rPr>
              <a:t>Принцип «открытых дверей»: с идеей можно прийти к руководителю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Мини-квиз · вопрос 3 из 3"/>
          <p:cNvSpPr/>
          <p:nvPr/>
        </p:nvSpPr>
        <p:spPr>
          <a:xfrm>
            <a:off x="731520" y="685800"/>
            <a:ext cx="3378708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2921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МИНИ-КВИЗ · ВОПРОС 3 ИЗ 3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Кто в i’way главный?</a:t>
            </a:r>
            <a:endParaRPr lang="en-US" sz="3600" dirty="0"/>
          </a:p>
        </p:txBody>
      </p:sp>
      <p:sp>
        <p:nvSpPr>
          <p:cNvPr id="6" name="Вариант A"/>
          <p:cNvSpPr/>
          <p:nvPr/>
        </p:nvSpPr>
        <p:spPr>
          <a:xfrm>
            <a:off x="731520" y="2560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7" name="Буква A"/>
          <p:cNvSpPr/>
          <p:nvPr/>
        </p:nvSpPr>
        <p:spPr>
          <a:xfrm>
            <a:off x="1097280" y="2880360"/>
            <a:ext cx="685800" cy="685800"/>
          </a:xfrm>
          <a:prstGeom prst="ellipse">
            <a:avLst/>
          </a:prstGeom>
          <a:solidFill>
            <a:srgbClr val="484E41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84E41"/>
                </a:solidFill>
              </a:rPr>
              <a:t>Клиент</a:t>
            </a:r>
            <a:endParaRPr lang="en-US" sz="2200" dirty="0"/>
          </a:p>
        </p:txBody>
      </p:sp>
      <p:sp>
        <p:nvSpPr>
          <p:cNvPr id="10" name="Вариант B"/>
          <p:cNvSpPr/>
          <p:nvPr/>
        </p:nvSpPr>
        <p:spPr>
          <a:xfrm>
            <a:off x="6263640" y="2560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11" name="Буква B"/>
          <p:cNvSpPr/>
          <p:nvPr/>
        </p:nvSpPr>
        <p:spPr>
          <a:xfrm>
            <a:off x="6629400" y="2880360"/>
            <a:ext cx="685800" cy="685800"/>
          </a:xfrm>
          <a:prstGeom prst="ellipse">
            <a:avLst/>
          </a:prstGeom>
          <a:solidFill>
            <a:srgbClr val="484E41"/>
          </a:solidFill>
          <a:ln w="12700">
            <a:solidFill>
              <a:srgbClr val="484E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2880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8404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84E41"/>
                </a:solidFill>
              </a:rPr>
              <a:t>CEO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Мини-квиз · ответы"/>
          <p:cNvSpPr/>
          <p:nvPr/>
        </p:nvSpPr>
        <p:spPr>
          <a:xfrm>
            <a:off x="731520" y="685800"/>
            <a:ext cx="2642616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МИНИ-КВИЗ · ОТВЕТЫ</a:t>
            </a:r>
            <a:endParaRPr lang="en-US" sz="10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Проверяем себя</a:t>
            </a:r>
            <a:endParaRPr lang="en-US" sz="3600" dirty="0"/>
          </a:p>
        </p:txBody>
      </p:sp>
      <p:grpSp>
        <p:nvGrpSpPr>
          <p:cNvPr id="26" name="Основной блок"/>
          <p:cNvGrpSpPr/>
          <p:nvPr/>
        </p:nvGrpSpPr>
        <p:grpSpPr>
          <a:xfrm>
            <a:off x="731520" y="2377440"/>
            <a:ext cx="10728655" cy="3383280"/>
            <a:chOff x="731520" y="2377440"/>
            <a:chExt cx="10728655" cy="3383280"/>
          </a:xfrm>
        </p:grpSpPr>
        <p:sp>
          <p:nvSpPr>
            <p:cNvPr id="6" name="Ответ 1"/>
            <p:cNvSpPr/>
            <p:nvPr/>
          </p:nvSpPr>
          <p:spPr>
            <a:xfrm>
              <a:off x="731520" y="2377440"/>
              <a:ext cx="10728655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7" name="Номер 1"/>
            <p:cNvSpPr/>
            <p:nvPr/>
          </p:nvSpPr>
          <p:spPr>
            <a:xfrm>
              <a:off x="1005840" y="2578608"/>
              <a:ext cx="603504" cy="603504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8" name="Text 5"/>
            <p:cNvSpPr txBox="1"/>
            <p:nvPr/>
          </p:nvSpPr>
          <p:spPr>
            <a:xfrm>
              <a:off x="1005840" y="2578608"/>
              <a:ext cx="603504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1</a:t>
              </a:r>
              <a:endParaRPr lang="en-US" sz="2200" dirty="0"/>
            </a:p>
          </p:txBody>
        </p:sp>
        <p:sp>
          <p:nvSpPr>
            <p:cNvPr id="9" name="Text 6"/>
            <p:cNvSpPr txBox="1"/>
            <p:nvPr/>
          </p:nvSpPr>
          <p:spPr>
            <a:xfrm>
              <a:off x="2011680" y="2377440"/>
              <a:ext cx="30175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Главная задача HR</a:t>
              </a:r>
              <a:endParaRPr lang="en-US" sz="1500" dirty="0"/>
            </a:p>
          </p:txBody>
        </p:sp>
        <p:sp>
          <p:nvSpPr>
            <p:cNvPr id="10" name="Text 7"/>
            <p:cNvSpPr txBox="1"/>
            <p:nvPr/>
          </p:nvSpPr>
          <p:spPr>
            <a:xfrm>
              <a:off x="5120640" y="2377440"/>
              <a:ext cx="62179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Создать сильную команду для роста компании</a:t>
              </a:r>
              <a:endParaRPr lang="en-US" sz="2000" dirty="0"/>
            </a:p>
          </p:txBody>
        </p:sp>
        <p:sp>
          <p:nvSpPr>
            <p:cNvPr id="11" name="Ответ 2"/>
            <p:cNvSpPr/>
            <p:nvPr/>
          </p:nvSpPr>
          <p:spPr>
            <a:xfrm>
              <a:off x="731520" y="3566160"/>
              <a:ext cx="10728655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2" name="Номер 2"/>
            <p:cNvSpPr/>
            <p:nvPr/>
          </p:nvSpPr>
          <p:spPr>
            <a:xfrm>
              <a:off x="1005840" y="3767328"/>
              <a:ext cx="603504" cy="603504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3" name="Text 10"/>
            <p:cNvSpPr txBox="1"/>
            <p:nvPr/>
          </p:nvSpPr>
          <p:spPr>
            <a:xfrm>
              <a:off x="1005840" y="3767328"/>
              <a:ext cx="603504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  <a:endParaRPr lang="en-US" sz="2200" dirty="0"/>
            </a:p>
          </p:txBody>
        </p:sp>
        <p:sp>
          <p:nvSpPr>
            <p:cNvPr id="14" name="Text 11"/>
            <p:cNvSpPr txBox="1"/>
            <p:nvPr/>
          </p:nvSpPr>
          <p:spPr>
            <a:xfrm>
              <a:off x="2011680" y="3566160"/>
              <a:ext cx="30175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Открытость — это</a:t>
              </a:r>
              <a:endParaRPr lang="en-US" sz="1500" dirty="0"/>
            </a:p>
          </p:txBody>
        </p:sp>
        <p:sp>
          <p:nvSpPr>
            <p:cNvPr id="15" name="Text 12"/>
            <p:cNvSpPr txBox="1"/>
            <p:nvPr/>
          </p:nvSpPr>
          <p:spPr>
            <a:xfrm>
              <a:off x="5120640" y="3566160"/>
              <a:ext cx="62179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Готовность принимать новое и слышать клиентов</a:t>
              </a:r>
              <a:endParaRPr lang="en-US" sz="2000" dirty="0"/>
            </a:p>
          </p:txBody>
        </p:sp>
        <p:sp>
          <p:nvSpPr>
            <p:cNvPr id="16" name="Ответ 3"/>
            <p:cNvSpPr/>
            <p:nvPr/>
          </p:nvSpPr>
          <p:spPr>
            <a:xfrm>
              <a:off x="731520" y="4754880"/>
              <a:ext cx="10728655" cy="100584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7" name="Номер 3"/>
            <p:cNvSpPr/>
            <p:nvPr/>
          </p:nvSpPr>
          <p:spPr>
            <a:xfrm>
              <a:off x="1005840" y="4956048"/>
              <a:ext cx="603504" cy="603504"/>
            </a:xfrm>
            <a:prstGeom prst="ellipse">
              <a:avLst/>
            </a:prstGeom>
            <a:solidFill>
              <a:srgbClr val="484E41"/>
            </a:solidFill>
            <a:ln w="12700">
              <a:solidFill>
                <a:srgbClr val="484E41"/>
              </a:solidFill>
              <a:prstDash val="solid"/>
            </a:ln>
          </p:spPr>
        </p:sp>
        <p:sp>
          <p:nvSpPr>
            <p:cNvPr id="18" name="Text 15"/>
            <p:cNvSpPr txBox="1"/>
            <p:nvPr/>
          </p:nvSpPr>
          <p:spPr>
            <a:xfrm>
              <a:off x="1005840" y="4956048"/>
              <a:ext cx="603504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200" b="1" dirty="0">
                  <a:solidFill>
                    <a:srgbClr val="FFFFFF"/>
                  </a:solidFill>
                </a:rPr>
                <a:t>3</a:t>
              </a:r>
              <a:endParaRPr lang="en-US" sz="2200" dirty="0"/>
            </a:p>
          </p:txBody>
        </p:sp>
        <p:sp>
          <p:nvSpPr>
            <p:cNvPr id="19" name="Text 16"/>
            <p:cNvSpPr txBox="1"/>
            <p:nvPr/>
          </p:nvSpPr>
          <p:spPr>
            <a:xfrm>
              <a:off x="2011680" y="4754880"/>
              <a:ext cx="30175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1500" dirty="0">
                  <a:solidFill>
                    <a:srgbClr val="5A6055"/>
                  </a:solidFill>
                </a:rPr>
                <a:t>Главный в i’way</a:t>
              </a:r>
              <a:endParaRPr lang="en-US" sz="1500" dirty="0"/>
            </a:p>
          </p:txBody>
        </p:sp>
        <p:sp>
          <p:nvSpPr>
            <p:cNvPr id="20" name="Text 17"/>
            <p:cNvSpPr txBox="1"/>
            <p:nvPr/>
          </p:nvSpPr>
          <p:spPr>
            <a:xfrm>
              <a:off x="5120640" y="4754880"/>
              <a:ext cx="62179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indent="0" marL="0">
                <a:buNone/>
              </a:pPr>
              <a:r>
                <a:rPr lang="en-US" sz="2000" b="1" dirty="0">
                  <a:solidFill>
                    <a:srgbClr val="484E41"/>
                  </a:solidFill>
                </a:rPr>
                <a:t>Клиент</a:t>
              </a:r>
              <a:endParaRPr lang="en-US" sz="20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Логотип" descr="i’w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371600" cy="58864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Спасибо!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3832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Мы всегда на связи: пиши, звони или заходи — поможем и подскажем.</a:t>
            </a:r>
            <a:endParaRPr lang="en-US" sz="2200" dirty="0"/>
          </a:p>
        </p:txBody>
      </p:sp>
      <p:sp>
        <p:nvSpPr>
          <p:cNvPr id="5" name="Почта"/>
          <p:cNvSpPr/>
          <p:nvPr/>
        </p:nvSpPr>
        <p:spPr>
          <a:xfrm>
            <a:off x="731520" y="4846320"/>
            <a:ext cx="3291840" cy="731520"/>
          </a:xfrm>
          <a:prstGeom prst="roundRect">
            <a:avLst>
              <a:gd name="adj" fmla="val 15000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4E41"/>
                </a:solidFill>
              </a:rPr>
              <a:t>hr@iway.ru</a:t>
            </a:r>
            <a:endParaRPr lang="en-US" sz="2400" dirty="0"/>
          </a:p>
        </p:txBody>
      </p:sp>
      <p:pic>
        <p:nvPicPr>
          <p:cNvPr id="7" name="Портрет 1" descr="Сотрудник H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822960"/>
            <a:ext cx="2103120" cy="2103120"/>
          </a:xfrm>
          <a:prstGeom prst="rect">
            <a:avLst/>
          </a:prstGeom>
        </p:spPr>
      </p:pic>
      <p:pic>
        <p:nvPicPr>
          <p:cNvPr id="8" name="Портрет 2" descr="Сотрудник H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2103120" cy="2103120"/>
          </a:xfrm>
          <a:prstGeom prst="rect">
            <a:avLst/>
          </a:prstGeom>
        </p:spPr>
      </p:pic>
      <p:pic>
        <p:nvPicPr>
          <p:cNvPr id="9" name="Портрет 3" descr="Сотрудник H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383280"/>
            <a:ext cx="2103120" cy="21031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Обратная связь"/>
          <p:cNvSpPr/>
          <p:nvPr/>
        </p:nvSpPr>
        <p:spPr>
          <a:xfrm>
            <a:off x="731520" y="685800"/>
            <a:ext cx="222199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ОБРАТНАЯ СВЯЗЬ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84E41"/>
                </a:solidFill>
              </a:rPr>
              <a:t>Поделись обратной связью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055"/>
                </a:solidFill>
              </a:rPr>
              <a:t>Нам важно твоё мнение — наведи камеру на QR-код</a:t>
            </a:r>
            <a:endParaRPr lang="en-US" sz="2000" dirty="0"/>
          </a:p>
        </p:txBody>
      </p:sp>
      <p:sp>
        <p:nvSpPr>
          <p:cNvPr id="7" name="Подложка QR"/>
          <p:cNvSpPr/>
          <p:nvPr/>
        </p:nvSpPr>
        <p:spPr>
          <a:xfrm>
            <a:off x="7315200" y="2103120"/>
            <a:ext cx="4142232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pic>
        <p:nvPicPr>
          <p:cNvPr id="8" name="QR-код" descr="QR-ко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377440"/>
            <a:ext cx="3593592" cy="3593592"/>
          </a:xfrm>
          <a:prstGeom prst="rect">
            <a:avLst/>
          </a:prstGeom>
        </p:spPr>
      </p:pic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г Обратная связь"/>
          <p:cNvSpPr/>
          <p:nvPr/>
        </p:nvSpPr>
        <p:spPr>
          <a:xfrm>
            <a:off x="731520" y="685800"/>
            <a:ext cx="2221992" cy="329184"/>
          </a:xfrm>
          <a:prstGeom prst="roundRect">
            <a:avLst>
              <a:gd name="adj" fmla="val 22222"/>
            </a:avLst>
          </a:prstGeom>
          <a:solidFill>
            <a:srgbClr val="C9EDDA"/>
          </a:solidFill>
          <a:ln w="12700">
            <a:solidFill>
              <a:srgbClr val="C9EDD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68096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6858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026"/>
                </a:solidFill>
              </a:rPr>
              <a:t>ОБРАТНАЯ СВЯЗЬ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2801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84E41"/>
                </a:solidFill>
              </a:rPr>
              <a:t>Оставь оценку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A6055"/>
                </a:solidFill>
              </a:rPr>
              <a:t>Это займёт меньше минуты — спасибо!</a:t>
            </a:r>
            <a:endParaRPr lang="en-US" sz="2000" dirty="0"/>
          </a:p>
        </p:txBody>
      </p:sp>
      <p:sp>
        <p:nvSpPr>
          <p:cNvPr id="7" name="Подложка QR"/>
          <p:cNvSpPr/>
          <p:nvPr/>
        </p:nvSpPr>
        <p:spPr>
          <a:xfrm>
            <a:off x="7315200" y="2103120"/>
            <a:ext cx="4142232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484E41"/>
            </a:solidFill>
            <a:prstDash val="solid"/>
          </a:ln>
        </p:spPr>
      </p:sp>
      <p:pic>
        <p:nvPicPr>
          <p:cNvPr id="8" name="QR-код" descr="QR-ко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377440"/>
            <a:ext cx="3593592" cy="3593592"/>
          </a:xfrm>
          <a:prstGeom prst="rect">
            <a:avLst/>
          </a:prstGeom>
        </p:spPr>
      </p:pic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731520" y="109728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iway HR">
  <a:themeElements>
    <a:clrScheme name="iway HR">
      <a:dk1>
        <a:srgbClr val="484E41"/>
      </a:dk1>
      <a:lt1>
        <a:srgbClr val="FFFFFF"/>
      </a:lt1>
      <a:dk2>
        <a:srgbClr val="5A6055"/>
      </a:dk2>
      <a:lt2>
        <a:srgbClr val="F3F5F1"/>
      </a:lt2>
      <a:accent1>
        <a:srgbClr val="009634"/>
      </a:accent1>
      <a:accent2>
        <a:srgbClr val="484E41"/>
      </a:accent2>
      <a:accent3>
        <a:srgbClr val="007026"/>
      </a:accent3>
      <a:accent4>
        <a:srgbClr val="C9EDDA"/>
      </a:accent4>
      <a:accent5>
        <a:srgbClr val="E4F1E8"/>
      </a:accent5>
      <a:accent6>
        <a:srgbClr val="626D5B"/>
      </a:accent6>
      <a:hlink>
        <a:srgbClr val="007026"/>
      </a:hlink>
      <a:folHlink>
        <a:srgbClr val="626D5B"/>
      </a:folHlink>
    </a:clrScheme>
    <a:fontScheme name="iway HR">
      <a:majorFont>
        <a:latin typeface="Fedra Sans Pro (Основной текст)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edra Sans Pro (Основной текст)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i’way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Отдел HR i’way — знакомство для новых сотрудников</dc:title>
  <dc:subject>PptxGenJS Presentation</dc:subject>
  <dc:creator>HR i’way</dc:creator>
  <cp:lastModifiedBy>HR i’way</cp:lastModifiedBy>
  <cp:revision>1</cp:revision>
  <dcterms:created xsi:type="dcterms:W3CDTF">2026-10-08T03:25:26Z</dcterms:created>
  <dcterms:modified xsi:type="dcterms:W3CDTF">2026-10-08T03:25:26Z</dcterms:modified>
</cp:coreProperties>
</file>