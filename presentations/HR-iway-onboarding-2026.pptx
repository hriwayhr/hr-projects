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Блок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сотрудника; дальше — подробнее про найм, адаптацию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Ширина полос условная.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Названия программ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Снаружи — как нас видят кандидаты, внутри — как мы живём.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и 600+ аэропортов — из внутренней презентации. Оценка 4,9, офисы в Казахстане, ОАЭ и Индии — по данным Felo-поиска (App Store, блог i’way, Forbes.kz).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Перед показом широкой аудитории проверьте конфиденциальность цифр.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(начало 2023, Алматы) — Forbes.kz, по данным Felo-поиска.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Бел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Мятный">
    <p:bg>
      <p:bgPr>
        <a:solidFill>
          <a:srgbClr val="E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елёный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Глубокий">
    <p:bg>
      <p:bgPr>
        <a:solidFill>
          <a:srgbClr val="007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5852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зки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ото слев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0" y="777240"/>
            <a:ext cx="5120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ьный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Левая колонка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2377440"/>
            <a:ext cx="4023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зелёный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023360"/>
            <a:ext cx="8229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глубокий">
    <p:bg>
      <p:bgPr>
        <a:solidFill>
          <a:srgbClr val="007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023360"/>
            <a:ext cx="8229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мятный">
    <p:bg>
      <p:bgPr>
        <a:solidFill>
          <a:srgbClr val="C9ED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023360"/>
            <a:ext cx="8229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315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R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621792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R глубокий">
    <p:bg>
      <p:bgPr>
        <a:solidFill>
          <a:srgbClr val="007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621792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Вопрос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Вопрос глубокий">
    <p:bg>
      <p:bgPr>
        <a:solidFill>
          <a:srgbClr val="007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3.png"/><Relationship Id="rId5" Type="http://schemas.openxmlformats.org/officeDocument/2006/relationships/image" Target="../media/image-15-3.png"/><Relationship Id="rId6" Type="http://schemas.openxmlformats.org/officeDocument/2006/relationships/image" Target="../media/image-15-2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0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6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 в форме апострофа" descr="Девушка на фоне город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91440"/>
            <a:ext cx="5486400" cy="6949440"/>
          </a:xfrm>
          <a:prstGeom prst="rect">
            <a:avLst/>
          </a:prstGeom>
        </p:spPr>
      </p:pic>
      <p:pic>
        <p:nvPicPr>
          <p:cNvPr id="3" name="Акцент" descr="img/comma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212080"/>
            <a:ext cx="1463040" cy="1850967"/>
          </a:xfrm>
          <a:prstGeom prst="rect">
            <a:avLst/>
          </a:prstGeom>
        </p:spPr>
      </p:pic>
      <p:pic>
        <p:nvPicPr>
          <p:cNvPr id="4" name="Логотип" descr="i’w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94360"/>
            <a:ext cx="1463040" cy="627888"/>
          </a:xfrm>
          <a:prstGeom prst="rect">
            <a:avLst/>
          </a:prstGeom>
        </p:spPr>
      </p:pic>
      <p:sp>
        <p:nvSpPr>
          <p:cNvPr id="5" name="Метка Знакомство с отделом HR"/>
          <p:cNvSpPr/>
          <p:nvPr/>
        </p:nvSpPr>
        <p:spPr>
          <a:xfrm>
            <a:off x="640080" y="1645920"/>
            <a:ext cx="3794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16459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ЗНАКОМСТВО С ОТДЕЛОМ HR</a:t>
            </a:r>
            <a:endParaRPr lang="en-US" sz="12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228600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Привет!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Мы — HR i’way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64008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Чем занимаемся, как живёт компания и почему здесь классно работать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5852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Руководитель HR-отдела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План встречи"/>
          <p:cNvSpPr/>
          <p:nvPr/>
        </p:nvSpPr>
        <p:spPr>
          <a:xfrm>
            <a:off x="640080" y="3200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ПЛАН ВСТРЕЧИ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Что нас ждёт</a:t>
            </a:r>
            <a:endParaRPr lang="en-US" sz="4000" dirty="0"/>
          </a:p>
        </p:txBody>
      </p:sp>
      <p:sp>
        <p:nvSpPr>
          <p:cNvPr id="5" name="Блок 01"/>
          <p:cNvSpPr/>
          <p:nvPr/>
        </p:nvSpPr>
        <p:spPr>
          <a:xfrm>
            <a:off x="640080" y="1828800"/>
            <a:ext cx="3520440" cy="3657600"/>
          </a:xfrm>
          <a:prstGeom prst="roundRect">
            <a:avLst>
              <a:gd name="adj" fmla="val 9091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5740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</a:rPr>
              <a:t>01</a:t>
            </a:r>
            <a:endParaRPr lang="en-US" sz="8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033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Отдел HR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3434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Кто мы и как заботимся о тебе на каждом этапе</a:t>
            </a:r>
            <a:endParaRPr lang="en-US" sz="1600" dirty="0"/>
          </a:p>
        </p:txBody>
      </p:sp>
      <p:sp>
        <p:nvSpPr>
          <p:cNvPr id="9" name="Блок 02"/>
          <p:cNvSpPr/>
          <p:nvPr/>
        </p:nvSpPr>
        <p:spPr>
          <a:xfrm>
            <a:off x="4335628" y="2103120"/>
            <a:ext cx="3520440" cy="3657600"/>
          </a:xfrm>
          <a:prstGeom prst="roundRect">
            <a:avLst>
              <a:gd name="adj" fmla="val 9091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1388" y="233172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7026"/>
                </a:solidFill>
              </a:rPr>
              <a:t>02</a:t>
            </a:r>
            <a:endParaRPr lang="en-US" sz="8800" dirty="0"/>
          </a:p>
        </p:txBody>
      </p:sp>
      <p:sp>
        <p:nvSpPr>
          <p:cNvPr id="11" name="Text 9"/>
          <p:cNvSpPr txBox="1"/>
          <p:nvPr/>
        </p:nvSpPr>
        <p:spPr>
          <a:xfrm>
            <a:off x="4701388" y="39776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484E41"/>
                </a:solidFill>
              </a:rPr>
              <a:t>Культура i’way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01388" y="46177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Миссия, ценности и наши правила игры</a:t>
            </a:r>
            <a:endParaRPr lang="en-US" sz="1600" dirty="0"/>
          </a:p>
        </p:txBody>
      </p:sp>
      <p:sp>
        <p:nvSpPr>
          <p:cNvPr id="13" name="Блок 03"/>
          <p:cNvSpPr/>
          <p:nvPr/>
        </p:nvSpPr>
        <p:spPr>
          <a:xfrm>
            <a:off x="8031175" y="1828800"/>
            <a:ext cx="3520440" cy="3657600"/>
          </a:xfrm>
          <a:prstGeom prst="roundRect">
            <a:avLst>
              <a:gd name="adj" fmla="val 9091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96935" y="205740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C9EDDA"/>
                </a:solidFill>
              </a:rPr>
              <a:t>03</a:t>
            </a:r>
            <a:endParaRPr lang="en-US" sz="8800" dirty="0"/>
          </a:p>
        </p:txBody>
      </p:sp>
      <p:sp>
        <p:nvSpPr>
          <p:cNvPr id="15" name="Text 13"/>
          <p:cNvSpPr txBox="1"/>
          <p:nvPr/>
        </p:nvSpPr>
        <p:spPr>
          <a:xfrm>
            <a:off x="8396935" y="37033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Команда i’way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96935" y="43434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Руководство, коллеги и цифры, которыми мы гордимся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7026"/>
                </a:solidFill>
              </a:rPr>
              <a:t>В конце — мини-квиз: проверим, что запомнилось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-1463040"/>
            <a:ext cx="6583680" cy="83293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4008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b="1" dirty="0">
                <a:solidFill>
                  <a:srgbClr val="C9EDDA"/>
                </a:solidFill>
              </a:rPr>
              <a:t>01</a:t>
            </a:r>
            <a:endParaRPr lang="en-US" sz="2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Отдел HR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166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Кто мы и чем занимаемся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2194560"/>
            <a:ext cx="4937760" cy="6247015"/>
          </a:xfrm>
          <a:prstGeom prst="rect">
            <a:avLst/>
          </a:prstGeom>
        </p:spPr>
      </p:pic>
      <p:sp>
        <p:nvSpPr>
          <p:cNvPr id="3" name="Метка Отдел HR"/>
          <p:cNvSpPr/>
          <p:nvPr/>
        </p:nvSpPr>
        <p:spPr>
          <a:xfrm>
            <a:off x="640080" y="3200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320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</a:t>
            </a:r>
            <a:endParaRPr lang="en-US" sz="12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Главная задача отдела HR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92024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484E41"/>
                </a:solidFill>
              </a:rPr>
              <a:t>Создать такую экосистему внутри компании, где таланты могут </a:t>
            </a:r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009634"/>
                </a:solidFill>
              </a:rPr>
              <a:t>раскрываться</a:t>
            </a:r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484E41"/>
                </a:solidFill>
              </a:rPr>
              <a:t>, а бизнес — </a:t>
            </a:r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009634"/>
                </a:solidFill>
              </a:rPr>
              <a:t>расти</a:t>
            </a:r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484E41"/>
                </a:solidFill>
              </a:rPr>
              <a:t> благодаря слаженной и эффективной работе всей команды.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Отдел HR"/>
          <p:cNvSpPr/>
          <p:nvPr/>
        </p:nvSpPr>
        <p:spPr>
          <a:xfrm>
            <a:off x="640080" y="3200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Знакомьтесь: команда HR</a:t>
            </a:r>
            <a:endParaRPr lang="en-US" sz="4000" dirty="0"/>
          </a:p>
        </p:txBody>
      </p:sp>
      <p:pic>
        <p:nvPicPr>
          <p:cNvPr id="5" name="Юлия Немчинова" descr="Юлия Немчинов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2743200" cy="3466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486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Юлия Немчинова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8704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7026"/>
                </a:solidFill>
              </a:rPr>
              <a:t>Руководитель отдела HR</a:t>
            </a:r>
            <a:endParaRPr lang="en-US" sz="1500" dirty="0"/>
          </a:p>
        </p:txBody>
      </p:sp>
      <p:pic>
        <p:nvPicPr>
          <p:cNvPr id="8" name="Анна Шулятицкая" descr="Анна Шулятицка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248" y="1645920"/>
            <a:ext cx="2743200" cy="346640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24248" y="5166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Анна Шулятицкая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724248" y="5550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7026"/>
                </a:solidFill>
              </a:rPr>
              <a:t>Ведущий HR-специалист</a:t>
            </a:r>
            <a:endParaRPr lang="en-US" sz="1500" dirty="0"/>
          </a:p>
        </p:txBody>
      </p:sp>
      <p:pic>
        <p:nvPicPr>
          <p:cNvPr id="11" name="Елена Таратынова" descr="Елена Таратынов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1965960"/>
            <a:ext cx="2743200" cy="346640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808415" y="5486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Елена Таратынова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8808415" y="58704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7026"/>
                </a:solidFill>
              </a:rPr>
              <a:t>Офис-менеджер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Отдел HR · EJM"/>
          <p:cNvSpPr/>
          <p:nvPr/>
        </p:nvSpPr>
        <p:spPr>
          <a:xfrm>
            <a:off x="640080" y="32004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 · EJM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Мы рядом на всём твоём пути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Employee Journey Map — карта пути сотрудника: на каждом этапе у нас есть, чем помочь</a:t>
            </a:r>
            <a:endParaRPr lang="en-US" sz="1600" dirty="0"/>
          </a:p>
        </p:txBody>
      </p:sp>
      <p:sp>
        <p:nvSpPr>
          <p:cNvPr id="6" name="Путь 0"/>
          <p:cNvSpPr/>
          <p:nvPr/>
        </p:nvSpPr>
        <p:spPr>
          <a:xfrm>
            <a:off x="1316736" y="281110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" name="Путь 1"/>
          <p:cNvSpPr/>
          <p:nvPr/>
        </p:nvSpPr>
        <p:spPr>
          <a:xfrm>
            <a:off x="1451715" y="285277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8" name="Путь 2"/>
          <p:cNvSpPr/>
          <p:nvPr/>
        </p:nvSpPr>
        <p:spPr>
          <a:xfrm>
            <a:off x="1586693" y="289640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9" name="Путь 3"/>
          <p:cNvSpPr/>
          <p:nvPr/>
        </p:nvSpPr>
        <p:spPr>
          <a:xfrm>
            <a:off x="1721672" y="2941439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0" name="Путь 4"/>
          <p:cNvSpPr/>
          <p:nvPr/>
        </p:nvSpPr>
        <p:spPr>
          <a:xfrm>
            <a:off x="1856650" y="2987317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1" name="Путь 5"/>
          <p:cNvSpPr/>
          <p:nvPr/>
        </p:nvSpPr>
        <p:spPr>
          <a:xfrm>
            <a:off x="1991629" y="303346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2" name="Путь 6"/>
          <p:cNvSpPr/>
          <p:nvPr/>
        </p:nvSpPr>
        <p:spPr>
          <a:xfrm>
            <a:off x="2126607" y="307928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3" name="Путь 7"/>
          <p:cNvSpPr/>
          <p:nvPr/>
        </p:nvSpPr>
        <p:spPr>
          <a:xfrm>
            <a:off x="2261586" y="312422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4" name="Путь 8"/>
          <p:cNvSpPr/>
          <p:nvPr/>
        </p:nvSpPr>
        <p:spPr>
          <a:xfrm>
            <a:off x="2396564" y="3167703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5" name="Путь 9"/>
          <p:cNvSpPr/>
          <p:nvPr/>
        </p:nvSpPr>
        <p:spPr>
          <a:xfrm>
            <a:off x="2531543" y="320917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6" name="Путь 10"/>
          <p:cNvSpPr/>
          <p:nvPr/>
        </p:nvSpPr>
        <p:spPr>
          <a:xfrm>
            <a:off x="2666521" y="3248129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7" name="Путь 11"/>
          <p:cNvSpPr/>
          <p:nvPr/>
        </p:nvSpPr>
        <p:spPr>
          <a:xfrm>
            <a:off x="2801500" y="328406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8" name="Путь 12"/>
          <p:cNvSpPr/>
          <p:nvPr/>
        </p:nvSpPr>
        <p:spPr>
          <a:xfrm>
            <a:off x="2936478" y="331653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9" name="Путь 13"/>
          <p:cNvSpPr/>
          <p:nvPr/>
        </p:nvSpPr>
        <p:spPr>
          <a:xfrm>
            <a:off x="3071457" y="3345125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0" name="Путь 14"/>
          <p:cNvSpPr/>
          <p:nvPr/>
        </p:nvSpPr>
        <p:spPr>
          <a:xfrm>
            <a:off x="3206435" y="336948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1" name="Путь 15"/>
          <p:cNvSpPr/>
          <p:nvPr/>
        </p:nvSpPr>
        <p:spPr>
          <a:xfrm>
            <a:off x="3341414" y="338930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2" name="Путь 16"/>
          <p:cNvSpPr/>
          <p:nvPr/>
        </p:nvSpPr>
        <p:spPr>
          <a:xfrm>
            <a:off x="3476392" y="340432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3" name="Путь 17"/>
          <p:cNvSpPr/>
          <p:nvPr/>
        </p:nvSpPr>
        <p:spPr>
          <a:xfrm>
            <a:off x="3611371" y="3414375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4" name="Путь 18"/>
          <p:cNvSpPr/>
          <p:nvPr/>
        </p:nvSpPr>
        <p:spPr>
          <a:xfrm>
            <a:off x="3746349" y="3419317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5" name="Путь 19"/>
          <p:cNvSpPr/>
          <p:nvPr/>
        </p:nvSpPr>
        <p:spPr>
          <a:xfrm>
            <a:off x="3881328" y="341909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6" name="Путь 20"/>
          <p:cNvSpPr/>
          <p:nvPr/>
        </p:nvSpPr>
        <p:spPr>
          <a:xfrm>
            <a:off x="4016306" y="341370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7" name="Путь 21"/>
          <p:cNvSpPr/>
          <p:nvPr/>
        </p:nvSpPr>
        <p:spPr>
          <a:xfrm>
            <a:off x="4151285" y="340321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8" name="Путь 22"/>
          <p:cNvSpPr/>
          <p:nvPr/>
        </p:nvSpPr>
        <p:spPr>
          <a:xfrm>
            <a:off x="4286263" y="338775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29" name="Путь 23"/>
          <p:cNvSpPr/>
          <p:nvPr/>
        </p:nvSpPr>
        <p:spPr>
          <a:xfrm>
            <a:off x="4421242" y="336753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0" name="Путь 24"/>
          <p:cNvSpPr/>
          <p:nvPr/>
        </p:nvSpPr>
        <p:spPr>
          <a:xfrm>
            <a:off x="4556220" y="334279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1" name="Путь 25"/>
          <p:cNvSpPr/>
          <p:nvPr/>
        </p:nvSpPr>
        <p:spPr>
          <a:xfrm>
            <a:off x="4691199" y="3313846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2" name="Путь 26"/>
          <p:cNvSpPr/>
          <p:nvPr/>
        </p:nvSpPr>
        <p:spPr>
          <a:xfrm>
            <a:off x="4826177" y="328105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3" name="Путь 27"/>
          <p:cNvSpPr/>
          <p:nvPr/>
        </p:nvSpPr>
        <p:spPr>
          <a:xfrm>
            <a:off x="4961156" y="324484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4" name="Путь 28"/>
          <p:cNvSpPr/>
          <p:nvPr/>
        </p:nvSpPr>
        <p:spPr>
          <a:xfrm>
            <a:off x="5096134" y="320565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5" name="Путь 29"/>
          <p:cNvSpPr/>
          <p:nvPr/>
        </p:nvSpPr>
        <p:spPr>
          <a:xfrm>
            <a:off x="5231113" y="316397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6" name="Путь 30"/>
          <p:cNvSpPr/>
          <p:nvPr/>
        </p:nvSpPr>
        <p:spPr>
          <a:xfrm>
            <a:off x="5366091" y="312035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7" name="Путь 31"/>
          <p:cNvSpPr/>
          <p:nvPr/>
        </p:nvSpPr>
        <p:spPr>
          <a:xfrm>
            <a:off x="5501070" y="3075313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8" name="Путь 32"/>
          <p:cNvSpPr/>
          <p:nvPr/>
        </p:nvSpPr>
        <p:spPr>
          <a:xfrm>
            <a:off x="5636048" y="3029435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39" name="Путь 33"/>
          <p:cNvSpPr/>
          <p:nvPr/>
        </p:nvSpPr>
        <p:spPr>
          <a:xfrm>
            <a:off x="5771027" y="298329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0" name="Путь 34"/>
          <p:cNvSpPr/>
          <p:nvPr/>
        </p:nvSpPr>
        <p:spPr>
          <a:xfrm>
            <a:off x="5906005" y="293746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1" name="Путь 35"/>
          <p:cNvSpPr/>
          <p:nvPr/>
        </p:nvSpPr>
        <p:spPr>
          <a:xfrm>
            <a:off x="6040984" y="289252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2" name="Путь 36"/>
          <p:cNvSpPr/>
          <p:nvPr/>
        </p:nvSpPr>
        <p:spPr>
          <a:xfrm>
            <a:off x="6175962" y="2849049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3" name="Путь 37"/>
          <p:cNvSpPr/>
          <p:nvPr/>
        </p:nvSpPr>
        <p:spPr>
          <a:xfrm>
            <a:off x="6310941" y="280757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4" name="Путь 38"/>
          <p:cNvSpPr/>
          <p:nvPr/>
        </p:nvSpPr>
        <p:spPr>
          <a:xfrm>
            <a:off x="6445919" y="2768623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5" name="Путь 39"/>
          <p:cNvSpPr/>
          <p:nvPr/>
        </p:nvSpPr>
        <p:spPr>
          <a:xfrm>
            <a:off x="6580898" y="273268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6" name="Путь 40"/>
          <p:cNvSpPr/>
          <p:nvPr/>
        </p:nvSpPr>
        <p:spPr>
          <a:xfrm>
            <a:off x="6715876" y="270022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7" name="Путь 41"/>
          <p:cNvSpPr/>
          <p:nvPr/>
        </p:nvSpPr>
        <p:spPr>
          <a:xfrm>
            <a:off x="6850855" y="2671627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8" name="Путь 42"/>
          <p:cNvSpPr/>
          <p:nvPr/>
        </p:nvSpPr>
        <p:spPr>
          <a:xfrm>
            <a:off x="6985833" y="264726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49" name="Путь 43"/>
          <p:cNvSpPr/>
          <p:nvPr/>
        </p:nvSpPr>
        <p:spPr>
          <a:xfrm>
            <a:off x="7120812" y="262745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0" name="Путь 44"/>
          <p:cNvSpPr/>
          <p:nvPr/>
        </p:nvSpPr>
        <p:spPr>
          <a:xfrm>
            <a:off x="7255790" y="261242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1" name="Путь 45"/>
          <p:cNvSpPr/>
          <p:nvPr/>
        </p:nvSpPr>
        <p:spPr>
          <a:xfrm>
            <a:off x="7390769" y="2602377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2" name="Путь 46"/>
          <p:cNvSpPr/>
          <p:nvPr/>
        </p:nvSpPr>
        <p:spPr>
          <a:xfrm>
            <a:off x="7525747" y="2597435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3" name="Путь 47"/>
          <p:cNvSpPr/>
          <p:nvPr/>
        </p:nvSpPr>
        <p:spPr>
          <a:xfrm>
            <a:off x="7660726" y="259766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4" name="Путь 48"/>
          <p:cNvSpPr/>
          <p:nvPr/>
        </p:nvSpPr>
        <p:spPr>
          <a:xfrm>
            <a:off x="7795704" y="260305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5" name="Путь 49"/>
          <p:cNvSpPr/>
          <p:nvPr/>
        </p:nvSpPr>
        <p:spPr>
          <a:xfrm>
            <a:off x="7930683" y="261354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6" name="Путь 50"/>
          <p:cNvSpPr/>
          <p:nvPr/>
        </p:nvSpPr>
        <p:spPr>
          <a:xfrm>
            <a:off x="8065661" y="262899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7" name="Путь 51"/>
          <p:cNvSpPr/>
          <p:nvPr/>
        </p:nvSpPr>
        <p:spPr>
          <a:xfrm>
            <a:off x="8200640" y="264921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8" name="Путь 52"/>
          <p:cNvSpPr/>
          <p:nvPr/>
        </p:nvSpPr>
        <p:spPr>
          <a:xfrm>
            <a:off x="8335618" y="267396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59" name="Путь 53"/>
          <p:cNvSpPr/>
          <p:nvPr/>
        </p:nvSpPr>
        <p:spPr>
          <a:xfrm>
            <a:off x="8470597" y="2702906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0" name="Путь 54"/>
          <p:cNvSpPr/>
          <p:nvPr/>
        </p:nvSpPr>
        <p:spPr>
          <a:xfrm>
            <a:off x="8605575" y="273569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1" name="Путь 55"/>
          <p:cNvSpPr/>
          <p:nvPr/>
        </p:nvSpPr>
        <p:spPr>
          <a:xfrm>
            <a:off x="8740554" y="2771911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2" name="Путь 56"/>
          <p:cNvSpPr/>
          <p:nvPr/>
        </p:nvSpPr>
        <p:spPr>
          <a:xfrm>
            <a:off x="8875532" y="281110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3" name="Путь 57"/>
          <p:cNvSpPr/>
          <p:nvPr/>
        </p:nvSpPr>
        <p:spPr>
          <a:xfrm>
            <a:off x="9010511" y="285277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4" name="Путь 58"/>
          <p:cNvSpPr/>
          <p:nvPr/>
        </p:nvSpPr>
        <p:spPr>
          <a:xfrm>
            <a:off x="9145489" y="289640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5" name="Путь 59"/>
          <p:cNvSpPr/>
          <p:nvPr/>
        </p:nvSpPr>
        <p:spPr>
          <a:xfrm>
            <a:off x="9280468" y="2941439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6" name="Путь 60"/>
          <p:cNvSpPr/>
          <p:nvPr/>
        </p:nvSpPr>
        <p:spPr>
          <a:xfrm>
            <a:off x="9415446" y="2987317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7" name="Путь 61"/>
          <p:cNvSpPr/>
          <p:nvPr/>
        </p:nvSpPr>
        <p:spPr>
          <a:xfrm>
            <a:off x="9550425" y="3033460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8" name="Путь 62"/>
          <p:cNvSpPr/>
          <p:nvPr/>
        </p:nvSpPr>
        <p:spPr>
          <a:xfrm>
            <a:off x="9685403" y="307928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69" name="Путь 63"/>
          <p:cNvSpPr/>
          <p:nvPr/>
        </p:nvSpPr>
        <p:spPr>
          <a:xfrm>
            <a:off x="9820382" y="312422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0" name="Путь 64"/>
          <p:cNvSpPr/>
          <p:nvPr/>
        </p:nvSpPr>
        <p:spPr>
          <a:xfrm>
            <a:off x="9955360" y="3167703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1" name="Путь 65"/>
          <p:cNvSpPr/>
          <p:nvPr/>
        </p:nvSpPr>
        <p:spPr>
          <a:xfrm>
            <a:off x="10090339" y="3209178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2" name="Путь 66"/>
          <p:cNvSpPr/>
          <p:nvPr/>
        </p:nvSpPr>
        <p:spPr>
          <a:xfrm>
            <a:off x="10225317" y="3248129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3" name="Путь 67"/>
          <p:cNvSpPr/>
          <p:nvPr/>
        </p:nvSpPr>
        <p:spPr>
          <a:xfrm>
            <a:off x="10360296" y="328406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4" name="Путь 68"/>
          <p:cNvSpPr/>
          <p:nvPr/>
        </p:nvSpPr>
        <p:spPr>
          <a:xfrm>
            <a:off x="10495274" y="3316532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5" name="Путь 69"/>
          <p:cNvSpPr/>
          <p:nvPr/>
        </p:nvSpPr>
        <p:spPr>
          <a:xfrm>
            <a:off x="10630253" y="3345125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6" name="Путь 70"/>
          <p:cNvSpPr/>
          <p:nvPr/>
        </p:nvSpPr>
        <p:spPr>
          <a:xfrm>
            <a:off x="10765231" y="3369484"/>
            <a:ext cx="109728" cy="109728"/>
          </a:xfrm>
          <a:prstGeom prst="ellipse">
            <a:avLst/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77" name="Этап 1"/>
          <p:cNvSpPr/>
          <p:nvPr/>
        </p:nvSpPr>
        <p:spPr>
          <a:xfrm>
            <a:off x="804672" y="2299038"/>
            <a:ext cx="1133856" cy="1133856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78" name="Image 0" descr="Най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619078"/>
            <a:ext cx="493776" cy="493776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502920" y="4206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Найм</a:t>
            </a:r>
            <a:endParaRPr lang="en-US" sz="1700" dirty="0"/>
          </a:p>
        </p:txBody>
      </p:sp>
      <p:sp>
        <p:nvSpPr>
          <p:cNvPr id="80" name="Text 77"/>
          <p:cNvSpPr txBox="1"/>
          <p:nvPr/>
        </p:nvSpPr>
        <p:spPr>
          <a:xfrm>
            <a:off x="502920" y="4846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Знакомимся и зовём в команду</a:t>
            </a:r>
            <a:endParaRPr lang="en-US" sz="1400" dirty="0"/>
          </a:p>
        </p:txBody>
      </p:sp>
      <p:sp>
        <p:nvSpPr>
          <p:cNvPr id="81" name="Этап 2"/>
          <p:cNvSpPr/>
          <p:nvPr/>
        </p:nvSpPr>
        <p:spPr>
          <a:xfrm>
            <a:off x="2694371" y="2857420"/>
            <a:ext cx="1133856" cy="1133856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82" name="Image 1" descr="Адаптаци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11" y="3177460"/>
            <a:ext cx="493776" cy="493776"/>
          </a:xfrm>
          <a:prstGeom prst="rect">
            <a:avLst/>
          </a:prstGeom>
        </p:spPr>
      </p:pic>
      <p:sp>
        <p:nvSpPr>
          <p:cNvPr id="83" name="Text 79"/>
          <p:cNvSpPr txBox="1"/>
          <p:nvPr/>
        </p:nvSpPr>
        <p:spPr>
          <a:xfrm>
            <a:off x="2392619" y="4206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Адаптация</a:t>
            </a:r>
            <a:endParaRPr lang="en-US" sz="1700" dirty="0"/>
          </a:p>
        </p:txBody>
      </p:sp>
      <p:sp>
        <p:nvSpPr>
          <p:cNvPr id="84" name="Text 80"/>
          <p:cNvSpPr txBox="1"/>
          <p:nvPr/>
        </p:nvSpPr>
        <p:spPr>
          <a:xfrm>
            <a:off x="2392619" y="4846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Помогаем влиться и освоиться</a:t>
            </a:r>
            <a:endParaRPr lang="en-US" sz="1400" dirty="0"/>
          </a:p>
        </p:txBody>
      </p:sp>
      <p:sp>
        <p:nvSpPr>
          <p:cNvPr id="85" name="Этап 3"/>
          <p:cNvSpPr/>
          <p:nvPr/>
        </p:nvSpPr>
        <p:spPr>
          <a:xfrm>
            <a:off x="4584070" y="2693586"/>
            <a:ext cx="1133856" cy="1133856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86" name="Image 2" descr="Вовлечённост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110" y="3013626"/>
            <a:ext cx="493776" cy="493776"/>
          </a:xfrm>
          <a:prstGeom prst="rect">
            <a:avLst/>
          </a:prstGeom>
        </p:spPr>
      </p:pic>
      <p:sp>
        <p:nvSpPr>
          <p:cNvPr id="87" name="Text 82"/>
          <p:cNvSpPr txBox="1"/>
          <p:nvPr/>
        </p:nvSpPr>
        <p:spPr>
          <a:xfrm>
            <a:off x="4282318" y="4206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Вовлечённость</a:t>
            </a:r>
            <a:endParaRPr lang="en-US" sz="1700" dirty="0"/>
          </a:p>
        </p:txBody>
      </p:sp>
      <p:sp>
        <p:nvSpPr>
          <p:cNvPr id="88" name="Text 83"/>
          <p:cNvSpPr txBox="1"/>
          <p:nvPr/>
        </p:nvSpPr>
        <p:spPr>
          <a:xfrm>
            <a:off x="4282318" y="4846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Чтобы было интересно и тепло</a:t>
            </a:r>
            <a:endParaRPr lang="en-US" sz="1400" dirty="0"/>
          </a:p>
        </p:txBody>
      </p:sp>
      <p:sp>
        <p:nvSpPr>
          <p:cNvPr id="89" name="Этап 4"/>
          <p:cNvSpPr/>
          <p:nvPr/>
        </p:nvSpPr>
        <p:spPr>
          <a:xfrm>
            <a:off x="6473769" y="2135204"/>
            <a:ext cx="1133856" cy="1133856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90" name="Image 3" descr="Обуч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809" y="2455244"/>
            <a:ext cx="493776" cy="493776"/>
          </a:xfrm>
          <a:prstGeom prst="rect">
            <a:avLst/>
          </a:prstGeom>
        </p:spPr>
      </p:pic>
      <p:sp>
        <p:nvSpPr>
          <p:cNvPr id="91" name="Text 85"/>
          <p:cNvSpPr txBox="1"/>
          <p:nvPr/>
        </p:nvSpPr>
        <p:spPr>
          <a:xfrm>
            <a:off x="6172017" y="4206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Обучение</a:t>
            </a:r>
            <a:endParaRPr lang="en-US" sz="1700" dirty="0"/>
          </a:p>
        </p:txBody>
      </p:sp>
      <p:sp>
        <p:nvSpPr>
          <p:cNvPr id="92" name="Text 86"/>
          <p:cNvSpPr txBox="1"/>
          <p:nvPr/>
        </p:nvSpPr>
        <p:spPr>
          <a:xfrm>
            <a:off x="6172017" y="4846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Делимся знаниями и навыками</a:t>
            </a:r>
            <a:endParaRPr lang="en-US" sz="1400" dirty="0"/>
          </a:p>
        </p:txBody>
      </p:sp>
      <p:sp>
        <p:nvSpPr>
          <p:cNvPr id="93" name="Этап 5"/>
          <p:cNvSpPr/>
          <p:nvPr/>
        </p:nvSpPr>
        <p:spPr>
          <a:xfrm>
            <a:off x="8363468" y="2299038"/>
            <a:ext cx="1133856" cy="1133856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94" name="Image 4" descr="Рост и развит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3508" y="2619078"/>
            <a:ext cx="493776" cy="493776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8061716" y="4206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Рост и развитие</a:t>
            </a:r>
            <a:endParaRPr lang="en-US" sz="1700" dirty="0"/>
          </a:p>
        </p:txBody>
      </p:sp>
      <p:sp>
        <p:nvSpPr>
          <p:cNvPr id="96" name="Text 89"/>
          <p:cNvSpPr txBox="1"/>
          <p:nvPr/>
        </p:nvSpPr>
        <p:spPr>
          <a:xfrm>
            <a:off x="8061716" y="4846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Двигаемся вперёд вместе</a:t>
            </a:r>
            <a:endParaRPr lang="en-US" sz="1400" dirty="0"/>
          </a:p>
        </p:txBody>
      </p:sp>
      <p:sp>
        <p:nvSpPr>
          <p:cNvPr id="97" name="Этап 6"/>
          <p:cNvSpPr/>
          <p:nvPr/>
        </p:nvSpPr>
        <p:spPr>
          <a:xfrm>
            <a:off x="10253167" y="2857420"/>
            <a:ext cx="1133856" cy="1133856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98" name="Image 5" descr="HR-бренд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3207" y="3177460"/>
            <a:ext cx="493776" cy="493776"/>
          </a:xfrm>
          <a:prstGeom prst="rect">
            <a:avLst/>
          </a:prstGeom>
        </p:spPr>
      </p:pic>
      <p:sp>
        <p:nvSpPr>
          <p:cNvPr id="99" name="Text 91"/>
          <p:cNvSpPr txBox="1"/>
          <p:nvPr/>
        </p:nvSpPr>
        <p:spPr>
          <a:xfrm>
            <a:off x="9951415" y="4206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HR-бренд</a:t>
            </a:r>
            <a:endParaRPr lang="en-US" sz="1700" dirty="0"/>
          </a:p>
        </p:txBody>
      </p:sp>
      <p:sp>
        <p:nvSpPr>
          <p:cNvPr id="100" name="Text 92"/>
          <p:cNvSpPr txBox="1"/>
          <p:nvPr/>
        </p:nvSpPr>
        <p:spPr>
          <a:xfrm>
            <a:off x="9951415" y="4846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Рассказываем, какие мы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анель воронки"/>
          <p:cNvSpPr/>
          <p:nvPr/>
        </p:nvSpPr>
        <p:spPr>
          <a:xfrm>
            <a:off x="5989320" y="0"/>
            <a:ext cx="6202375" cy="6858000"/>
          </a:xfrm>
          <a:prstGeom prst="rect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3" name="Метка EJM · Найм"/>
          <p:cNvSpPr/>
          <p:nvPr/>
        </p:nvSpPr>
        <p:spPr>
          <a:xfrm>
            <a:off x="640080" y="3200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20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НАЙМ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009634"/>
                </a:solidFill>
              </a:rPr>
              <a:t>95</a:t>
            </a:r>
            <a:endParaRPr lang="en-US" sz="19000" dirty="0"/>
          </a:p>
        </p:txBody>
      </p:sp>
      <p:sp>
        <p:nvSpPr>
          <p:cNvPr id="6" name="Text 1"/>
          <p:cNvSpPr/>
          <p:nvPr>
            <p:ph idx="102" type="title" hasCustomPrompt="1"/>
          </p:nvPr>
        </p:nvSpPr>
        <p:spPr>
          <a:xfrm>
            <a:off x="640080" y="77724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434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новых коллег вышли на работу из 5 866 откликов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303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Примерно каждый 60-й отклик превращается в коллегу — и ты один из них</a:t>
            </a:r>
            <a:endParaRPr lang="en-US" sz="1500" dirty="0"/>
          </a:p>
        </p:txBody>
      </p:sp>
      <p:sp>
        <p:nvSpPr>
          <p:cNvPr id="9" name="Шаг Отклики"/>
          <p:cNvSpPr/>
          <p:nvPr/>
        </p:nvSpPr>
        <p:spPr>
          <a:xfrm>
            <a:off x="6309360" y="1097280"/>
            <a:ext cx="539496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09728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Отклики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0" y="109728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634"/>
                </a:solidFill>
              </a:rPr>
              <a:t>5 866</a:t>
            </a:r>
            <a:endParaRPr lang="en-US" sz="2000" dirty="0"/>
          </a:p>
        </p:txBody>
      </p:sp>
      <p:sp>
        <p:nvSpPr>
          <p:cNvPr id="12" name="Шаг Первый контакт"/>
          <p:cNvSpPr/>
          <p:nvPr/>
        </p:nvSpPr>
        <p:spPr>
          <a:xfrm>
            <a:off x="6583680" y="1901952"/>
            <a:ext cx="48463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0" y="190195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Первый контакт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0" y="190195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634"/>
                </a:solidFill>
              </a:rPr>
              <a:t>1 038</a:t>
            </a:r>
            <a:endParaRPr lang="en-US" sz="2000" dirty="0"/>
          </a:p>
        </p:txBody>
      </p:sp>
      <p:sp>
        <p:nvSpPr>
          <p:cNvPr id="15" name="Шаг Приглашение на собеседование"/>
          <p:cNvSpPr/>
          <p:nvPr/>
        </p:nvSpPr>
        <p:spPr>
          <a:xfrm>
            <a:off x="6858000" y="2706624"/>
            <a:ext cx="429768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27066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Приглашение на собеседование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0" y="270662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634"/>
                </a:solidFill>
              </a:rPr>
              <a:t>743</a:t>
            </a:r>
            <a:endParaRPr lang="en-US" sz="2000" dirty="0"/>
          </a:p>
        </p:txBody>
      </p:sp>
      <p:sp>
        <p:nvSpPr>
          <p:cNvPr id="18" name="Шаг Собеседование"/>
          <p:cNvSpPr/>
          <p:nvPr/>
        </p:nvSpPr>
        <p:spPr>
          <a:xfrm>
            <a:off x="7132320" y="3511296"/>
            <a:ext cx="374904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351129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Собеседование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0" y="351129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634"/>
                </a:solidFill>
              </a:rPr>
              <a:t>576</a:t>
            </a:r>
            <a:endParaRPr lang="en-US" sz="2000" dirty="0"/>
          </a:p>
        </p:txBody>
      </p:sp>
      <p:sp>
        <p:nvSpPr>
          <p:cNvPr id="21" name="Шаг Оффер"/>
          <p:cNvSpPr/>
          <p:nvPr/>
        </p:nvSpPr>
        <p:spPr>
          <a:xfrm>
            <a:off x="7406640" y="4315968"/>
            <a:ext cx="320040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431596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Оффер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431596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634"/>
                </a:solidFill>
              </a:rPr>
              <a:t>100</a:t>
            </a:r>
            <a:endParaRPr lang="en-US" sz="2000" dirty="0"/>
          </a:p>
        </p:txBody>
      </p:sp>
      <p:sp>
        <p:nvSpPr>
          <p:cNvPr id="24" name="Шаг Выход"/>
          <p:cNvSpPr/>
          <p:nvPr/>
        </p:nvSpPr>
        <p:spPr>
          <a:xfrm>
            <a:off x="7680960" y="5120640"/>
            <a:ext cx="2651760" cy="65836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0" y="512064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Выход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052560" y="512064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026"/>
                </a:solidFill>
              </a:rPr>
              <a:t>95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6172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*данные на 31.12.2025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 команды" descr="Команда за рабочим стол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pic>
        <p:nvPicPr>
          <p:cNvPr id="3" name="Акцент" descr="img/comma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4937760"/>
            <a:ext cx="1097280" cy="138822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2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0" y="777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0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01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7452360" y="24414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Welcome-встреча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52360" y="27889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Знакомимся и рассказываем, как у нас всё устроено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400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02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3447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Неделя адаптации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452360" y="37947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Просим короткую анкету: нам важно твоё мнение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44348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03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7452360" y="44531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Обучение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4800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«Игра по неподачам», «Системный руководитель», «Академия i’way»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0" y="5440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04</a:t>
            </a:r>
            <a:endParaRPr lang="en-US" sz="40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54589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Переходы внутри компании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452360" y="58064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Поддерживаем, если решишь сменить роль или команду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наружи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3" name="Внутри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HR-бренд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Снаружи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735928" y="182880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07026"/>
                </a:solidFill>
              </a:rPr>
              <a:t>Внутри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Карьерные сайты: hh.ru и LinkedIn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Наружная реклама: метро и экраны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Работа с университетами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Ответы на отзывы на площадках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735928" y="32004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84E41"/>
                </a:solidFill>
              </a:rPr>
              <a:t>Миссия и ценности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84E41"/>
                </a:solidFill>
              </a:rPr>
              <a:t>Внутренние коммуникации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84E41"/>
                </a:solidFill>
              </a:rPr>
              <a:t>Мотивация и бенефиты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84E41"/>
                </a:solidFill>
              </a:rPr>
              <a:t>EVP — уникальное ценностное предложение</a:t>
            </a:r>
            <a:endParaRPr lang="en-US" sz="1800" dirty="0"/>
          </a:p>
        </p:txBody>
      </p:sp>
      <p:sp>
        <p:nvSpPr>
          <p:cNvPr id="9" name="Метка EJM · HR-бренд"/>
          <p:cNvSpPr/>
          <p:nvPr/>
        </p:nvSpPr>
        <p:spPr>
          <a:xfrm>
            <a:off x="9174175" y="32004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74175" y="320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HR-БРЕНД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-1463040"/>
            <a:ext cx="6583680" cy="83293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4008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b="1" dirty="0">
                <a:solidFill>
                  <a:srgbClr val="C9EDDA"/>
                </a:solidFill>
              </a:rPr>
              <a:t>02</a:t>
            </a:r>
            <a:endParaRPr lang="en-US" sz="2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Культура i’way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166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Во что мы верим и как работаем вместе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377440"/>
            <a:ext cx="4937760" cy="6247015"/>
          </a:xfrm>
          <a:prstGeom prst="rect">
            <a:avLst/>
          </a:prstGeom>
        </p:spPr>
      </p:pic>
      <p:sp>
        <p:nvSpPr>
          <p:cNvPr id="3" name="Метка Культура i’way"/>
          <p:cNvSpPr/>
          <p:nvPr/>
        </p:nvSpPr>
        <p:spPr>
          <a:xfrm>
            <a:off x="640080" y="32004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320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009634"/>
                </a:solidFill>
              </a:rPr>
              <a:t>130+</a:t>
            </a:r>
            <a:endParaRPr lang="en-US" sz="19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стран, где мы возим людей</a:t>
            </a:r>
            <a:endParaRPr lang="en-US" sz="2400" dirty="0"/>
          </a:p>
        </p:txBody>
      </p:sp>
      <p:sp>
        <p:nvSpPr>
          <p:cNvPr id="8" name="Цифра поездок ежедневно"/>
          <p:cNvSpPr/>
          <p:nvPr/>
        </p:nvSpPr>
        <p:spPr>
          <a:xfrm>
            <a:off x="7223760" y="1737360"/>
            <a:ext cx="4297680" cy="1737360"/>
          </a:xfrm>
          <a:prstGeom prst="roundRect">
            <a:avLst>
              <a:gd name="adj" fmla="val 15789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43800" y="19202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2 500+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75438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поездок ежедневно</a:t>
            </a:r>
            <a:endParaRPr lang="en-US" sz="1800" dirty="0"/>
          </a:p>
        </p:txBody>
      </p:sp>
      <p:sp>
        <p:nvSpPr>
          <p:cNvPr id="11" name="Цифра аэропортов мира"/>
          <p:cNvSpPr/>
          <p:nvPr/>
        </p:nvSpPr>
        <p:spPr>
          <a:xfrm>
            <a:off x="7223760" y="3703320"/>
            <a:ext cx="4297680" cy="1737360"/>
          </a:xfrm>
          <a:prstGeom prst="roundRect">
            <a:avLst>
              <a:gd name="adj" fmla="val 15789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43800" y="38862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484E41"/>
                </a:solidFill>
              </a:rPr>
              <a:t>600+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7543800" y="4892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аэропортов мира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937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026"/>
                </a:solidFill>
              </a:rPr>
              <a:t>с 2009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440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на рынке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4937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026"/>
                </a:solidFill>
              </a:rPr>
              <a:t>4,9 из 5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5440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оценка поездок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4937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026"/>
                </a:solidFill>
              </a:rPr>
              <a:t>Офисы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0" y="5440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в Казахстане, ОАЭ, Индии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Дашборд" descr="Панель с онлайн-метрикам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5055" y="1463040"/>
            <a:ext cx="6766560" cy="3822192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Наш день в цифрах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Бронирования, выручка и оценки клиентов — всё на одном экране, в реальном времени.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Каждый из нас влияет на эти цифры.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снователи" descr="Основатели 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4015" y="914400"/>
            <a:ext cx="3931920" cy="4974336"/>
          </a:xfrm>
          <a:prstGeom prst="rect">
            <a:avLst/>
          </a:prstGeom>
        </p:spPr>
      </p:pic>
      <p:sp>
        <p:nvSpPr>
          <p:cNvPr id="3" name="Метка Культура i’way · История"/>
          <p:cNvSpPr/>
          <p:nvPr/>
        </p:nvSpPr>
        <p:spPr>
          <a:xfrm>
            <a:off x="640080" y="32004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3200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ИСТОРИЯ</a:t>
            </a:r>
            <a:endParaRPr lang="en-US" sz="12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Как всё начиналось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116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9634"/>
                </a:solidFill>
              </a:rPr>
              <a:t>2009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063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84E41"/>
                </a:solidFill>
              </a:rPr>
              <a:t>ООО «Сибирская трансферная компания»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20116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9634"/>
                </a:solidFill>
              </a:rPr>
              <a:t>2011</a:t>
            </a:r>
            <a:endParaRPr lang="en-US" sz="72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3063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84E41"/>
                </a:solidFill>
              </a:rPr>
              <a:t>iWay Express: двуязычный сайт с онлайн-бронированием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1605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9634"/>
                </a:solidFill>
              </a:rPr>
              <a:t>2013</a:t>
            </a:r>
            <a:endParaRPr lang="en-US" sz="7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12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84E41"/>
                </a:solidFill>
              </a:rPr>
              <a:t>Родился бренд i’way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41605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26"/>
                </a:solidFill>
              </a:rPr>
              <a:t>2023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5212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84E41"/>
                </a:solidFill>
              </a:rPr>
              <a:t>Открыли офис в Казахстане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45920"/>
            <a:ext cx="5486400" cy="6941127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Миссия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737360"/>
            <a:ext cx="8778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</a:r>
            <a:endParaRPr lang="en-US" sz="3800" dirty="0"/>
          </a:p>
        </p:txBody>
      </p:sp>
      <p:pic>
        <p:nvPicPr>
          <p:cNvPr id="5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943600"/>
            <a:ext cx="914400" cy="3924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Культура i’way · Бренд-код"/>
          <p:cNvSpPr/>
          <p:nvPr/>
        </p:nvSpPr>
        <p:spPr>
          <a:xfrm>
            <a:off x="640080" y="3200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БРЕНД-КОД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Наши ценности</a:t>
            </a:r>
            <a:endParaRPr lang="en-US" sz="4000" dirty="0"/>
          </a:p>
        </p:txBody>
      </p:sp>
      <p:pic>
        <p:nvPicPr>
          <p:cNvPr id="5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502920"/>
            <a:ext cx="1371600" cy="691970"/>
          </a:xfrm>
          <a:prstGeom prst="rect">
            <a:avLst/>
          </a:prstGeom>
        </p:spPr>
      </p:pic>
      <p:sp>
        <p:nvSpPr>
          <p:cNvPr id="6" name="Ценность Открытость"/>
          <p:cNvSpPr/>
          <p:nvPr/>
        </p:nvSpPr>
        <p:spPr>
          <a:xfrm>
            <a:off x="640080" y="1737360"/>
            <a:ext cx="3657600" cy="4297680"/>
          </a:xfrm>
          <a:prstGeom prst="roundRect">
            <a:avLst>
              <a:gd name="adj" fmla="val 7500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7" name="Апостроф" descr="img/comma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274320" cy="3470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14400" y="2560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Открытость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24612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Готовность принимать новое, прислушиваться к просьбам и проблемам клиентов; старание быть нужным.</a:t>
            </a:r>
            <a:endParaRPr lang="en-US" sz="1800" dirty="0"/>
          </a:p>
        </p:txBody>
      </p:sp>
      <p:sp>
        <p:nvSpPr>
          <p:cNvPr id="10" name="Ценность Честность"/>
          <p:cNvSpPr/>
          <p:nvPr/>
        </p:nvSpPr>
        <p:spPr>
          <a:xfrm>
            <a:off x="4480560" y="173736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1" name="Апостроф" descr="img/comma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011680"/>
            <a:ext cx="274320" cy="3470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54880" y="2423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Честность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28803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Соблюдение делового этикета и корпоративной политики; неприятие обмана и хитростей в корыстных целях.</a:t>
            </a:r>
            <a:endParaRPr lang="en-US" sz="1400" dirty="0"/>
          </a:p>
        </p:txBody>
      </p:sp>
      <p:sp>
        <p:nvSpPr>
          <p:cNvPr id="14" name="Ценность Лидерство"/>
          <p:cNvSpPr/>
          <p:nvPr/>
        </p:nvSpPr>
        <p:spPr>
          <a:xfrm>
            <a:off x="4480560" y="393192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Апостроф" descr="img/comma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4206240"/>
            <a:ext cx="274320" cy="3470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54880" y="4617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Лидерство</a:t>
            </a:r>
            <a:endParaRPr lang="en-US" sz="2200" dirty="0"/>
          </a:p>
        </p:txBody>
      </p:sp>
      <p:sp>
        <p:nvSpPr>
          <p:cNvPr id="17" name="Text 11"/>
          <p:cNvSpPr txBox="1"/>
          <p:nvPr/>
        </p:nvSpPr>
        <p:spPr>
          <a:xfrm>
            <a:off x="4754880" y="50749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Предоставление клиентам лучшего; ввод новых стандартов обслуживания.</a:t>
            </a:r>
            <a:endParaRPr lang="en-US" sz="1400" dirty="0"/>
          </a:p>
        </p:txBody>
      </p:sp>
      <p:sp>
        <p:nvSpPr>
          <p:cNvPr id="18" name="Ценность Технологичность"/>
          <p:cNvSpPr/>
          <p:nvPr/>
        </p:nvSpPr>
        <p:spPr>
          <a:xfrm>
            <a:off x="8229600" y="173736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pic>
        <p:nvPicPr>
          <p:cNvPr id="19" name="Апостроф" descr="img/comma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2011680"/>
            <a:ext cx="274320" cy="3470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503920" y="2423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Технологичность</a:t>
            </a:r>
            <a:endParaRPr lang="en-US" sz="2200" dirty="0"/>
          </a:p>
        </p:txBody>
      </p:sp>
      <p:sp>
        <p:nvSpPr>
          <p:cNvPr id="21" name="Text 14"/>
          <p:cNvSpPr txBox="1"/>
          <p:nvPr/>
        </p:nvSpPr>
        <p:spPr>
          <a:xfrm>
            <a:off x="8503920" y="28803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Внедрение современных решений.</a:t>
            </a:r>
            <a:endParaRPr lang="en-US" sz="1400" dirty="0"/>
          </a:p>
        </p:txBody>
      </p:sp>
      <p:sp>
        <p:nvSpPr>
          <p:cNvPr id="22" name="Ценность Человечность"/>
          <p:cNvSpPr/>
          <p:nvPr/>
        </p:nvSpPr>
        <p:spPr>
          <a:xfrm>
            <a:off x="8229600" y="393192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23" name="Апостроф" descr="img/comma_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4206240"/>
            <a:ext cx="274320" cy="34705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50392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9EDDA"/>
                </a:solidFill>
              </a:rPr>
              <a:t>Человечность</a:t>
            </a:r>
            <a:endParaRPr lang="en-US" sz="2200" dirty="0"/>
          </a:p>
        </p:txBody>
      </p:sp>
      <p:sp>
        <p:nvSpPr>
          <p:cNvPr id="25" name="Text 17"/>
          <p:cNvSpPr txBox="1"/>
          <p:nvPr/>
        </p:nvSpPr>
        <p:spPr>
          <a:xfrm>
            <a:off x="8503920" y="50749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Уважительное отношение; дружелюбие в общении.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14400"/>
            <a:ext cx="1097280" cy="1388225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237744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Как у нас принято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754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Пять правил, по которым мы живём и работаем</a:t>
            </a:r>
            <a:endParaRPr lang="en-US" sz="1800" dirty="0"/>
          </a:p>
        </p:txBody>
      </p:sp>
      <p:sp>
        <p:nvSpPr>
          <p:cNvPr id="5" name="Правило 1"/>
          <p:cNvSpPr/>
          <p:nvPr/>
        </p:nvSpPr>
        <p:spPr>
          <a:xfrm>
            <a:off x="5029200" y="502920"/>
            <a:ext cx="6492240" cy="1051560"/>
          </a:xfrm>
          <a:prstGeom prst="roundRect">
            <a:avLst>
              <a:gd name="adj" fmla="val 4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Круг 1"/>
          <p:cNvSpPr/>
          <p:nvPr/>
        </p:nvSpPr>
        <p:spPr>
          <a:xfrm>
            <a:off x="5120640" y="594360"/>
            <a:ext cx="868680" cy="86868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7" name="Image 1" descr="Дресс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8686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6583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Дресс-код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1051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Smart Casual: выглядим опрятно и остаёмся собой</a:t>
            </a:r>
            <a:endParaRPr lang="en-US" sz="1400" dirty="0"/>
          </a:p>
        </p:txBody>
      </p:sp>
      <p:sp>
        <p:nvSpPr>
          <p:cNvPr id="10" name="Правило 2"/>
          <p:cNvSpPr/>
          <p:nvPr/>
        </p:nvSpPr>
        <p:spPr>
          <a:xfrm>
            <a:off x="5029200" y="1691640"/>
            <a:ext cx="6492240" cy="1051560"/>
          </a:xfrm>
          <a:prstGeom prst="roundRect">
            <a:avLst>
              <a:gd name="adj" fmla="val 49565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1" name="Круг 2"/>
          <p:cNvSpPr/>
          <p:nvPr/>
        </p:nvSpPr>
        <p:spPr>
          <a:xfrm>
            <a:off x="5120640" y="178308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2" descr="Руководитель рядо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20574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18470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Руководитель рядом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2240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Он — первая точка входа для любого вопроса</a:t>
            </a:r>
            <a:endParaRPr lang="en-US" sz="1400" dirty="0"/>
          </a:p>
        </p:txBody>
      </p:sp>
      <p:sp>
        <p:nvSpPr>
          <p:cNvPr id="15" name="Правило 3"/>
          <p:cNvSpPr/>
          <p:nvPr/>
        </p:nvSpPr>
        <p:spPr>
          <a:xfrm>
            <a:off x="5029200" y="2880360"/>
            <a:ext cx="6492240" cy="1051560"/>
          </a:xfrm>
          <a:prstGeom prst="roundRect">
            <a:avLst>
              <a:gd name="adj" fmla="val 4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Круг 3"/>
          <p:cNvSpPr/>
          <p:nvPr/>
        </p:nvSpPr>
        <p:spPr>
          <a:xfrm>
            <a:off x="5120640" y="2971800"/>
            <a:ext cx="868680" cy="86868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7" name="Image 3" descr="Ответственность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2461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17920" y="30358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Ответственность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0" y="3429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Отвечаем за результат и держим слово</a:t>
            </a:r>
            <a:endParaRPr lang="en-US" sz="1400" dirty="0"/>
          </a:p>
        </p:txBody>
      </p:sp>
      <p:sp>
        <p:nvSpPr>
          <p:cNvPr id="20" name="Правило 4"/>
          <p:cNvSpPr/>
          <p:nvPr/>
        </p:nvSpPr>
        <p:spPr>
          <a:xfrm>
            <a:off x="5029200" y="4069080"/>
            <a:ext cx="6492240" cy="1051560"/>
          </a:xfrm>
          <a:prstGeom prst="roundRect">
            <a:avLst>
              <a:gd name="adj" fmla="val 49565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21" name="Круг 4"/>
          <p:cNvSpPr/>
          <p:nvPr/>
        </p:nvSpPr>
        <p:spPr>
          <a:xfrm>
            <a:off x="5120640" y="416052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4" descr="Идеи приветствуются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4434840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217920" y="42245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Идеи приветствуются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217920" y="4617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Предложил полезное — поможем воплотить</a:t>
            </a:r>
            <a:endParaRPr lang="en-US" sz="1400" dirty="0"/>
          </a:p>
        </p:txBody>
      </p:sp>
      <p:sp>
        <p:nvSpPr>
          <p:cNvPr id="25" name="Правило 5"/>
          <p:cNvSpPr/>
          <p:nvPr/>
        </p:nvSpPr>
        <p:spPr>
          <a:xfrm>
            <a:off x="5029200" y="5257800"/>
            <a:ext cx="6492240" cy="1051560"/>
          </a:xfrm>
          <a:prstGeom prst="roundRect">
            <a:avLst>
              <a:gd name="adj" fmla="val 4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Круг 5"/>
          <p:cNvSpPr/>
          <p:nvPr/>
        </p:nvSpPr>
        <p:spPr>
          <a:xfrm>
            <a:off x="5120640" y="5349240"/>
            <a:ext cx="868680" cy="86868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27" name="Image 5" descr="Неравнодушие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5623560"/>
            <a:ext cx="320040" cy="3200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217920" y="54132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Неравнодушие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6217920" y="5806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Нам не всё равно — к клиентам и друг к другу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Культура i’way · Маленькая деталь"/>
          <p:cNvSpPr/>
          <p:nvPr/>
        </p:nvSpPr>
        <p:spPr>
          <a:xfrm>
            <a:off x="640080" y="320040"/>
            <a:ext cx="516636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МАЛЕНЬКАЯ ДЕТАЛЬ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Наш апостроф — особенный</a:t>
            </a:r>
            <a:endParaRPr lang="en-US" sz="4000" dirty="0"/>
          </a:p>
        </p:txBody>
      </p:sp>
      <p:sp>
        <p:nvSpPr>
          <p:cNvPr id="5" name="Плитка логотипа"/>
          <p:cNvSpPr/>
          <p:nvPr/>
        </p:nvSpPr>
        <p:spPr>
          <a:xfrm>
            <a:off x="640080" y="1783080"/>
            <a:ext cx="4846320" cy="411480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2514600"/>
            <a:ext cx="3566160" cy="179912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i’way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2834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Правильно — с красивым апострофом</a:t>
            </a:r>
            <a:endParaRPr lang="en-US" sz="1500" dirty="0"/>
          </a:p>
        </p:txBody>
      </p:sp>
      <p:sp>
        <p:nvSpPr>
          <p:cNvPr id="9" name="Верно"/>
          <p:cNvSpPr/>
          <p:nvPr/>
        </p:nvSpPr>
        <p:spPr>
          <a:xfrm>
            <a:off x="10789920" y="2011680"/>
            <a:ext cx="548640" cy="54864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0" name="Image 1" descr="верн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368" y="21671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3246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AA396"/>
                </a:solidFill>
              </a:rPr>
              <a:t>i'way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3931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Не так — прямой апостроф</a:t>
            </a:r>
            <a:endParaRPr lang="en-US" sz="1500" dirty="0"/>
          </a:p>
        </p:txBody>
      </p:sp>
      <p:sp>
        <p:nvSpPr>
          <p:cNvPr id="13" name="Неверно"/>
          <p:cNvSpPr/>
          <p:nvPr/>
        </p:nvSpPr>
        <p:spPr>
          <a:xfrm>
            <a:off x="10789920" y="3337560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4" name="Image 2" descr="неверн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5368" y="349300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943600" y="42519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AA396"/>
                </a:solidFill>
              </a:rPr>
              <a:t>i`way</a:t>
            </a:r>
            <a:endParaRPr lang="en-US" sz="4000" dirty="0"/>
          </a:p>
        </p:txBody>
      </p:sp>
      <p:sp>
        <p:nvSpPr>
          <p:cNvPr id="16" name="Text 11"/>
          <p:cNvSpPr txBox="1"/>
          <p:nvPr/>
        </p:nvSpPr>
        <p:spPr>
          <a:xfrm>
            <a:off x="5943600" y="4937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И не так — обратный апостроф</a:t>
            </a:r>
            <a:endParaRPr lang="en-US" sz="1500" dirty="0"/>
          </a:p>
        </p:txBody>
      </p:sp>
      <p:sp>
        <p:nvSpPr>
          <p:cNvPr id="17" name="Неверно"/>
          <p:cNvSpPr/>
          <p:nvPr/>
        </p:nvSpPr>
        <p:spPr>
          <a:xfrm>
            <a:off x="10789920" y="4343400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8" name="Image 3" descr="неверн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5368" y="449884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943600" y="5486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Windows:</a:t>
            </a:r>
            <a:endParaRPr lang="en-US" sz="1600" dirty="0"/>
          </a:p>
        </p:txBody>
      </p:sp>
      <p:sp>
        <p:nvSpPr>
          <p:cNvPr id="20" name="Клавиша Alt"/>
          <p:cNvSpPr/>
          <p:nvPr/>
        </p:nvSpPr>
        <p:spPr>
          <a:xfrm>
            <a:off x="7315200" y="548640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15200" y="54864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26"/>
                </a:solidFill>
              </a:rPr>
              <a:t>Alt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75320" y="54864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+</a:t>
            </a:r>
            <a:endParaRPr lang="en-US" sz="2200" dirty="0"/>
          </a:p>
        </p:txBody>
      </p:sp>
      <p:sp>
        <p:nvSpPr>
          <p:cNvPr id="23" name="Клавиша 0146"/>
          <p:cNvSpPr/>
          <p:nvPr/>
        </p:nvSpPr>
        <p:spPr>
          <a:xfrm>
            <a:off x="8732520" y="5486400"/>
            <a:ext cx="12801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732520" y="5486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26"/>
                </a:solidFill>
              </a:rPr>
              <a:t>0146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-1463040"/>
            <a:ext cx="6583680" cy="83293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4008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b="1" dirty="0">
                <a:solidFill>
                  <a:srgbClr val="009634"/>
                </a:solidFill>
              </a:rPr>
              <a:t>03</a:t>
            </a:r>
            <a:endParaRPr lang="en-US" sz="2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Команда i’way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166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7026"/>
                </a:solidFill>
              </a:rPr>
              <a:t>Люди, благодаря которым всё работает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Команда i’way"/>
          <p:cNvSpPr/>
          <p:nvPr/>
        </p:nvSpPr>
        <p:spPr>
          <a:xfrm>
            <a:off x="640080" y="32004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Дирекция i’way</a:t>
            </a:r>
            <a:endParaRPr lang="en-US" sz="4000" dirty="0"/>
          </a:p>
        </p:txBody>
      </p:sp>
      <p:pic>
        <p:nvPicPr>
          <p:cNvPr id="5" name="Дмитрий Салихов" descr="Дмитрий Салих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83080"/>
            <a:ext cx="3047924" cy="3429000"/>
          </a:xfrm>
          <a:prstGeom prst="rect">
            <a:avLst/>
          </a:prstGeom>
        </p:spPr>
      </p:pic>
      <p:sp>
        <p:nvSpPr>
          <p:cNvPr id="6" name="Подпись Дмитрий Салихов"/>
          <p:cNvSpPr/>
          <p:nvPr/>
        </p:nvSpPr>
        <p:spPr>
          <a:xfrm>
            <a:off x="0" y="5212080"/>
            <a:ext cx="3047924" cy="1645920"/>
          </a:xfrm>
          <a:prstGeom prst="rect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" y="5394960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Дмитрий Салихов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5806440"/>
            <a:ext cx="25907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CEO, основатель i’way</a:t>
            </a:r>
            <a:endParaRPr lang="en-US" sz="1400" dirty="0"/>
          </a:p>
        </p:txBody>
      </p:sp>
      <p:pic>
        <p:nvPicPr>
          <p:cNvPr id="9" name="Дмитрий Сарайкин" descr="Дмитрий Сарайки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4" y="1783080"/>
            <a:ext cx="3047924" cy="3429000"/>
          </a:xfrm>
          <a:prstGeom prst="rect">
            <a:avLst/>
          </a:prstGeom>
        </p:spPr>
      </p:pic>
      <p:sp>
        <p:nvSpPr>
          <p:cNvPr id="10" name="Подпись Дмитрий Сарайкин"/>
          <p:cNvSpPr/>
          <p:nvPr/>
        </p:nvSpPr>
        <p:spPr>
          <a:xfrm>
            <a:off x="3047924" y="5212080"/>
            <a:ext cx="3047924" cy="1645920"/>
          </a:xfrm>
          <a:prstGeom prst="rect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22244" y="5394960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Дмитрий Сарайкин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322244" y="5806440"/>
            <a:ext cx="25907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Сооснователь i’way</a:t>
            </a:r>
            <a:endParaRPr lang="en-US" sz="1400" dirty="0"/>
          </a:p>
        </p:txBody>
      </p:sp>
      <p:pic>
        <p:nvPicPr>
          <p:cNvPr id="13" name="Александр Шведов" descr="Александр Шведов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8" y="1783080"/>
            <a:ext cx="3047924" cy="3429000"/>
          </a:xfrm>
          <a:prstGeom prst="rect">
            <a:avLst/>
          </a:prstGeom>
        </p:spPr>
      </p:pic>
      <p:sp>
        <p:nvSpPr>
          <p:cNvPr id="14" name="Подпись Александр Шведов"/>
          <p:cNvSpPr/>
          <p:nvPr/>
        </p:nvSpPr>
        <p:spPr>
          <a:xfrm>
            <a:off x="6095848" y="5212080"/>
            <a:ext cx="3047924" cy="1645920"/>
          </a:xfrm>
          <a:prstGeom prst="rect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0168" y="5394960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Александр Шведов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6370168" y="5806440"/>
            <a:ext cx="25907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CTO, исполнительный директор</a:t>
            </a:r>
            <a:endParaRPr lang="en-US" sz="1400" dirty="0"/>
          </a:p>
        </p:txBody>
      </p:sp>
      <p:pic>
        <p:nvPicPr>
          <p:cNvPr id="17" name="Джехад Абугсиса" descr="Джехад Абугсис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1" y="1783080"/>
            <a:ext cx="3047924" cy="3429000"/>
          </a:xfrm>
          <a:prstGeom prst="rect">
            <a:avLst/>
          </a:prstGeom>
        </p:spPr>
      </p:pic>
      <p:sp>
        <p:nvSpPr>
          <p:cNvPr id="18" name="Подпись Джехад Абугсиса"/>
          <p:cNvSpPr/>
          <p:nvPr/>
        </p:nvSpPr>
        <p:spPr>
          <a:xfrm>
            <a:off x="9143771" y="5212080"/>
            <a:ext cx="3047924" cy="1645920"/>
          </a:xfrm>
          <a:prstGeom prst="rect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418091" y="5394960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Джехад Абугсиса</a:t>
            </a:r>
            <a:endParaRPr lang="en-US" sz="2000" dirty="0"/>
          </a:p>
        </p:txBody>
      </p:sp>
      <p:sp>
        <p:nvSpPr>
          <p:cNvPr id="20" name="Text 14"/>
          <p:cNvSpPr txBox="1"/>
          <p:nvPr/>
        </p:nvSpPr>
        <p:spPr>
          <a:xfrm>
            <a:off x="9418091" y="5806440"/>
            <a:ext cx="25907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Директор по международному развитию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1371600"/>
            <a:ext cx="5943600" cy="7519555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Мы — команда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137160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FFFFFF"/>
                </a:solidFill>
              </a:rPr>
              <a:t>160+</a:t>
            </a:r>
            <a:endParaRPr lang="en-US" sz="19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434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9EDDA"/>
                </a:solidFill>
              </a:rPr>
              <a:t>коллег в команде i’way</a:t>
            </a:r>
            <a:endParaRPr lang="en-US" sz="2600" dirty="0"/>
          </a:p>
        </p:txBody>
      </p:sp>
      <p:sp>
        <p:nvSpPr>
          <p:cNvPr id="6" name="Плитка девушек"/>
          <p:cNvSpPr/>
          <p:nvPr/>
        </p:nvSpPr>
        <p:spPr>
          <a:xfrm>
            <a:off x="7315200" y="1783080"/>
            <a:ext cx="4206240" cy="1188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Круг 1"/>
          <p:cNvSpPr/>
          <p:nvPr/>
        </p:nvSpPr>
        <p:spPr>
          <a:xfrm>
            <a:off x="7452360" y="1920240"/>
            <a:ext cx="914400" cy="91440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8" name="Image 1" descr="девуше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21945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89280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100+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532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девушек</a:t>
            </a:r>
            <a:endParaRPr lang="en-US" sz="1400" dirty="0"/>
          </a:p>
        </p:txBody>
      </p:sp>
      <p:sp>
        <p:nvSpPr>
          <p:cNvPr id="11" name="Плитка парней"/>
          <p:cNvSpPr/>
          <p:nvPr/>
        </p:nvSpPr>
        <p:spPr>
          <a:xfrm>
            <a:off x="7315200" y="3154680"/>
            <a:ext cx="4206240" cy="1188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Круг 2"/>
          <p:cNvSpPr/>
          <p:nvPr/>
        </p:nvSpPr>
        <p:spPr>
          <a:xfrm>
            <a:off x="7452360" y="3291840"/>
            <a:ext cx="914400" cy="91440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3" name="Image 2" descr="парне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356616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49640" y="326440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50+</a:t>
            </a:r>
            <a:endParaRPr lang="en-US" sz="40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39044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парней</a:t>
            </a:r>
            <a:endParaRPr lang="en-US" sz="1400" dirty="0"/>
          </a:p>
        </p:txBody>
      </p:sp>
      <p:sp>
        <p:nvSpPr>
          <p:cNvPr id="16" name="Плитка года — средний возраст"/>
          <p:cNvSpPr/>
          <p:nvPr/>
        </p:nvSpPr>
        <p:spPr>
          <a:xfrm>
            <a:off x="7315200" y="4526280"/>
            <a:ext cx="4206240" cy="1188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Круг 3"/>
          <p:cNvSpPr/>
          <p:nvPr/>
        </p:nvSpPr>
        <p:spPr>
          <a:xfrm>
            <a:off x="7452360" y="4663440"/>
            <a:ext cx="914400" cy="91440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8" name="Image 3" descr="года — средний возраст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493776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49640" y="463600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32</a:t>
            </a:r>
            <a:endParaRPr lang="en-US" sz="4000" dirty="0"/>
          </a:p>
        </p:txBody>
      </p:sp>
      <p:sp>
        <p:nvSpPr>
          <p:cNvPr id="20" name="Text 14"/>
          <p:cNvSpPr txBox="1"/>
          <p:nvPr/>
        </p:nvSpPr>
        <p:spPr>
          <a:xfrm>
            <a:off x="854964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84E41"/>
                </a:solidFill>
              </a:rPr>
              <a:t>года — средний возраст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Где нас можно встретить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488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9EDDA"/>
                </a:solidFill>
              </a:rPr>
              <a:t>Города России и страны, где работает i’way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Мы всё ближе к клиентам и партнёрам по всему миру</a:t>
            </a:r>
            <a:endParaRPr lang="en-US" sz="1500" dirty="0"/>
          </a:p>
        </p:txBody>
      </p:sp>
      <p:pic>
        <p:nvPicPr>
          <p:cNvPr id="5" name="Карта" descr="Карта присутствия 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455" y="1600200"/>
            <a:ext cx="813816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Мини-квиз · вопрос 1 из 3"/>
          <p:cNvSpPr/>
          <p:nvPr/>
        </p:nvSpPr>
        <p:spPr>
          <a:xfrm>
            <a:off x="640080" y="320040"/>
            <a:ext cx="4069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1 ИЗ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Какая главная задача отдела HR в i’way?</a:t>
            </a:r>
            <a:endParaRPr lang="en-US" sz="4800" dirty="0"/>
          </a:p>
        </p:txBody>
      </p:sp>
      <p:sp>
        <p:nvSpPr>
          <p:cNvPr id="5" name="Вариант A"/>
          <p:cNvSpPr/>
          <p:nvPr/>
        </p:nvSpPr>
        <p:spPr>
          <a:xfrm>
            <a:off x="640080" y="3383280"/>
            <a:ext cx="5303520" cy="246888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Буква A"/>
          <p:cNvSpPr/>
          <p:nvPr/>
        </p:nvSpPr>
        <p:spPr>
          <a:xfrm>
            <a:off x="960120" y="3703320"/>
            <a:ext cx="777240" cy="77724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6118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84E41"/>
                </a:solidFill>
              </a:rPr>
              <a:t>Укомплектованность штата</a:t>
            </a:r>
            <a:endParaRPr lang="en-US" sz="2100" dirty="0"/>
          </a:p>
        </p:txBody>
      </p:sp>
      <p:sp>
        <p:nvSpPr>
          <p:cNvPr id="9" name="Вариант B"/>
          <p:cNvSpPr/>
          <p:nvPr/>
        </p:nvSpPr>
        <p:spPr>
          <a:xfrm>
            <a:off x="6217920" y="3383280"/>
            <a:ext cx="5303520" cy="246888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Буква B"/>
          <p:cNvSpPr/>
          <p:nvPr/>
        </p:nvSpPr>
        <p:spPr>
          <a:xfrm>
            <a:off x="6537960" y="3703320"/>
            <a:ext cx="777240" cy="77724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6118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Мини-квиз · вопрос 2 из 3"/>
          <p:cNvSpPr/>
          <p:nvPr/>
        </p:nvSpPr>
        <p:spPr>
          <a:xfrm>
            <a:off x="640080" y="320040"/>
            <a:ext cx="4069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2 ИЗ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Ценность «открытость» — это…</a:t>
            </a:r>
            <a:endParaRPr lang="en-US" sz="4800" dirty="0"/>
          </a:p>
        </p:txBody>
      </p:sp>
      <p:sp>
        <p:nvSpPr>
          <p:cNvPr id="5" name="Вариант A"/>
          <p:cNvSpPr/>
          <p:nvPr/>
        </p:nvSpPr>
        <p:spPr>
          <a:xfrm>
            <a:off x="640080" y="3383280"/>
            <a:ext cx="5303520" cy="246888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Буква A"/>
          <p:cNvSpPr/>
          <p:nvPr/>
        </p:nvSpPr>
        <p:spPr>
          <a:xfrm>
            <a:off x="960120" y="3703320"/>
            <a:ext cx="777240" cy="77724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6118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84E41"/>
                </a:solidFill>
              </a:rPr>
              <a:t>Готовность принимать новое и прислушиваться к потребностям клиентов</a:t>
            </a:r>
            <a:endParaRPr lang="en-US" sz="2100" dirty="0"/>
          </a:p>
        </p:txBody>
      </p:sp>
      <p:sp>
        <p:nvSpPr>
          <p:cNvPr id="9" name="Вариант B"/>
          <p:cNvSpPr/>
          <p:nvPr/>
        </p:nvSpPr>
        <p:spPr>
          <a:xfrm>
            <a:off x="6217920" y="3383280"/>
            <a:ext cx="5303520" cy="246888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Буква B"/>
          <p:cNvSpPr/>
          <p:nvPr/>
        </p:nvSpPr>
        <p:spPr>
          <a:xfrm>
            <a:off x="6537960" y="3703320"/>
            <a:ext cx="777240" cy="77724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6118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84E41"/>
                </a:solidFill>
              </a:rPr>
              <a:t>Принцип «открытых дверей»: с идеей можно прийти к руководителю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Мини-квиз · вопрос 3 из 3"/>
          <p:cNvSpPr/>
          <p:nvPr/>
        </p:nvSpPr>
        <p:spPr>
          <a:xfrm>
            <a:off x="640080" y="320040"/>
            <a:ext cx="4069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3 ИЗ 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Кто в i’way главный?</a:t>
            </a:r>
            <a:endParaRPr lang="en-US" sz="4800" dirty="0"/>
          </a:p>
        </p:txBody>
      </p:sp>
      <p:sp>
        <p:nvSpPr>
          <p:cNvPr id="5" name="Вариант A"/>
          <p:cNvSpPr/>
          <p:nvPr/>
        </p:nvSpPr>
        <p:spPr>
          <a:xfrm>
            <a:off x="640080" y="3383280"/>
            <a:ext cx="5303520" cy="246888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Буква A"/>
          <p:cNvSpPr/>
          <p:nvPr/>
        </p:nvSpPr>
        <p:spPr>
          <a:xfrm>
            <a:off x="960120" y="3703320"/>
            <a:ext cx="777240" cy="77724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6118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84E41"/>
                </a:solidFill>
              </a:rPr>
              <a:t>Клиент</a:t>
            </a:r>
            <a:endParaRPr lang="en-US" sz="2100" dirty="0"/>
          </a:p>
        </p:txBody>
      </p:sp>
      <p:sp>
        <p:nvSpPr>
          <p:cNvPr id="9" name="Вариант B"/>
          <p:cNvSpPr/>
          <p:nvPr/>
        </p:nvSpPr>
        <p:spPr>
          <a:xfrm>
            <a:off x="6217920" y="3383280"/>
            <a:ext cx="5303520" cy="246888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Буква B"/>
          <p:cNvSpPr/>
          <p:nvPr/>
        </p:nvSpPr>
        <p:spPr>
          <a:xfrm>
            <a:off x="6537960" y="3703320"/>
            <a:ext cx="777240" cy="77724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6118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84E41"/>
                </a:solidFill>
              </a:rPr>
              <a:t>CEO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етка Мини-квиз · ответы"/>
          <p:cNvSpPr/>
          <p:nvPr/>
        </p:nvSpPr>
        <p:spPr>
          <a:xfrm>
            <a:off x="64008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00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ОТВЕТЫ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Проверяем себя</a:t>
            </a:r>
            <a:endParaRPr lang="en-US" sz="4000" dirty="0"/>
          </a:p>
        </p:txBody>
      </p:sp>
      <p:sp>
        <p:nvSpPr>
          <p:cNvPr id="5" name="Ответ 1"/>
          <p:cNvSpPr/>
          <p:nvPr/>
        </p:nvSpPr>
        <p:spPr>
          <a:xfrm>
            <a:off x="640080" y="1828800"/>
            <a:ext cx="10881360" cy="1143000"/>
          </a:xfrm>
          <a:prstGeom prst="roundRect">
            <a:avLst>
              <a:gd name="adj" fmla="val 4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288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9634"/>
                </a:solidFill>
              </a:rPr>
              <a:t>1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82880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Главная задача HR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82880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9" name="Ответ 2"/>
          <p:cNvSpPr/>
          <p:nvPr/>
        </p:nvSpPr>
        <p:spPr>
          <a:xfrm>
            <a:off x="640080" y="3200400"/>
            <a:ext cx="10881360" cy="1143000"/>
          </a:xfrm>
          <a:prstGeom prst="roundRect">
            <a:avLst>
              <a:gd name="adj" fmla="val 496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2004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9634"/>
                </a:solidFill>
              </a:rPr>
              <a:t>2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20040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Открытость — это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20040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Готовность принимать новое и слышать клиентов</a:t>
            </a:r>
            <a:endParaRPr lang="en-US" sz="2200" dirty="0"/>
          </a:p>
        </p:txBody>
      </p:sp>
      <p:sp>
        <p:nvSpPr>
          <p:cNvPr id="13" name="Ответ 3"/>
          <p:cNvSpPr/>
          <p:nvPr/>
        </p:nvSpPr>
        <p:spPr>
          <a:xfrm>
            <a:off x="640080" y="4572000"/>
            <a:ext cx="10881360" cy="1143000"/>
          </a:xfrm>
          <a:prstGeom prst="roundRect">
            <a:avLst>
              <a:gd name="adj" fmla="val 4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5720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9634"/>
                </a:solidFill>
              </a:rPr>
              <a:t>3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57200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Главный в i’way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457200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1463040" cy="6278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bg1"/>
                </a:solidFill>
              </a:rPr>
              <a:t>Спасибо!</a:t>
            </a:r>
            <a:endParaRPr lang="en-US" sz="9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Мы всегда на связи: пиши, звони или заходи — поможем и подскажем.</a:t>
            </a:r>
            <a:endParaRPr lang="en-US" sz="2200" dirty="0"/>
          </a:p>
        </p:txBody>
      </p:sp>
      <p:sp>
        <p:nvSpPr>
          <p:cNvPr id="5" name="Почта"/>
          <p:cNvSpPr/>
          <p:nvPr/>
        </p:nvSpPr>
        <p:spPr>
          <a:xfrm>
            <a:off x="640080" y="51206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120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26"/>
                </a:solidFill>
              </a:rPr>
              <a:t>hr@iway.ru</a:t>
            </a:r>
            <a:endParaRPr lang="en-US" sz="2600" dirty="0"/>
          </a:p>
        </p:txBody>
      </p:sp>
      <p:pic>
        <p:nvPicPr>
          <p:cNvPr id="7" name="Портрет 1" descr="Сотрудник H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80160"/>
            <a:ext cx="1737360" cy="2195391"/>
          </a:xfrm>
          <a:prstGeom prst="rect">
            <a:avLst/>
          </a:prstGeom>
        </p:spPr>
      </p:pic>
      <p:pic>
        <p:nvPicPr>
          <p:cNvPr id="8" name="Портрет 2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926080"/>
            <a:ext cx="1737360" cy="2195391"/>
          </a:xfrm>
          <a:prstGeom prst="rect">
            <a:avLst/>
          </a:prstGeom>
        </p:spPr>
      </p:pic>
      <p:pic>
        <p:nvPicPr>
          <p:cNvPr id="9" name="Портрет 3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1280160"/>
            <a:ext cx="1737360" cy="219539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6217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Поделись обратной связью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Нам важно твоё мнение — наведи камеру на QR-код</a:t>
            </a:r>
            <a:endParaRPr lang="en-US" sz="2200" dirty="0"/>
          </a:p>
        </p:txBody>
      </p:sp>
      <p:sp>
        <p:nvSpPr>
          <p:cNvPr id="4" name="Подложка QR"/>
          <p:cNvSpPr/>
          <p:nvPr/>
        </p:nvSpPr>
        <p:spPr>
          <a:xfrm>
            <a:off x="7315200" y="1280160"/>
            <a:ext cx="4206240" cy="4206240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QR-код" descr="QR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55448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6217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Оставь оценку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Это займёт меньше минуты — спасибо!</a:t>
            </a:r>
            <a:endParaRPr lang="en-US" sz="2200" dirty="0"/>
          </a:p>
        </p:txBody>
      </p:sp>
      <p:sp>
        <p:nvSpPr>
          <p:cNvPr id="4" name="Подложка QR"/>
          <p:cNvSpPr/>
          <p:nvPr/>
        </p:nvSpPr>
        <p:spPr>
          <a:xfrm>
            <a:off x="7315200" y="1280160"/>
            <a:ext cx="4206240" cy="4206240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QR-код" descr="QR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55448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way HR">
  <a:themeElements>
    <a:clrScheme name="iway HR">
      <a:dk1>
        <a:srgbClr val="484E41"/>
      </a:dk1>
      <a:lt1>
        <a:srgbClr val="FFFFFF"/>
      </a:lt1>
      <a:dk2>
        <a:srgbClr val="007026"/>
      </a:dk2>
      <a:lt2>
        <a:srgbClr val="E4F1E8"/>
      </a:lt2>
      <a:accent1>
        <a:srgbClr val="009634"/>
      </a:accent1>
      <a:accent2>
        <a:srgbClr val="00AD5A"/>
      </a:accent2>
      <a:accent3>
        <a:srgbClr val="4DC68C"/>
      </a:accent3>
      <a:accent4>
        <a:srgbClr val="99DEBD"/>
      </a:accent4>
      <a:accent5>
        <a:srgbClr val="C9EDDA"/>
      </a:accent5>
      <a:accent6>
        <a:srgbClr val="626D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2026-10-07T13:35:21Z</dcterms:created>
  <dcterms:modified xsi:type="dcterms:W3CDTF">2026-10-07T13:35:21Z</dcterms:modified>
</cp:coreProperties>
</file>